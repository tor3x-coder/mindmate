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MindMate as a calm, private wellbeing companion for young people. The product helps users check in, take one small step, reflect, and find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the gap between needing help and knowing what to do next. Many people struggle to understand their emotions, feel overwhelmed by too many options, and do not know where to find the right support. Add a verified source for the headline statistic before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MindMate connects awareness, action, conversation, and human support. It is a guided pathway rather than a collection of unrelated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MindMate supports reflection and practical next steps, but does not replace professional care. When risk appears, it provides a clear route to Emergency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generic. We are explaining MindMate’s integrated journey without making unsupported claims about named competitors.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product readiness in plain language: an installable Android release, a live Web release, and testing of the core user journeys. Do not lead with programming terminology.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future revenue strategy, not current revenue. Do not claim paying customers, active subscriptions, sponsors, or organisation contracts. The free core remains accessible and future depth must be validated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preserves the captain’s financial table while clarifying that the figures must be labelled illustrative or projected unless the team has verified records. Replace or correct any figure that is not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is ₦217,000. If revenue is projected at ₦300,000, the projected surplus is ₦83,000. Do not call this actual profit unless the revenue and expenses are verified. The figures should be checked against the team’s records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product promise and invite the judges to try the live Web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INDMATE">
    <p:bg>
      <p:bgPr>
        <a:solidFill>
          <a:srgbClr val="F7F4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sp>
        <p:nvSpPr>
          <p:cNvPr id="3" name="Shape 1"/>
          <p:cNvSpPr/>
          <p:nvPr/>
        </p:nvSpPr>
        <p:spPr>
          <a:xfrm>
            <a:off x="8046720" y="0"/>
            <a:ext cx="4144975" cy="6858000"/>
          </a:xfrm>
          <a:prstGeom prst="rect">
            <a:avLst/>
          </a:prstGeom>
          <a:solidFill>
            <a:srgbClr val="1B3238"/>
          </a:solidFill>
          <a:ln w="12700">
            <a:solidFill>
              <a:srgbClr val="1B3238">
                <a:alpha val="0"/>
              </a:srgbClr>
            </a:solidFill>
            <a:prstDash val="solid"/>
          </a:ln>
        </p:spPr>
      </p:sp>
      <p:pic>
        <p:nvPicPr>
          <p:cNvPr id="4" name="Image 0" descr="/home/user/mindmate/logos/logo_b_icon_512.png">    </p:cNvPr>
          <p:cNvPicPr>
            <a:picLocks noChangeAspect="1"/>
          </p:cNvPicPr>
          <p:nvPr/>
        </p:nvPicPr>
        <p:blipFill>
          <a:blip r:embed="rId1"/>
          <a:stretch>
            <a:fillRect/>
          </a:stretch>
        </p:blipFill>
        <p:spPr>
          <a:xfrm>
            <a:off x="8549640" y="950976"/>
            <a:ext cx="3017520" cy="3017520"/>
          </a:xfrm>
          <a:prstGeom prst="rect">
            <a:avLst/>
          </a:prstGeom>
        </p:spPr>
      </p:pic>
      <p:sp>
        <p:nvSpPr>
          <p:cNvPr id="5" name="Shape 2"/>
          <p:cNvSpPr/>
          <p:nvPr/>
        </p:nvSpPr>
        <p:spPr>
          <a:xfrm>
            <a:off x="713232" y="713232"/>
            <a:ext cx="1920240" cy="301752"/>
          </a:xfrm>
          <a:prstGeom prst="roundRect">
            <a:avLst>
              <a:gd name="adj" fmla="val 24242"/>
            </a:avLst>
          </a:prstGeom>
          <a:solidFill>
            <a:srgbClr val="2E7D73"/>
          </a:solidFill>
          <a:ln w="12700">
            <a:solidFill>
              <a:srgbClr val="2E7D73">
                <a:alpha val="0"/>
              </a:srgbClr>
            </a:solidFill>
            <a:prstDash val="solid"/>
          </a:ln>
        </p:spPr>
      </p:sp>
      <p:sp>
        <p:nvSpPr>
          <p:cNvPr id="6" name="Text 3"/>
          <p:cNvSpPr/>
          <p:nvPr/>
        </p:nvSpPr>
        <p:spPr>
          <a:xfrm>
            <a:off x="786384" y="722376"/>
            <a:ext cx="177393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MINDMATE</a:t>
            </a:r>
            <a:endParaRPr lang="en-US" sz="900" dirty="0"/>
          </a:p>
        </p:txBody>
      </p:sp>
      <p:sp>
        <p:nvSpPr>
          <p:cNvPr id="7" name="Text 4"/>
          <p:cNvSpPr/>
          <p:nvPr/>
        </p:nvSpPr>
        <p:spPr>
          <a:xfrm>
            <a:off x="713232" y="1508760"/>
            <a:ext cx="6675120" cy="65836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MindMate</a:t>
            </a:r>
            <a:endParaRPr lang="en-US" sz="4200" dirty="0"/>
          </a:p>
        </p:txBody>
      </p:sp>
      <p:sp>
        <p:nvSpPr>
          <p:cNvPr id="8" name="Text 5"/>
          <p:cNvSpPr/>
          <p:nvPr/>
        </p:nvSpPr>
        <p:spPr>
          <a:xfrm>
            <a:off x="713232" y="2286000"/>
            <a:ext cx="6858000" cy="1115568"/>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One small step</a:t>
            </a:r>
            <a:endParaRPr lang="en-US" sz="2900" dirty="0"/>
          </a:p>
          <a:p>
            <a:pPr algn="l" indent="0" marL="0">
              <a:buNone/>
            </a:pPr>
            <a:r>
              <a:rPr lang="en-US" sz="2900" b="1" dirty="0">
                <a:solidFill>
                  <a:srgbClr val="F4E7D4"/>
                </a:solidFill>
                <a:latin typeface="Arial" pitchFamily="34" charset="0"/>
                <a:ea typeface="Arial" pitchFamily="34" charset="-122"/>
                <a:cs typeface="Arial" pitchFamily="34" charset="-120"/>
              </a:rPr>
              <a:t>toward a better day.</a:t>
            </a:r>
            <a:endParaRPr lang="en-US" sz="2900" dirty="0"/>
          </a:p>
        </p:txBody>
      </p:sp>
      <p:sp>
        <p:nvSpPr>
          <p:cNvPr id="9" name="Text 6"/>
          <p:cNvSpPr/>
          <p:nvPr/>
        </p:nvSpPr>
        <p:spPr>
          <a:xfrm>
            <a:off x="731520" y="3767328"/>
            <a:ext cx="6126480" cy="365760"/>
          </a:xfrm>
          <a:prstGeom prst="rect">
            <a:avLst/>
          </a:prstGeom>
          <a:noFill/>
          <a:ln/>
        </p:spPr>
        <p:txBody>
          <a:bodyPr wrap="square" lIns="0" tIns="0" rIns="0" bIns="0" rtlCol="0" anchor="ctr">
            <a:normAutofit/>
          </a:bodyPr>
          <a:lstStyle/>
          <a:p>
            <a:pPr algn="l" indent="0" marL="0">
              <a:buNone/>
            </a:pPr>
            <a:r>
              <a:rPr lang="en-US" sz="1600" dirty="0">
                <a:solidFill>
                  <a:srgbClr val="D2E2DE"/>
                </a:solidFill>
                <a:latin typeface="Arial" pitchFamily="34" charset="0"/>
                <a:ea typeface="Arial" pitchFamily="34" charset="-122"/>
                <a:cs typeface="Arial" pitchFamily="34" charset="-120"/>
              </a:rPr>
              <a:t>A calm, private wellbeing companion for young people.</a:t>
            </a:r>
            <a:endParaRPr lang="en-US" sz="1600" dirty="0"/>
          </a:p>
        </p:txBody>
      </p:sp>
      <p:sp>
        <p:nvSpPr>
          <p:cNvPr id="10" name="Text 7"/>
          <p:cNvSpPr/>
          <p:nvPr/>
        </p:nvSpPr>
        <p:spPr>
          <a:xfrm>
            <a:off x="731520" y="4736592"/>
            <a:ext cx="6492240" cy="310896"/>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CHECK IN → TAKE ONE SMALL STEP → REFLECT → FIND SUPPORT</a:t>
            </a:r>
            <a:endParaRPr lang="en-US" sz="1100" dirty="0"/>
          </a:p>
        </p:txBody>
      </p:sp>
      <p:sp>
        <p:nvSpPr>
          <p:cNvPr id="11" name="Text 8"/>
          <p:cNvSpPr/>
          <p:nvPr/>
        </p:nvSpPr>
        <p:spPr>
          <a:xfrm>
            <a:off x="731520" y="5852160"/>
            <a:ext cx="4114800" cy="274320"/>
          </a:xfrm>
          <a:prstGeom prst="rect">
            <a:avLst/>
          </a:prstGeom>
          <a:noFill/>
          <a:ln/>
        </p:spPr>
        <p:txBody>
          <a:bodyPr wrap="square" lIns="0" tIns="0" rIns="0" bIns="0" rtlCol="0" anchor="ctr">
            <a:normAutofit/>
          </a:bodyPr>
          <a:lstStyle/>
          <a:p>
            <a:pPr algn="l" indent="0" marL="0">
              <a:buNone/>
            </a:pPr>
            <a:r>
              <a:rPr lang="en-US" sz="1200" dirty="0">
                <a:solidFill>
                  <a:srgbClr val="FFFFFF"/>
                </a:solidFill>
                <a:latin typeface="Arial" pitchFamily="34" charset="0"/>
                <a:ea typeface="Arial" pitchFamily="34" charset="-122"/>
                <a:cs typeface="Arial" pitchFamily="34" charset="-120"/>
              </a:rPr>
              <a:t>Team: team mindmate</a:t>
            </a:r>
            <a:endParaRPr lang="en-US" sz="1200" dirty="0"/>
          </a:p>
        </p:txBody>
      </p:sp>
      <p:sp>
        <p:nvSpPr>
          <p:cNvPr id="12" name="Text 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21792" y="384048"/>
            <a:ext cx="10972800" cy="411480"/>
          </a:xfrm>
          <a:prstGeom prst="rect">
            <a:avLst/>
          </a:prstGeom>
          <a:noFill/>
          <a:ln/>
        </p:spPr>
        <p:txBody>
          <a:bodyPr wrap="square" lIns="0" tIns="0" rIns="0" bIns="0" rtlCol="0" anchor="ctr">
            <a:normAutofit/>
          </a:bodyPr>
          <a:lstStyle/>
          <a:p>
            <a:pPr algn="ctr" indent="0" marL="0">
              <a:buNone/>
            </a:pPr>
            <a:r>
              <a:rPr lang="en-US" sz="2700" b="1" dirty="0">
                <a:solidFill>
                  <a:srgbClr val="12232B"/>
                </a:solidFill>
                <a:latin typeface="Arial" pitchFamily="34" charset="0"/>
                <a:ea typeface="Arial" pitchFamily="34" charset="-122"/>
                <a:cs typeface="Arial" pitchFamily="34" charset="-120"/>
              </a:rPr>
              <a:t>PROBLEM STATEMENT</a:t>
            </a:r>
            <a:endParaRPr lang="en-US" sz="2700" dirty="0"/>
          </a:p>
        </p:txBody>
      </p:sp>
      <p:sp>
        <p:nvSpPr>
          <p:cNvPr id="3" name="Text 1"/>
          <p:cNvSpPr/>
          <p:nvPr/>
        </p:nvSpPr>
        <p:spPr>
          <a:xfrm>
            <a:off x="822960" y="896112"/>
            <a:ext cx="10561320" cy="566928"/>
          </a:xfrm>
          <a:prstGeom prst="rect">
            <a:avLst/>
          </a:prstGeom>
          <a:noFill/>
          <a:ln/>
        </p:spPr>
        <p:txBody>
          <a:bodyPr wrap="square" lIns="0" tIns="0" rIns="0" bIns="0" rtlCol="0" anchor="ctr">
            <a:normAutofit/>
          </a:bodyPr>
          <a:lstStyle/>
          <a:p>
            <a:pPr algn="ctr" indent="0" marL="0">
              <a:buNone/>
            </a:pPr>
            <a:r>
              <a:rPr lang="en-US" sz="1500" b="1" dirty="0">
                <a:solidFill>
                  <a:srgbClr val="12232B"/>
                </a:solidFill>
                <a:latin typeface="Arial" pitchFamily="34" charset="0"/>
                <a:ea typeface="Arial" pitchFamily="34" charset="-122"/>
                <a:cs typeface="Arial" pitchFamily="34" charset="-120"/>
              </a:rPr>
              <a:t>NEARLY 150 MILLION PEOPLE IN AFRICA ALONE SUFFER FROM MENTAL</a:t>
            </a:r>
            <a:endParaRPr lang="en-US" sz="1500" dirty="0"/>
          </a:p>
          <a:p>
            <a:pPr algn="ctr" indent="0" marL="0">
              <a:buNone/>
            </a:pPr>
            <a:r>
              <a:rPr lang="en-US" sz="1500" b="1" dirty="0">
                <a:solidFill>
                  <a:srgbClr val="12232B"/>
                </a:solidFill>
                <a:latin typeface="Arial" pitchFamily="34" charset="0"/>
                <a:ea typeface="Arial" pitchFamily="34" charset="-122"/>
                <a:cs typeface="Arial" pitchFamily="34" charset="-120"/>
              </a:rPr>
              <a:t>HEALTH ISSUES, INCLUDING ABOUT 105 MILLION IN NIGERIA ALONE</a:t>
            </a:r>
            <a:endParaRPr lang="en-US" sz="1500" dirty="0"/>
          </a:p>
        </p:txBody>
      </p:sp>
      <p:sp>
        <p:nvSpPr>
          <p:cNvPr id="4" name="Shape 2"/>
          <p:cNvSpPr/>
          <p:nvPr/>
        </p:nvSpPr>
        <p:spPr>
          <a:xfrm>
            <a:off x="658368" y="2148840"/>
            <a:ext cx="3401568" cy="2852928"/>
          </a:xfrm>
          <a:prstGeom prst="roundRect">
            <a:avLst>
              <a:gd name="adj" fmla="val 2564"/>
            </a:avLst>
          </a:prstGeom>
          <a:solidFill>
            <a:srgbClr val="DDEEE9"/>
          </a:solidFill>
          <a:ln w="12700">
            <a:solidFill>
              <a:srgbClr val="DDEEE9">
                <a:alpha val="0"/>
              </a:srgbClr>
            </a:solidFill>
            <a:prstDash val="solid"/>
          </a:ln>
        </p:spPr>
      </p:sp>
      <p:sp>
        <p:nvSpPr>
          <p:cNvPr id="5" name="Text 3"/>
          <p:cNvSpPr/>
          <p:nvPr/>
        </p:nvSpPr>
        <p:spPr>
          <a:xfrm>
            <a:off x="877824" y="235000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DIFFICULTY WITH EMOTIONAL</a:t>
            </a:r>
            <a:endParaRPr lang="en-US" sz="1350" dirty="0"/>
          </a:p>
          <a:p>
            <a:pPr algn="l" indent="0" marL="0">
              <a:buNone/>
            </a:pPr>
            <a:r>
              <a:rPr lang="en-US" sz="1350" b="1" spc="60" kern="0" dirty="0">
                <a:solidFill>
                  <a:srgbClr val="2E7D73"/>
                </a:solidFill>
                <a:latin typeface="Arial" pitchFamily="34" charset="0"/>
                <a:ea typeface="Arial" pitchFamily="34" charset="-122"/>
                <a:cs typeface="Arial" pitchFamily="34" charset="-120"/>
              </a:rPr>
              <a:t>AWARENESS</a:t>
            </a:r>
            <a:endParaRPr lang="en-US" sz="1350" dirty="0"/>
          </a:p>
        </p:txBody>
      </p:sp>
      <p:sp>
        <p:nvSpPr>
          <p:cNvPr id="6" name="Text 4"/>
          <p:cNvSpPr/>
          <p:nvPr/>
        </p:nvSpPr>
        <p:spPr>
          <a:xfrm>
            <a:off x="877824" y="2834640"/>
            <a:ext cx="2962656" cy="1682496"/>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Without a simple way to check in, people may struggle to understand what is affecting their mood or recognise patterns over time.</a:t>
            </a:r>
            <a:endParaRPr lang="en-US" sz="1300" dirty="0"/>
          </a:p>
        </p:txBody>
      </p:sp>
      <p:sp>
        <p:nvSpPr>
          <p:cNvPr id="7" name="Text 5"/>
          <p:cNvSpPr/>
          <p:nvPr/>
        </p:nvSpPr>
        <p:spPr>
          <a:xfrm>
            <a:off x="877824" y="461772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Check in + reflect</a:t>
            </a:r>
            <a:endParaRPr lang="en-US" sz="1050" dirty="0"/>
          </a:p>
        </p:txBody>
      </p:sp>
      <p:sp>
        <p:nvSpPr>
          <p:cNvPr id="8" name="Shape 6"/>
          <p:cNvSpPr/>
          <p:nvPr/>
        </p:nvSpPr>
        <p:spPr>
          <a:xfrm>
            <a:off x="4425696" y="2148840"/>
            <a:ext cx="3401568" cy="2852928"/>
          </a:xfrm>
          <a:prstGeom prst="roundRect">
            <a:avLst>
              <a:gd name="adj" fmla="val 2564"/>
            </a:avLst>
          </a:prstGeom>
          <a:solidFill>
            <a:srgbClr val="F4E7D4"/>
          </a:solidFill>
          <a:ln w="12700">
            <a:solidFill>
              <a:srgbClr val="F4E7D4">
                <a:alpha val="0"/>
              </a:srgbClr>
            </a:solidFill>
            <a:prstDash val="solid"/>
          </a:ln>
        </p:spPr>
      </p:sp>
      <p:sp>
        <p:nvSpPr>
          <p:cNvPr id="9" name="Text 7"/>
          <p:cNvSpPr/>
          <p:nvPr/>
        </p:nvSpPr>
        <p:spPr>
          <a:xfrm>
            <a:off x="4645152" y="235000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TOO MANY OPTIONS, NO</a:t>
            </a:r>
            <a:endParaRPr lang="en-US" sz="1350" dirty="0"/>
          </a:p>
          <a:p>
            <a:pPr algn="l" indent="0" marL="0">
              <a:buNone/>
            </a:pPr>
            <a:r>
              <a:rPr lang="en-US" sz="1350" b="1" spc="60" kern="0" dirty="0">
                <a:solidFill>
                  <a:srgbClr val="2E7D73"/>
                </a:solidFill>
                <a:latin typeface="Arial" pitchFamily="34" charset="0"/>
                <a:ea typeface="Arial" pitchFamily="34" charset="-122"/>
                <a:cs typeface="Arial" pitchFamily="34" charset="-120"/>
              </a:rPr>
              <a:t>CLEAR FIRST STEP</a:t>
            </a:r>
            <a:endParaRPr lang="en-US" sz="1350" dirty="0"/>
          </a:p>
        </p:txBody>
      </p:sp>
      <p:sp>
        <p:nvSpPr>
          <p:cNvPr id="10" name="Text 8"/>
          <p:cNvSpPr/>
          <p:nvPr/>
        </p:nvSpPr>
        <p:spPr>
          <a:xfrm>
            <a:off x="4645152" y="2834640"/>
            <a:ext cx="2962656" cy="1682496"/>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When people are overwhelmed, too many options can make it harder to know where to begin.</a:t>
            </a:r>
            <a:endParaRPr lang="en-US" sz="1300" dirty="0"/>
          </a:p>
        </p:txBody>
      </p:sp>
      <p:sp>
        <p:nvSpPr>
          <p:cNvPr id="11" name="Text 9"/>
          <p:cNvSpPr/>
          <p:nvPr/>
        </p:nvSpPr>
        <p:spPr>
          <a:xfrm>
            <a:off x="4645152" y="461772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Personalised next step</a:t>
            </a:r>
            <a:endParaRPr lang="en-US" sz="1050" dirty="0"/>
          </a:p>
        </p:txBody>
      </p:sp>
      <p:sp>
        <p:nvSpPr>
          <p:cNvPr id="12" name="Shape 10"/>
          <p:cNvSpPr/>
          <p:nvPr/>
        </p:nvSpPr>
        <p:spPr>
          <a:xfrm>
            <a:off x="8193024" y="2148840"/>
            <a:ext cx="3401568" cy="2852928"/>
          </a:xfrm>
          <a:prstGeom prst="roundRect">
            <a:avLst>
              <a:gd name="adj" fmla="val 2564"/>
            </a:avLst>
          </a:prstGeom>
          <a:solidFill>
            <a:srgbClr val="D9776A"/>
          </a:solidFill>
          <a:ln w="12700">
            <a:solidFill>
              <a:srgbClr val="D9776A">
                <a:alpha val="0"/>
              </a:srgbClr>
            </a:solidFill>
            <a:prstDash val="solid"/>
          </a:ln>
        </p:spPr>
      </p:sp>
      <p:sp>
        <p:nvSpPr>
          <p:cNvPr id="13" name="Text 11"/>
          <p:cNvSpPr/>
          <p:nvPr/>
        </p:nvSpPr>
        <p:spPr>
          <a:xfrm>
            <a:off x="8412480" y="235000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78AFA2"/>
                </a:solidFill>
                <a:latin typeface="Arial" pitchFamily="34" charset="0"/>
                <a:ea typeface="Arial" pitchFamily="34" charset="-122"/>
                <a:cs typeface="Arial" pitchFamily="34" charset="-120"/>
              </a:rPr>
              <a:t>DIFFICULTY FINDING THE</a:t>
            </a:r>
            <a:endParaRPr lang="en-US" sz="1350" dirty="0"/>
          </a:p>
          <a:p>
            <a:pPr algn="l" indent="0" marL="0">
              <a:buNone/>
            </a:pPr>
            <a:r>
              <a:rPr lang="en-US" sz="1350" b="1" spc="60" kern="0" dirty="0">
                <a:solidFill>
                  <a:srgbClr val="78AFA2"/>
                </a:solidFill>
                <a:latin typeface="Arial" pitchFamily="34" charset="0"/>
                <a:ea typeface="Arial" pitchFamily="34" charset="-122"/>
                <a:cs typeface="Arial" pitchFamily="34" charset="-120"/>
              </a:rPr>
              <a:t>RIGHT SUPPORT</a:t>
            </a:r>
            <a:endParaRPr lang="en-US" sz="1350" dirty="0"/>
          </a:p>
        </p:txBody>
      </p:sp>
      <p:sp>
        <p:nvSpPr>
          <p:cNvPr id="14" name="Text 12"/>
          <p:cNvSpPr/>
          <p:nvPr/>
        </p:nvSpPr>
        <p:spPr>
          <a:xfrm>
            <a:off x="8412480" y="2834640"/>
            <a:ext cx="2962656" cy="1682496"/>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When self-guided support is not enough, knowing who to contact can be difficult in the moment.</a:t>
            </a:r>
            <a:endParaRPr lang="en-US" sz="1300" dirty="0"/>
          </a:p>
        </p:txBody>
      </p:sp>
      <p:sp>
        <p:nvSpPr>
          <p:cNvPr id="15" name="Text 13"/>
          <p:cNvSpPr/>
          <p:nvPr/>
        </p:nvSpPr>
        <p:spPr>
          <a:xfrm>
            <a:off x="8412480" y="461772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F4E7D4"/>
                </a:solidFill>
                <a:latin typeface="Arial" pitchFamily="34" charset="0"/>
                <a:ea typeface="Arial" pitchFamily="34" charset="-122"/>
                <a:cs typeface="Arial" pitchFamily="34" charset="-120"/>
              </a:rPr>
              <a:t>Connect to human support</a:t>
            </a:r>
            <a:endParaRPr lang="en-US" sz="1050" dirty="0"/>
          </a:p>
        </p:txBody>
      </p:sp>
      <p:sp>
        <p:nvSpPr>
          <p:cNvPr id="16" name="Shape 14"/>
          <p:cNvSpPr/>
          <p:nvPr/>
        </p:nvSpPr>
        <p:spPr>
          <a:xfrm>
            <a:off x="1097280" y="5532120"/>
            <a:ext cx="10012680" cy="429768"/>
          </a:xfrm>
          <a:prstGeom prst="roundRect">
            <a:avLst>
              <a:gd name="adj" fmla="val 17021"/>
            </a:avLst>
          </a:prstGeom>
          <a:solidFill>
            <a:srgbClr val="12232B"/>
          </a:solidFill>
          <a:ln w="12700">
            <a:solidFill>
              <a:srgbClr val="12232B">
                <a:alpha val="0"/>
              </a:srgbClr>
            </a:solidFill>
            <a:prstDash val="solid"/>
          </a:ln>
        </p:spPr>
      </p:sp>
      <p:sp>
        <p:nvSpPr>
          <p:cNvPr id="17" name="Text 15"/>
          <p:cNvSpPr/>
          <p:nvPr/>
        </p:nvSpPr>
        <p:spPr>
          <a:xfrm>
            <a:off x="1325880" y="5632704"/>
            <a:ext cx="955548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The problem is not a lack of information. It is the gap between “I need help” and “I know what to do next.”</a:t>
            </a:r>
            <a:endParaRPr lang="en-US" sz="1200" dirty="0"/>
          </a:p>
        </p:txBody>
      </p:sp>
      <p:sp>
        <p:nvSpPr>
          <p:cNvPr id="18" name="Text 16"/>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THE SOLUTION</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MindMate turns an overwhelming moment into one clear next step</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It connects emotional awareness, practical action, supportive conversation, and human support in one guided pathway.</a:t>
            </a:r>
            <a:endParaRPr lang="en-US" sz="1300" dirty="0"/>
          </a:p>
        </p:txBody>
      </p:sp>
      <p:sp>
        <p:nvSpPr>
          <p:cNvPr id="5" name="Shape 3"/>
          <p:cNvSpPr/>
          <p:nvPr/>
        </p:nvSpPr>
        <p:spPr>
          <a:xfrm>
            <a:off x="658368" y="2011680"/>
            <a:ext cx="5257800" cy="1554480"/>
          </a:xfrm>
          <a:prstGeom prst="roundRect">
            <a:avLst>
              <a:gd name="adj" fmla="val 4706"/>
            </a:avLst>
          </a:prstGeom>
          <a:solidFill>
            <a:srgbClr val="DDEEE9"/>
          </a:solidFill>
          <a:ln w="12700">
            <a:solidFill>
              <a:srgbClr val="DDEEE9">
                <a:alpha val="0"/>
              </a:srgbClr>
            </a:solidFill>
            <a:prstDash val="solid"/>
          </a:ln>
        </p:spPr>
      </p:sp>
      <p:sp>
        <p:nvSpPr>
          <p:cNvPr id="6" name="Text 4"/>
          <p:cNvSpPr/>
          <p:nvPr/>
        </p:nvSpPr>
        <p:spPr>
          <a:xfrm>
            <a:off x="877824" y="2212848"/>
            <a:ext cx="4818888"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NOTICE</a:t>
            </a:r>
            <a:endParaRPr lang="en-US" sz="1350" dirty="0"/>
          </a:p>
        </p:txBody>
      </p:sp>
      <p:sp>
        <p:nvSpPr>
          <p:cNvPr id="7" name="Text 5"/>
          <p:cNvSpPr/>
          <p:nvPr/>
        </p:nvSpPr>
        <p:spPr>
          <a:xfrm>
            <a:off x="877824" y="2697480"/>
            <a:ext cx="4818888" cy="384048"/>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Pause and understand what you are experiencing before deciding what to do.</a:t>
            </a:r>
            <a:endParaRPr lang="en-US" sz="1300" dirty="0"/>
          </a:p>
        </p:txBody>
      </p:sp>
      <p:sp>
        <p:nvSpPr>
          <p:cNvPr id="8" name="Text 6"/>
          <p:cNvSpPr/>
          <p:nvPr/>
        </p:nvSpPr>
        <p:spPr>
          <a:xfrm>
            <a:off x="877824" y="3182112"/>
            <a:ext cx="4818888"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Start with awareness</a:t>
            </a:r>
            <a:endParaRPr lang="en-US" sz="1050" dirty="0"/>
          </a:p>
        </p:txBody>
      </p:sp>
      <p:sp>
        <p:nvSpPr>
          <p:cNvPr id="9" name="Shape 7"/>
          <p:cNvSpPr/>
          <p:nvPr/>
        </p:nvSpPr>
        <p:spPr>
          <a:xfrm>
            <a:off x="6272784" y="2011680"/>
            <a:ext cx="5257800" cy="1554480"/>
          </a:xfrm>
          <a:prstGeom prst="roundRect">
            <a:avLst>
              <a:gd name="adj" fmla="val 4706"/>
            </a:avLst>
          </a:prstGeom>
          <a:solidFill>
            <a:srgbClr val="F4E7D4"/>
          </a:solidFill>
          <a:ln w="12700">
            <a:solidFill>
              <a:srgbClr val="F4E7D4">
                <a:alpha val="0"/>
              </a:srgbClr>
            </a:solidFill>
            <a:prstDash val="solid"/>
          </a:ln>
        </p:spPr>
      </p:sp>
      <p:sp>
        <p:nvSpPr>
          <p:cNvPr id="10" name="Text 8"/>
          <p:cNvSpPr/>
          <p:nvPr/>
        </p:nvSpPr>
        <p:spPr>
          <a:xfrm>
            <a:off x="6492240" y="2212848"/>
            <a:ext cx="4818888"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ACT</a:t>
            </a:r>
            <a:endParaRPr lang="en-US" sz="1350" dirty="0"/>
          </a:p>
        </p:txBody>
      </p:sp>
      <p:sp>
        <p:nvSpPr>
          <p:cNvPr id="11" name="Text 9"/>
          <p:cNvSpPr/>
          <p:nvPr/>
        </p:nvSpPr>
        <p:spPr>
          <a:xfrm>
            <a:off x="6492240" y="2697480"/>
            <a:ext cx="4818888" cy="384048"/>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Choose one manageable action, with alternatives if the first step does not help.</a:t>
            </a:r>
            <a:endParaRPr lang="en-US" sz="1300" dirty="0"/>
          </a:p>
        </p:txBody>
      </p:sp>
      <p:sp>
        <p:nvSpPr>
          <p:cNvPr id="12" name="Text 10"/>
          <p:cNvSpPr/>
          <p:nvPr/>
        </p:nvSpPr>
        <p:spPr>
          <a:xfrm>
            <a:off x="6492240" y="3182112"/>
            <a:ext cx="4818888"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Start small. Try another way.</a:t>
            </a:r>
            <a:endParaRPr lang="en-US" sz="1050" dirty="0"/>
          </a:p>
        </p:txBody>
      </p:sp>
      <p:sp>
        <p:nvSpPr>
          <p:cNvPr id="13" name="Shape 11"/>
          <p:cNvSpPr/>
          <p:nvPr/>
        </p:nvSpPr>
        <p:spPr>
          <a:xfrm>
            <a:off x="658368" y="3895344"/>
            <a:ext cx="5257800" cy="1554480"/>
          </a:xfrm>
          <a:prstGeom prst="roundRect">
            <a:avLst>
              <a:gd name="adj" fmla="val 4706"/>
            </a:avLst>
          </a:prstGeom>
          <a:solidFill>
            <a:srgbClr val="DDEEE9"/>
          </a:solidFill>
          <a:ln w="12700">
            <a:solidFill>
              <a:srgbClr val="DDEEE9">
                <a:alpha val="0"/>
              </a:srgbClr>
            </a:solidFill>
            <a:prstDash val="solid"/>
          </a:ln>
        </p:spPr>
      </p:sp>
      <p:sp>
        <p:nvSpPr>
          <p:cNvPr id="14" name="Text 12"/>
          <p:cNvSpPr/>
          <p:nvPr/>
        </p:nvSpPr>
        <p:spPr>
          <a:xfrm>
            <a:off x="877824" y="4096512"/>
            <a:ext cx="4818888"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TALK</a:t>
            </a:r>
            <a:endParaRPr lang="en-US" sz="1350" dirty="0"/>
          </a:p>
        </p:txBody>
      </p:sp>
      <p:sp>
        <p:nvSpPr>
          <p:cNvPr id="15" name="Text 13"/>
          <p:cNvSpPr/>
          <p:nvPr/>
        </p:nvSpPr>
        <p:spPr>
          <a:xfrm>
            <a:off x="877824" y="4581144"/>
            <a:ext cx="4818888" cy="384048"/>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Reflect with context-aware guidance while keeping AI boundaries clear.</a:t>
            </a:r>
            <a:endParaRPr lang="en-US" sz="1300" dirty="0"/>
          </a:p>
        </p:txBody>
      </p:sp>
      <p:sp>
        <p:nvSpPr>
          <p:cNvPr id="16" name="Text 14"/>
          <p:cNvSpPr/>
          <p:nvPr/>
        </p:nvSpPr>
        <p:spPr>
          <a:xfrm>
            <a:off x="877824" y="5065776"/>
            <a:ext cx="4818888"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Talk it through safely.</a:t>
            </a:r>
            <a:endParaRPr lang="en-US" sz="1050" dirty="0"/>
          </a:p>
        </p:txBody>
      </p:sp>
      <p:sp>
        <p:nvSpPr>
          <p:cNvPr id="17" name="Shape 15"/>
          <p:cNvSpPr/>
          <p:nvPr/>
        </p:nvSpPr>
        <p:spPr>
          <a:xfrm>
            <a:off x="6272784" y="3895344"/>
            <a:ext cx="5257800" cy="1554480"/>
          </a:xfrm>
          <a:prstGeom prst="roundRect">
            <a:avLst>
              <a:gd name="adj" fmla="val 4706"/>
            </a:avLst>
          </a:prstGeom>
          <a:solidFill>
            <a:srgbClr val="12232B"/>
          </a:solidFill>
          <a:ln w="12700">
            <a:solidFill>
              <a:srgbClr val="12232B">
                <a:alpha val="0"/>
              </a:srgbClr>
            </a:solidFill>
            <a:prstDash val="solid"/>
          </a:ln>
        </p:spPr>
      </p:sp>
      <p:sp>
        <p:nvSpPr>
          <p:cNvPr id="18" name="Text 16"/>
          <p:cNvSpPr/>
          <p:nvPr/>
        </p:nvSpPr>
        <p:spPr>
          <a:xfrm>
            <a:off x="6492240" y="4096512"/>
            <a:ext cx="4818888"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78AFA2"/>
                </a:solidFill>
                <a:latin typeface="Arial" pitchFamily="34" charset="0"/>
                <a:ea typeface="Arial" pitchFamily="34" charset="-122"/>
                <a:cs typeface="Arial" pitchFamily="34" charset="-120"/>
              </a:rPr>
              <a:t>CONNECT</a:t>
            </a:r>
            <a:endParaRPr lang="en-US" sz="1350" dirty="0"/>
          </a:p>
        </p:txBody>
      </p:sp>
      <p:sp>
        <p:nvSpPr>
          <p:cNvPr id="19" name="Text 17"/>
          <p:cNvSpPr/>
          <p:nvPr/>
        </p:nvSpPr>
        <p:spPr>
          <a:xfrm>
            <a:off x="6492240" y="4581144"/>
            <a:ext cx="4818888" cy="384048"/>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Move toward trusted, professional, and emergency support when needed.</a:t>
            </a:r>
            <a:endParaRPr lang="en-US" sz="1300" dirty="0"/>
          </a:p>
        </p:txBody>
      </p:sp>
      <p:sp>
        <p:nvSpPr>
          <p:cNvPr id="20" name="Text 18"/>
          <p:cNvSpPr/>
          <p:nvPr/>
        </p:nvSpPr>
        <p:spPr>
          <a:xfrm>
            <a:off x="6492240" y="5065776"/>
            <a:ext cx="4818888" cy="219456"/>
          </a:xfrm>
          <a:prstGeom prst="rect">
            <a:avLst/>
          </a:prstGeom>
          <a:noFill/>
          <a:ln/>
        </p:spPr>
        <p:txBody>
          <a:bodyPr wrap="square" lIns="0" tIns="0" rIns="0" bIns="0" rtlCol="0" anchor="ctr">
            <a:normAutofit/>
          </a:bodyPr>
          <a:lstStyle/>
          <a:p>
            <a:pPr algn="l" indent="0" marL="0">
              <a:buNone/>
            </a:pPr>
            <a:r>
              <a:rPr lang="en-US" sz="1050" b="1" dirty="0">
                <a:solidFill>
                  <a:srgbClr val="F4E7D4"/>
                </a:solidFill>
                <a:latin typeface="Arial" pitchFamily="34" charset="0"/>
                <a:ea typeface="Arial" pitchFamily="34" charset="-122"/>
                <a:cs typeface="Arial" pitchFamily="34" charset="-120"/>
              </a:rPr>
              <a:t>Human support stays within reach.</a:t>
            </a:r>
            <a:endParaRPr lang="en-US" sz="1050" dirty="0"/>
          </a:p>
        </p:txBody>
      </p:sp>
      <p:sp>
        <p:nvSpPr>
          <p:cNvPr id="21" name="Text 1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SAFETY BY DESIGN</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Safe support, with clear boundaries</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is helpful inside clear boundaries.</a:t>
            </a:r>
            <a:endParaRPr lang="en-US" sz="1300" dirty="0"/>
          </a:p>
        </p:txBody>
      </p:sp>
      <p:sp>
        <p:nvSpPr>
          <p:cNvPr id="5" name="Shape 3"/>
          <p:cNvSpPr/>
          <p:nvPr/>
        </p:nvSpPr>
        <p:spPr>
          <a:xfrm>
            <a:off x="658368" y="2057400"/>
            <a:ext cx="3401568" cy="3310128"/>
          </a:xfrm>
          <a:prstGeom prst="roundRect">
            <a:avLst>
              <a:gd name="adj" fmla="val 2210"/>
            </a:avLst>
          </a:prstGeom>
          <a:solidFill>
            <a:srgbClr val="DDEEE9"/>
          </a:solidFill>
          <a:ln w="12700">
            <a:solidFill>
              <a:srgbClr val="DDEEE9">
                <a:alpha val="0"/>
              </a:srgbClr>
            </a:solidFill>
            <a:prstDash val="solid"/>
          </a:ln>
        </p:spPr>
      </p:sp>
      <p:sp>
        <p:nvSpPr>
          <p:cNvPr id="6" name="Text 4"/>
          <p:cNvSpPr/>
          <p:nvPr/>
        </p:nvSpPr>
        <p:spPr>
          <a:xfrm>
            <a:off x="877824" y="225856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01 / WHAT MINDMATE DOES</a:t>
            </a:r>
            <a:endParaRPr lang="en-US" sz="1350" dirty="0"/>
          </a:p>
        </p:txBody>
      </p:sp>
      <p:sp>
        <p:nvSpPr>
          <p:cNvPr id="7" name="Text 5"/>
          <p:cNvSpPr/>
          <p:nvPr/>
        </p:nvSpPr>
        <p:spPr>
          <a:xfrm>
            <a:off x="877824" y="2743200"/>
            <a:ext cx="2962656" cy="2139696"/>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MindMate acknowledges what the user is experiencing, offers one practical next step, and keeps human support visible.</a:t>
            </a:r>
            <a:endParaRPr lang="en-US" sz="1300" dirty="0"/>
          </a:p>
        </p:txBody>
      </p:sp>
      <p:sp>
        <p:nvSpPr>
          <p:cNvPr id="8" name="Text 6"/>
          <p:cNvSpPr/>
          <p:nvPr/>
        </p:nvSpPr>
        <p:spPr>
          <a:xfrm>
            <a:off x="877824" y="498348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Support first. Then guide.</a:t>
            </a:r>
            <a:endParaRPr lang="en-US" sz="1050" dirty="0"/>
          </a:p>
        </p:txBody>
      </p:sp>
      <p:sp>
        <p:nvSpPr>
          <p:cNvPr id="9" name="Shape 7"/>
          <p:cNvSpPr/>
          <p:nvPr/>
        </p:nvSpPr>
        <p:spPr>
          <a:xfrm>
            <a:off x="4425696" y="2057400"/>
            <a:ext cx="3401568" cy="3310128"/>
          </a:xfrm>
          <a:prstGeom prst="roundRect">
            <a:avLst>
              <a:gd name="adj" fmla="val 2210"/>
            </a:avLst>
          </a:prstGeom>
          <a:solidFill>
            <a:srgbClr val="F4E7D4"/>
          </a:solidFill>
          <a:ln w="12700">
            <a:solidFill>
              <a:srgbClr val="F4E7D4">
                <a:alpha val="0"/>
              </a:srgbClr>
            </a:solidFill>
            <a:prstDash val="solid"/>
          </a:ln>
        </p:spPr>
      </p:sp>
      <p:sp>
        <p:nvSpPr>
          <p:cNvPr id="10" name="Text 8"/>
          <p:cNvSpPr/>
          <p:nvPr/>
        </p:nvSpPr>
        <p:spPr>
          <a:xfrm>
            <a:off x="4645152" y="225856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02 / WHEN RISK APPEARS</a:t>
            </a:r>
            <a:endParaRPr lang="en-US" sz="1350" dirty="0"/>
          </a:p>
        </p:txBody>
      </p:sp>
      <p:sp>
        <p:nvSpPr>
          <p:cNvPr id="11" name="Text 9"/>
          <p:cNvSpPr/>
          <p:nvPr/>
        </p:nvSpPr>
        <p:spPr>
          <a:xfrm>
            <a:off x="4645152" y="2743200"/>
            <a:ext cx="2962656" cy="2139696"/>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When more immediate support may be needed, MindMate moves the user toward a clear Emergency Support option rather than handling the situation alone.</a:t>
            </a:r>
            <a:endParaRPr lang="en-US" sz="1300" dirty="0"/>
          </a:p>
        </p:txBody>
      </p:sp>
      <p:sp>
        <p:nvSpPr>
          <p:cNvPr id="12" name="Text 10"/>
          <p:cNvSpPr/>
          <p:nvPr/>
        </p:nvSpPr>
        <p:spPr>
          <a:xfrm>
            <a:off x="4645152" y="498348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A clear route to immediate support</a:t>
            </a:r>
            <a:endParaRPr lang="en-US" sz="1050" dirty="0"/>
          </a:p>
        </p:txBody>
      </p:sp>
      <p:sp>
        <p:nvSpPr>
          <p:cNvPr id="13" name="Shape 11"/>
          <p:cNvSpPr/>
          <p:nvPr/>
        </p:nvSpPr>
        <p:spPr>
          <a:xfrm>
            <a:off x="8193024" y="2057400"/>
            <a:ext cx="3401568" cy="3310128"/>
          </a:xfrm>
          <a:prstGeom prst="roundRect">
            <a:avLst>
              <a:gd name="adj" fmla="val 2210"/>
            </a:avLst>
          </a:prstGeom>
          <a:solidFill>
            <a:srgbClr val="D9776A"/>
          </a:solidFill>
          <a:ln w="12700">
            <a:solidFill>
              <a:srgbClr val="D9776A">
                <a:alpha val="0"/>
              </a:srgbClr>
            </a:solidFill>
            <a:prstDash val="solid"/>
          </a:ln>
        </p:spPr>
      </p:sp>
      <p:sp>
        <p:nvSpPr>
          <p:cNvPr id="14" name="Text 12"/>
          <p:cNvSpPr/>
          <p:nvPr/>
        </p:nvSpPr>
        <p:spPr>
          <a:xfrm>
            <a:off x="8412480" y="2258568"/>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78AFA2"/>
                </a:solidFill>
                <a:latin typeface="Arial" pitchFamily="34" charset="0"/>
                <a:ea typeface="Arial" pitchFamily="34" charset="-122"/>
                <a:cs typeface="Arial" pitchFamily="34" charset="-120"/>
              </a:rPr>
              <a:t>03 / WHAT IT WILL NOT DO</a:t>
            </a:r>
            <a:endParaRPr lang="en-US" sz="1350" dirty="0"/>
          </a:p>
        </p:txBody>
      </p:sp>
      <p:sp>
        <p:nvSpPr>
          <p:cNvPr id="15" name="Text 13"/>
          <p:cNvSpPr/>
          <p:nvPr/>
        </p:nvSpPr>
        <p:spPr>
          <a:xfrm>
            <a:off x="8412480" y="2743200"/>
            <a:ext cx="2962656" cy="2139696"/>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MindMate does not replace professional care, make clinical decisions, or take action outside the user’s control.</a:t>
            </a:r>
            <a:endParaRPr lang="en-US" sz="1300" dirty="0"/>
          </a:p>
        </p:txBody>
      </p:sp>
      <p:sp>
        <p:nvSpPr>
          <p:cNvPr id="16" name="Text 14"/>
          <p:cNvSpPr/>
          <p:nvPr/>
        </p:nvSpPr>
        <p:spPr>
          <a:xfrm>
            <a:off x="8412480" y="4983480"/>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F4E7D4"/>
                </a:solidFill>
                <a:latin typeface="Arial" pitchFamily="34" charset="0"/>
                <a:ea typeface="Arial" pitchFamily="34" charset="-122"/>
                <a:cs typeface="Arial" pitchFamily="34" charset="-120"/>
              </a:rPr>
              <a:t>Clear boundaries. User control.</a:t>
            </a:r>
            <a:endParaRPr lang="en-US" sz="1050" dirty="0"/>
          </a:p>
        </p:txBody>
      </p:sp>
      <p:sp>
        <p:nvSpPr>
          <p:cNvPr id="17" name="Shape 15"/>
          <p:cNvSpPr/>
          <p:nvPr/>
        </p:nvSpPr>
        <p:spPr>
          <a:xfrm>
            <a:off x="2103120" y="5632704"/>
            <a:ext cx="8001000" cy="384048"/>
          </a:xfrm>
          <a:prstGeom prst="roundRect">
            <a:avLst>
              <a:gd name="adj" fmla="val 19048"/>
            </a:avLst>
          </a:prstGeom>
          <a:solidFill>
            <a:srgbClr val="12232B"/>
          </a:solidFill>
          <a:ln w="12700">
            <a:solidFill>
              <a:srgbClr val="12232B">
                <a:alpha val="0"/>
              </a:srgbClr>
            </a:solidFill>
            <a:prstDash val="solid"/>
          </a:ln>
        </p:spPr>
      </p:sp>
      <p:sp>
        <p:nvSpPr>
          <p:cNvPr id="18" name="Text 16"/>
          <p:cNvSpPr/>
          <p:nvPr/>
        </p:nvSpPr>
        <p:spPr>
          <a:xfrm>
            <a:off x="2304288" y="5715000"/>
            <a:ext cx="758952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Supportive by design. Honest about its limits.</a:t>
            </a:r>
            <a:endParaRPr lang="en-US" sz="12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THE DIFFERENCE</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MindMate brings the whole support journey together</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Many wellbeing tools focus on one part of the experience. MindMate connects awareness, action, conversation, and human support.</a:t>
            </a:r>
            <a:endParaRPr lang="en-US" sz="1300" dirty="0"/>
          </a:p>
        </p:txBody>
      </p:sp>
      <p:sp>
        <p:nvSpPr>
          <p:cNvPr id="5" name="Shape 3"/>
          <p:cNvSpPr/>
          <p:nvPr/>
        </p:nvSpPr>
        <p:spPr>
          <a:xfrm>
            <a:off x="658368" y="1993392"/>
            <a:ext cx="1417320" cy="987552"/>
          </a:xfrm>
          <a:prstGeom prst="roundRect">
            <a:avLst>
              <a:gd name="adj" fmla="val 7407"/>
            </a:avLst>
          </a:prstGeom>
          <a:solidFill>
            <a:srgbClr val="12232B"/>
          </a:solidFill>
          <a:ln w="12700">
            <a:solidFill>
              <a:srgbClr val="12232B">
                <a:alpha val="0"/>
              </a:srgbClr>
            </a:solidFill>
            <a:prstDash val="solid"/>
          </a:ln>
        </p:spPr>
      </p:sp>
      <p:sp>
        <p:nvSpPr>
          <p:cNvPr id="6" name="Text 4"/>
          <p:cNvSpPr/>
          <p:nvPr/>
        </p:nvSpPr>
        <p:spPr>
          <a:xfrm>
            <a:off x="822960" y="219456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CHECK-IN</a:t>
            </a:r>
            <a:endParaRPr lang="en-US" sz="1100" dirty="0"/>
          </a:p>
        </p:txBody>
      </p:sp>
      <p:sp>
        <p:nvSpPr>
          <p:cNvPr id="7" name="Shape 5"/>
          <p:cNvSpPr/>
          <p:nvPr/>
        </p:nvSpPr>
        <p:spPr>
          <a:xfrm>
            <a:off x="2267712" y="1993392"/>
            <a:ext cx="2953512" cy="987552"/>
          </a:xfrm>
          <a:prstGeom prst="roundRect">
            <a:avLst>
              <a:gd name="adj" fmla="val 7407"/>
            </a:avLst>
          </a:prstGeom>
          <a:solidFill>
            <a:srgbClr val="F4E7D4"/>
          </a:solidFill>
          <a:ln w="12700">
            <a:solidFill>
              <a:srgbClr val="F4E7D4">
                <a:alpha val="0"/>
              </a:srgbClr>
            </a:solidFill>
            <a:prstDash val="solid"/>
          </a:ln>
        </p:spPr>
      </p:sp>
      <p:sp>
        <p:nvSpPr>
          <p:cNvPr id="8" name="Text 6"/>
          <p:cNvSpPr/>
          <p:nvPr/>
        </p:nvSpPr>
        <p:spPr>
          <a:xfrm>
            <a:off x="2487168" y="2112264"/>
            <a:ext cx="246888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OTHER APPROACHES</a:t>
            </a:r>
            <a:endParaRPr lang="en-US" sz="900" dirty="0"/>
          </a:p>
        </p:txBody>
      </p:sp>
      <p:sp>
        <p:nvSpPr>
          <p:cNvPr id="9" name="Text 7"/>
          <p:cNvSpPr/>
          <p:nvPr/>
        </p:nvSpPr>
        <p:spPr>
          <a:xfrm>
            <a:off x="2487168" y="235915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A mood score or reflection space may not explain what to do next.</a:t>
            </a:r>
            <a:endParaRPr lang="en-US" sz="1150" dirty="0"/>
          </a:p>
        </p:txBody>
      </p:sp>
      <p:sp>
        <p:nvSpPr>
          <p:cNvPr id="10" name="Shape 8"/>
          <p:cNvSpPr/>
          <p:nvPr/>
        </p:nvSpPr>
        <p:spPr>
          <a:xfrm>
            <a:off x="5404104" y="1993392"/>
            <a:ext cx="3346704" cy="987552"/>
          </a:xfrm>
          <a:prstGeom prst="roundRect">
            <a:avLst>
              <a:gd name="adj" fmla="val 7407"/>
            </a:avLst>
          </a:prstGeom>
          <a:solidFill>
            <a:srgbClr val="DDEEE9"/>
          </a:solidFill>
          <a:ln w="12700">
            <a:solidFill>
              <a:srgbClr val="DDEEE9">
                <a:alpha val="0"/>
              </a:srgbClr>
            </a:solidFill>
            <a:prstDash val="solid"/>
          </a:ln>
        </p:spPr>
      </p:sp>
      <p:sp>
        <p:nvSpPr>
          <p:cNvPr id="11" name="Text 9"/>
          <p:cNvSpPr/>
          <p:nvPr/>
        </p:nvSpPr>
        <p:spPr>
          <a:xfrm>
            <a:off x="5641848" y="2112264"/>
            <a:ext cx="233172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MINDMATE</a:t>
            </a:r>
            <a:endParaRPr lang="en-US" sz="900" dirty="0"/>
          </a:p>
        </p:txBody>
      </p:sp>
      <p:sp>
        <p:nvSpPr>
          <p:cNvPr id="12" name="Text 10"/>
          <p:cNvSpPr/>
          <p:nvPr/>
        </p:nvSpPr>
        <p:spPr>
          <a:xfrm>
            <a:off x="5641848" y="235915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Turns the check-in into a starting point for a personalised next step.</a:t>
            </a:r>
            <a:endParaRPr lang="en-US" sz="1150" dirty="0"/>
          </a:p>
        </p:txBody>
      </p:sp>
      <p:sp>
        <p:nvSpPr>
          <p:cNvPr id="13" name="Shape 11"/>
          <p:cNvSpPr/>
          <p:nvPr/>
        </p:nvSpPr>
        <p:spPr>
          <a:xfrm>
            <a:off x="8961120" y="1993392"/>
            <a:ext cx="2578608" cy="987552"/>
          </a:xfrm>
          <a:prstGeom prst="roundRect">
            <a:avLst>
              <a:gd name="adj" fmla="val 7407"/>
            </a:avLst>
          </a:prstGeom>
          <a:solidFill>
            <a:srgbClr val="D9776A"/>
          </a:solidFill>
          <a:ln w="12700">
            <a:solidFill>
              <a:srgbClr val="D9776A">
                <a:alpha val="0"/>
              </a:srgbClr>
            </a:solidFill>
            <a:prstDash val="solid"/>
          </a:ln>
        </p:spPr>
      </p:sp>
      <p:sp>
        <p:nvSpPr>
          <p:cNvPr id="14" name="Text 12"/>
          <p:cNvSpPr/>
          <p:nvPr/>
        </p:nvSpPr>
        <p:spPr>
          <a:xfrm>
            <a:off x="9180576" y="226771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Check in → know what to try</a:t>
            </a:r>
            <a:endParaRPr lang="en-US" sz="1200" dirty="0"/>
          </a:p>
        </p:txBody>
      </p:sp>
      <p:sp>
        <p:nvSpPr>
          <p:cNvPr id="15" name="Shape 13"/>
          <p:cNvSpPr/>
          <p:nvPr/>
        </p:nvSpPr>
        <p:spPr>
          <a:xfrm>
            <a:off x="658368" y="3227832"/>
            <a:ext cx="1417320" cy="987552"/>
          </a:xfrm>
          <a:prstGeom prst="roundRect">
            <a:avLst>
              <a:gd name="adj" fmla="val 7407"/>
            </a:avLst>
          </a:prstGeom>
          <a:solidFill>
            <a:srgbClr val="12232B"/>
          </a:solidFill>
          <a:ln w="12700">
            <a:solidFill>
              <a:srgbClr val="12232B">
                <a:alpha val="0"/>
              </a:srgbClr>
            </a:solidFill>
            <a:prstDash val="solid"/>
          </a:ln>
        </p:spPr>
      </p:sp>
      <p:sp>
        <p:nvSpPr>
          <p:cNvPr id="16" name="Text 14"/>
          <p:cNvSpPr/>
          <p:nvPr/>
        </p:nvSpPr>
        <p:spPr>
          <a:xfrm>
            <a:off x="822960" y="342900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WELLBEING TOOLS</a:t>
            </a:r>
            <a:endParaRPr lang="en-US" sz="1100" dirty="0"/>
          </a:p>
        </p:txBody>
      </p:sp>
      <p:sp>
        <p:nvSpPr>
          <p:cNvPr id="17" name="Shape 15"/>
          <p:cNvSpPr/>
          <p:nvPr/>
        </p:nvSpPr>
        <p:spPr>
          <a:xfrm>
            <a:off x="2267712" y="3227832"/>
            <a:ext cx="2953512" cy="987552"/>
          </a:xfrm>
          <a:prstGeom prst="roundRect">
            <a:avLst>
              <a:gd name="adj" fmla="val 7407"/>
            </a:avLst>
          </a:prstGeom>
          <a:solidFill>
            <a:srgbClr val="F4E7D4"/>
          </a:solidFill>
          <a:ln w="12700">
            <a:solidFill>
              <a:srgbClr val="F4E7D4">
                <a:alpha val="0"/>
              </a:srgbClr>
            </a:solidFill>
            <a:prstDash val="solid"/>
          </a:ln>
        </p:spPr>
      </p:sp>
      <p:sp>
        <p:nvSpPr>
          <p:cNvPr id="18" name="Text 16"/>
          <p:cNvSpPr/>
          <p:nvPr/>
        </p:nvSpPr>
        <p:spPr>
          <a:xfrm>
            <a:off x="2487168" y="3346704"/>
            <a:ext cx="246888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OTHER APPROACHES</a:t>
            </a:r>
            <a:endParaRPr lang="en-US" sz="900" dirty="0"/>
          </a:p>
        </p:txBody>
      </p:sp>
      <p:sp>
        <p:nvSpPr>
          <p:cNvPr id="19" name="Text 17"/>
          <p:cNvSpPr/>
          <p:nvPr/>
        </p:nvSpPr>
        <p:spPr>
          <a:xfrm>
            <a:off x="2487168" y="359359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Multiple exercises or articles can make it hard to know which one fits the moment.</a:t>
            </a:r>
            <a:endParaRPr lang="en-US" sz="1150" dirty="0"/>
          </a:p>
        </p:txBody>
      </p:sp>
      <p:sp>
        <p:nvSpPr>
          <p:cNvPr id="20" name="Shape 18"/>
          <p:cNvSpPr/>
          <p:nvPr/>
        </p:nvSpPr>
        <p:spPr>
          <a:xfrm>
            <a:off x="5404104" y="3227832"/>
            <a:ext cx="3346704" cy="987552"/>
          </a:xfrm>
          <a:prstGeom prst="roundRect">
            <a:avLst>
              <a:gd name="adj" fmla="val 7407"/>
            </a:avLst>
          </a:prstGeom>
          <a:solidFill>
            <a:srgbClr val="DDEEE9"/>
          </a:solidFill>
          <a:ln w="12700">
            <a:solidFill>
              <a:srgbClr val="DDEEE9">
                <a:alpha val="0"/>
              </a:srgbClr>
            </a:solidFill>
            <a:prstDash val="solid"/>
          </a:ln>
        </p:spPr>
      </p:sp>
      <p:sp>
        <p:nvSpPr>
          <p:cNvPr id="21" name="Text 19"/>
          <p:cNvSpPr/>
          <p:nvPr/>
        </p:nvSpPr>
        <p:spPr>
          <a:xfrm>
            <a:off x="5641848" y="3346704"/>
            <a:ext cx="233172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MINDMATE</a:t>
            </a:r>
            <a:endParaRPr lang="en-US" sz="900" dirty="0"/>
          </a:p>
        </p:txBody>
      </p:sp>
      <p:sp>
        <p:nvSpPr>
          <p:cNvPr id="22" name="Text 20"/>
          <p:cNvSpPr/>
          <p:nvPr/>
        </p:nvSpPr>
        <p:spPr>
          <a:xfrm>
            <a:off x="5641848" y="359359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Guides the user toward one manageable action, with alternatives when needed.</a:t>
            </a:r>
            <a:endParaRPr lang="en-US" sz="1150" dirty="0"/>
          </a:p>
        </p:txBody>
      </p:sp>
      <p:sp>
        <p:nvSpPr>
          <p:cNvPr id="23" name="Shape 21"/>
          <p:cNvSpPr/>
          <p:nvPr/>
        </p:nvSpPr>
        <p:spPr>
          <a:xfrm>
            <a:off x="8961120" y="3227832"/>
            <a:ext cx="2578608" cy="987552"/>
          </a:xfrm>
          <a:prstGeom prst="roundRect">
            <a:avLst>
              <a:gd name="adj" fmla="val 7407"/>
            </a:avLst>
          </a:prstGeom>
          <a:solidFill>
            <a:srgbClr val="D9776A"/>
          </a:solidFill>
          <a:ln w="12700">
            <a:solidFill>
              <a:srgbClr val="D9776A">
                <a:alpha val="0"/>
              </a:srgbClr>
            </a:solidFill>
            <a:prstDash val="solid"/>
          </a:ln>
        </p:spPr>
      </p:sp>
      <p:sp>
        <p:nvSpPr>
          <p:cNvPr id="24" name="Text 22"/>
          <p:cNvSpPr/>
          <p:nvPr/>
        </p:nvSpPr>
        <p:spPr>
          <a:xfrm>
            <a:off x="9180576" y="350215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Less overwhelm → clearer action</a:t>
            </a:r>
            <a:endParaRPr lang="en-US" sz="1200" dirty="0"/>
          </a:p>
        </p:txBody>
      </p:sp>
      <p:sp>
        <p:nvSpPr>
          <p:cNvPr id="25" name="Shape 23"/>
          <p:cNvSpPr/>
          <p:nvPr/>
        </p:nvSpPr>
        <p:spPr>
          <a:xfrm>
            <a:off x="658368" y="4462272"/>
            <a:ext cx="1417320" cy="987552"/>
          </a:xfrm>
          <a:prstGeom prst="roundRect">
            <a:avLst>
              <a:gd name="adj" fmla="val 7407"/>
            </a:avLst>
          </a:prstGeom>
          <a:solidFill>
            <a:srgbClr val="12232B"/>
          </a:solidFill>
          <a:ln w="12700">
            <a:solidFill>
              <a:srgbClr val="12232B">
                <a:alpha val="0"/>
              </a:srgbClr>
            </a:solidFill>
            <a:prstDash val="solid"/>
          </a:ln>
        </p:spPr>
      </p:sp>
      <p:sp>
        <p:nvSpPr>
          <p:cNvPr id="26" name="Text 24"/>
          <p:cNvSpPr/>
          <p:nvPr/>
        </p:nvSpPr>
        <p:spPr>
          <a:xfrm>
            <a:off x="822960" y="466344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SUPPORT</a:t>
            </a:r>
            <a:endParaRPr lang="en-US" sz="1100" dirty="0"/>
          </a:p>
        </p:txBody>
      </p:sp>
      <p:sp>
        <p:nvSpPr>
          <p:cNvPr id="27" name="Shape 25"/>
          <p:cNvSpPr/>
          <p:nvPr/>
        </p:nvSpPr>
        <p:spPr>
          <a:xfrm>
            <a:off x="2267712" y="4462272"/>
            <a:ext cx="2953512" cy="987552"/>
          </a:xfrm>
          <a:prstGeom prst="roundRect">
            <a:avLst>
              <a:gd name="adj" fmla="val 7407"/>
            </a:avLst>
          </a:prstGeom>
          <a:solidFill>
            <a:srgbClr val="F4E7D4"/>
          </a:solidFill>
          <a:ln w="12700">
            <a:solidFill>
              <a:srgbClr val="F4E7D4">
                <a:alpha val="0"/>
              </a:srgbClr>
            </a:solidFill>
            <a:prstDash val="solid"/>
          </a:ln>
        </p:spPr>
      </p:sp>
      <p:sp>
        <p:nvSpPr>
          <p:cNvPr id="28" name="Text 26"/>
          <p:cNvSpPr/>
          <p:nvPr/>
        </p:nvSpPr>
        <p:spPr>
          <a:xfrm>
            <a:off x="2487168" y="4581144"/>
            <a:ext cx="246888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OTHER APPROACHES</a:t>
            </a:r>
            <a:endParaRPr lang="en-US" sz="900" dirty="0"/>
          </a:p>
        </p:txBody>
      </p:sp>
      <p:sp>
        <p:nvSpPr>
          <p:cNvPr id="29" name="Text 27"/>
          <p:cNvSpPr/>
          <p:nvPr/>
        </p:nvSpPr>
        <p:spPr>
          <a:xfrm>
            <a:off x="2487168" y="482803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Self-guided tools may focus mainly on what happens inside the app.</a:t>
            </a:r>
            <a:endParaRPr lang="en-US" sz="1150" dirty="0"/>
          </a:p>
        </p:txBody>
      </p:sp>
      <p:sp>
        <p:nvSpPr>
          <p:cNvPr id="30" name="Shape 28"/>
          <p:cNvSpPr/>
          <p:nvPr/>
        </p:nvSpPr>
        <p:spPr>
          <a:xfrm>
            <a:off x="5404104" y="4462272"/>
            <a:ext cx="3346704" cy="987552"/>
          </a:xfrm>
          <a:prstGeom prst="roundRect">
            <a:avLst>
              <a:gd name="adj" fmla="val 7407"/>
            </a:avLst>
          </a:prstGeom>
          <a:solidFill>
            <a:srgbClr val="DDEEE9"/>
          </a:solidFill>
          <a:ln w="12700">
            <a:solidFill>
              <a:srgbClr val="DDEEE9">
                <a:alpha val="0"/>
              </a:srgbClr>
            </a:solidFill>
            <a:prstDash val="solid"/>
          </a:ln>
        </p:spPr>
      </p:sp>
      <p:sp>
        <p:nvSpPr>
          <p:cNvPr id="31" name="Text 29"/>
          <p:cNvSpPr/>
          <p:nvPr/>
        </p:nvSpPr>
        <p:spPr>
          <a:xfrm>
            <a:off x="5641848" y="4581144"/>
            <a:ext cx="2331720" cy="182880"/>
          </a:xfrm>
          <a:prstGeom prst="rect">
            <a:avLst/>
          </a:prstGeom>
          <a:noFill/>
          <a:ln/>
        </p:spPr>
        <p:txBody>
          <a:bodyPr wrap="square" lIns="0" tIns="0" rIns="0" bIns="0" rtlCol="0" anchor="ctr">
            <a:normAutofit/>
          </a:bodyPr>
          <a:lstStyle/>
          <a:p>
            <a:pPr algn="l" indent="0" marL="0">
              <a:buNone/>
            </a:pPr>
            <a:r>
              <a:rPr lang="en-US" sz="900" b="1" dirty="0">
                <a:solidFill>
                  <a:srgbClr val="2E7D73"/>
                </a:solidFill>
                <a:latin typeface="Arial" pitchFamily="34" charset="0"/>
                <a:ea typeface="Arial" pitchFamily="34" charset="-122"/>
                <a:cs typeface="Arial" pitchFamily="34" charset="-120"/>
              </a:rPr>
              <a:t>MINDMATE</a:t>
            </a:r>
            <a:endParaRPr lang="en-US" sz="900" dirty="0"/>
          </a:p>
        </p:txBody>
      </p:sp>
      <p:sp>
        <p:nvSpPr>
          <p:cNvPr id="32" name="Text 30"/>
          <p:cNvSpPr/>
          <p:nvPr/>
        </p:nvSpPr>
        <p:spPr>
          <a:xfrm>
            <a:off x="5641848" y="482803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Keeps trusted human and emergency support visible when more help is needed.</a:t>
            </a:r>
            <a:endParaRPr lang="en-US" sz="1150" dirty="0"/>
          </a:p>
        </p:txBody>
      </p:sp>
      <p:sp>
        <p:nvSpPr>
          <p:cNvPr id="33" name="Shape 31"/>
          <p:cNvSpPr/>
          <p:nvPr/>
        </p:nvSpPr>
        <p:spPr>
          <a:xfrm>
            <a:off x="8961120" y="4462272"/>
            <a:ext cx="2578608" cy="987552"/>
          </a:xfrm>
          <a:prstGeom prst="roundRect">
            <a:avLst>
              <a:gd name="adj" fmla="val 7407"/>
            </a:avLst>
          </a:prstGeom>
          <a:solidFill>
            <a:srgbClr val="D9776A"/>
          </a:solidFill>
          <a:ln w="12700">
            <a:solidFill>
              <a:srgbClr val="D9776A">
                <a:alpha val="0"/>
              </a:srgbClr>
            </a:solidFill>
            <a:prstDash val="solid"/>
          </a:ln>
        </p:spPr>
      </p:sp>
      <p:sp>
        <p:nvSpPr>
          <p:cNvPr id="34" name="Text 32"/>
          <p:cNvSpPr/>
          <p:nvPr/>
        </p:nvSpPr>
        <p:spPr>
          <a:xfrm>
            <a:off x="9180576" y="473659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Self-guided → human support</a:t>
            </a:r>
            <a:endParaRPr lang="en-US" sz="1200" dirty="0"/>
          </a:p>
        </p:txBody>
      </p:sp>
      <p:sp>
        <p:nvSpPr>
          <p:cNvPr id="35" name="Shape 33"/>
          <p:cNvSpPr/>
          <p:nvPr/>
        </p:nvSpPr>
        <p:spPr>
          <a:xfrm>
            <a:off x="1965960" y="5742432"/>
            <a:ext cx="8275320" cy="365760"/>
          </a:xfrm>
          <a:prstGeom prst="roundRect">
            <a:avLst>
              <a:gd name="adj" fmla="val 20000"/>
            </a:avLst>
          </a:prstGeom>
          <a:solidFill>
            <a:srgbClr val="12232B"/>
          </a:solidFill>
          <a:ln w="12700">
            <a:solidFill>
              <a:srgbClr val="12232B">
                <a:alpha val="0"/>
              </a:srgbClr>
            </a:solidFill>
            <a:prstDash val="solid"/>
          </a:ln>
        </p:spPr>
      </p:sp>
      <p:sp>
        <p:nvSpPr>
          <p:cNvPr id="36" name="Text 34"/>
          <p:cNvSpPr/>
          <p:nvPr/>
        </p:nvSpPr>
        <p:spPr>
          <a:xfrm>
            <a:off x="2176272" y="5815584"/>
            <a:ext cx="7845552" cy="1920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MindMate is designed around the journey, not just the individual feature.</a:t>
            </a:r>
            <a:endParaRPr lang="en-US" sz="1200" dirty="0"/>
          </a:p>
        </p:txBody>
      </p:sp>
      <p:sp>
        <p:nvSpPr>
          <p:cNvPr id="37" name="Text 35"/>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PRODUCT READINESS</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Built, tested, and ready for a real user journey</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is already running across Android and Web, with its core experience tested from check-in through support.</a:t>
            </a:r>
            <a:endParaRPr lang="en-US" sz="1300" dirty="0"/>
          </a:p>
        </p:txBody>
      </p:sp>
      <p:sp>
        <p:nvSpPr>
          <p:cNvPr id="5" name="Shape 3"/>
          <p:cNvSpPr/>
          <p:nvPr/>
        </p:nvSpPr>
        <p:spPr>
          <a:xfrm>
            <a:off x="658368" y="2084832"/>
            <a:ext cx="3401568" cy="3200400"/>
          </a:xfrm>
          <a:prstGeom prst="roundRect">
            <a:avLst>
              <a:gd name="adj" fmla="val 2286"/>
            </a:avLst>
          </a:prstGeom>
          <a:solidFill>
            <a:srgbClr val="D9776A"/>
          </a:solidFill>
          <a:ln w="12700">
            <a:solidFill>
              <a:srgbClr val="D9776A">
                <a:alpha val="0"/>
              </a:srgbClr>
            </a:solidFill>
            <a:prstDash val="solid"/>
          </a:ln>
        </p:spPr>
      </p:sp>
      <p:sp>
        <p:nvSpPr>
          <p:cNvPr id="6" name="Text 4"/>
          <p:cNvSpPr/>
          <p:nvPr/>
        </p:nvSpPr>
        <p:spPr>
          <a:xfrm>
            <a:off x="877824" y="2286000"/>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78AFA2"/>
                </a:solidFill>
                <a:latin typeface="Arial" pitchFamily="34" charset="0"/>
                <a:ea typeface="Arial" pitchFamily="34" charset="-122"/>
                <a:cs typeface="Arial" pitchFamily="34" charset="-120"/>
              </a:rPr>
              <a:t>READY ON ANDROID</a:t>
            </a:r>
            <a:endParaRPr lang="en-US" sz="1350" dirty="0"/>
          </a:p>
        </p:txBody>
      </p:sp>
      <p:sp>
        <p:nvSpPr>
          <p:cNvPr id="7" name="Text 5"/>
          <p:cNvSpPr/>
          <p:nvPr/>
        </p:nvSpPr>
        <p:spPr>
          <a:xfrm>
            <a:off x="877824" y="2770632"/>
            <a:ext cx="2962656" cy="2029968"/>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MindMate has a signed Android release that can be installed and used as a complete product experience.</a:t>
            </a:r>
            <a:endParaRPr lang="en-US" sz="1300" dirty="0"/>
          </a:p>
        </p:txBody>
      </p:sp>
      <p:sp>
        <p:nvSpPr>
          <p:cNvPr id="8" name="Text 6"/>
          <p:cNvSpPr/>
          <p:nvPr/>
        </p:nvSpPr>
        <p:spPr>
          <a:xfrm>
            <a:off x="877824" y="4901184"/>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F4E7D4"/>
                </a:solidFill>
                <a:latin typeface="Arial" pitchFamily="34" charset="0"/>
                <a:ea typeface="Arial" pitchFamily="34" charset="-122"/>
                <a:cs typeface="Arial" pitchFamily="34" charset="-120"/>
              </a:rPr>
              <a:t>Built for real use</a:t>
            </a:r>
            <a:endParaRPr lang="en-US" sz="1050" dirty="0"/>
          </a:p>
        </p:txBody>
      </p:sp>
      <p:sp>
        <p:nvSpPr>
          <p:cNvPr id="9" name="Shape 7"/>
          <p:cNvSpPr/>
          <p:nvPr/>
        </p:nvSpPr>
        <p:spPr>
          <a:xfrm>
            <a:off x="4425696" y="2084832"/>
            <a:ext cx="3401568" cy="3200400"/>
          </a:xfrm>
          <a:prstGeom prst="roundRect">
            <a:avLst>
              <a:gd name="adj" fmla="val 2286"/>
            </a:avLst>
          </a:prstGeom>
          <a:solidFill>
            <a:srgbClr val="2E7D73"/>
          </a:solidFill>
          <a:ln w="12700">
            <a:solidFill>
              <a:srgbClr val="2E7D73">
                <a:alpha val="0"/>
              </a:srgbClr>
            </a:solidFill>
            <a:prstDash val="solid"/>
          </a:ln>
        </p:spPr>
      </p:sp>
      <p:sp>
        <p:nvSpPr>
          <p:cNvPr id="10" name="Text 8"/>
          <p:cNvSpPr/>
          <p:nvPr/>
        </p:nvSpPr>
        <p:spPr>
          <a:xfrm>
            <a:off x="4645152" y="2286000"/>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78AFA2"/>
                </a:solidFill>
                <a:latin typeface="Arial" pitchFamily="34" charset="0"/>
                <a:ea typeface="Arial" pitchFamily="34" charset="-122"/>
                <a:cs typeface="Arial" pitchFamily="34" charset="-120"/>
              </a:rPr>
              <a:t>LIVE ON THE WEB</a:t>
            </a:r>
            <a:endParaRPr lang="en-US" sz="1350" dirty="0"/>
          </a:p>
        </p:txBody>
      </p:sp>
      <p:sp>
        <p:nvSpPr>
          <p:cNvPr id="11" name="Text 9"/>
          <p:cNvSpPr/>
          <p:nvPr/>
        </p:nvSpPr>
        <p:spPr>
          <a:xfrm>
            <a:off x="4645152" y="2770632"/>
            <a:ext cx="2962656" cy="2029968"/>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MindMate is hosted as a live Web release, making the product easier to access, share, and demonstrate across devices.</a:t>
            </a:r>
            <a:endParaRPr lang="en-US" sz="1300" dirty="0"/>
          </a:p>
        </p:txBody>
      </p:sp>
      <p:sp>
        <p:nvSpPr>
          <p:cNvPr id="12" name="Text 10"/>
          <p:cNvSpPr/>
          <p:nvPr/>
        </p:nvSpPr>
        <p:spPr>
          <a:xfrm>
            <a:off x="4645152" y="4901184"/>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F4E7D4"/>
                </a:solidFill>
                <a:latin typeface="Arial" pitchFamily="34" charset="0"/>
                <a:ea typeface="Arial" pitchFamily="34" charset="-122"/>
                <a:cs typeface="Arial" pitchFamily="34" charset="-120"/>
              </a:rPr>
              <a:t>Easy to access + share</a:t>
            </a:r>
            <a:endParaRPr lang="en-US" sz="1050" dirty="0"/>
          </a:p>
        </p:txBody>
      </p:sp>
      <p:sp>
        <p:nvSpPr>
          <p:cNvPr id="13" name="Shape 11"/>
          <p:cNvSpPr/>
          <p:nvPr/>
        </p:nvSpPr>
        <p:spPr>
          <a:xfrm>
            <a:off x="8193024" y="2084832"/>
            <a:ext cx="3401568" cy="3200400"/>
          </a:xfrm>
          <a:prstGeom prst="roundRect">
            <a:avLst>
              <a:gd name="adj" fmla="val 2286"/>
            </a:avLst>
          </a:prstGeom>
          <a:solidFill>
            <a:srgbClr val="78AFA2"/>
          </a:solidFill>
          <a:ln w="12700">
            <a:solidFill>
              <a:srgbClr val="78AFA2">
                <a:alpha val="0"/>
              </a:srgbClr>
            </a:solidFill>
            <a:prstDash val="solid"/>
          </a:ln>
        </p:spPr>
      </p:sp>
      <p:sp>
        <p:nvSpPr>
          <p:cNvPr id="14" name="Text 12"/>
          <p:cNvSpPr/>
          <p:nvPr/>
        </p:nvSpPr>
        <p:spPr>
          <a:xfrm>
            <a:off x="8412480" y="2286000"/>
            <a:ext cx="2962656" cy="310896"/>
          </a:xfrm>
          <a:prstGeom prst="rect">
            <a:avLst/>
          </a:prstGeom>
          <a:noFill/>
          <a:ln/>
        </p:spPr>
        <p:txBody>
          <a:bodyPr wrap="square" lIns="0" tIns="0" rIns="0" bIns="0" rtlCol="0" anchor="ctr">
            <a:normAutofit/>
          </a:bodyPr>
          <a:lstStyle/>
          <a:p>
            <a:pPr algn="l" indent="0" marL="0">
              <a:buNone/>
            </a:pPr>
            <a:r>
              <a:rPr lang="en-US" sz="1350" b="1" spc="60" kern="0" dirty="0">
                <a:solidFill>
                  <a:srgbClr val="2E7D73"/>
                </a:solidFill>
                <a:latin typeface="Arial" pitchFamily="34" charset="0"/>
                <a:ea typeface="Arial" pitchFamily="34" charset="-122"/>
                <a:cs typeface="Arial" pitchFamily="34" charset="-120"/>
              </a:rPr>
              <a:t>CORE JOURNEYS VERIFIED</a:t>
            </a:r>
            <a:endParaRPr lang="en-US" sz="1350" dirty="0"/>
          </a:p>
        </p:txBody>
      </p:sp>
      <p:sp>
        <p:nvSpPr>
          <p:cNvPr id="15" name="Text 13"/>
          <p:cNvSpPr/>
          <p:nvPr/>
        </p:nvSpPr>
        <p:spPr>
          <a:xfrm>
            <a:off x="8412480" y="2770632"/>
            <a:ext cx="2962656" cy="2029968"/>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The journeys that matter most have been tested, including core features, safety behaviour, and different layouts.</a:t>
            </a:r>
            <a:endParaRPr lang="en-US" sz="1300" dirty="0"/>
          </a:p>
        </p:txBody>
      </p:sp>
      <p:sp>
        <p:nvSpPr>
          <p:cNvPr id="16" name="Text 14"/>
          <p:cNvSpPr/>
          <p:nvPr/>
        </p:nvSpPr>
        <p:spPr>
          <a:xfrm>
            <a:off x="8412480" y="4901184"/>
            <a:ext cx="2962656" cy="219456"/>
          </a:xfrm>
          <a:prstGeom prst="rect">
            <a:avLst/>
          </a:prstGeom>
          <a:noFill/>
          <a:ln/>
        </p:spPr>
        <p:txBody>
          <a:bodyPr wrap="square" lIns="0" tIns="0" rIns="0" bIns="0" rtlCol="0" anchor="ctr">
            <a:normAutofit/>
          </a:bodyPr>
          <a:lstStyle/>
          <a:p>
            <a:pPr algn="l" indent="0" marL="0">
              <a:buNone/>
            </a:pPr>
            <a:r>
              <a:rPr lang="en-US" sz="1050" b="1" dirty="0">
                <a:solidFill>
                  <a:srgbClr val="D9776A"/>
                </a:solidFill>
                <a:latin typeface="Arial" pitchFamily="34" charset="0"/>
                <a:ea typeface="Arial" pitchFamily="34" charset="-122"/>
                <a:cs typeface="Arial" pitchFamily="34" charset="-120"/>
              </a:rPr>
              <a:t>The experience was tested, not just built</a:t>
            </a:r>
            <a:endParaRPr lang="en-US" sz="1050" dirty="0"/>
          </a:p>
        </p:txBody>
      </p:sp>
      <p:sp>
        <p:nvSpPr>
          <p:cNvPr id="17" name="Shape 15"/>
          <p:cNvSpPr/>
          <p:nvPr/>
        </p:nvSpPr>
        <p:spPr>
          <a:xfrm>
            <a:off x="1325880" y="5596128"/>
            <a:ext cx="9555480" cy="411480"/>
          </a:xfrm>
          <a:prstGeom prst="roundRect">
            <a:avLst>
              <a:gd name="adj" fmla="val 17778"/>
            </a:avLst>
          </a:prstGeom>
          <a:solidFill>
            <a:srgbClr val="F4E7D4"/>
          </a:solidFill>
          <a:ln w="12700">
            <a:solidFill>
              <a:srgbClr val="F4E7D4">
                <a:alpha val="0"/>
              </a:srgbClr>
            </a:solidFill>
            <a:prstDash val="solid"/>
          </a:ln>
        </p:spPr>
      </p:sp>
      <p:sp>
        <p:nvSpPr>
          <p:cNvPr id="18" name="Text 16"/>
          <p:cNvSpPr/>
          <p:nvPr/>
        </p:nvSpPr>
        <p:spPr>
          <a:xfrm>
            <a:off x="1554480" y="5687568"/>
            <a:ext cx="9098280" cy="201168"/>
          </a:xfrm>
          <a:prstGeom prst="rect">
            <a:avLst/>
          </a:prstGeom>
          <a:noFill/>
          <a:ln/>
        </p:spPr>
        <p:txBody>
          <a:bodyPr wrap="square" lIns="0" tIns="0" rIns="0" bIns="0" rtlCol="0" anchor="ctr">
            <a:normAutofit/>
          </a:bodyPr>
          <a:lstStyle/>
          <a:p>
            <a:pPr algn="ctr" indent="0" marL="0">
              <a:buNone/>
            </a:pPr>
            <a:r>
              <a:rPr lang="en-US" sz="1400" b="1" dirty="0">
                <a:solidFill>
                  <a:srgbClr val="12232B"/>
                </a:solidFill>
                <a:latin typeface="Arial" pitchFamily="34" charset="0"/>
                <a:ea typeface="Arial" pitchFamily="34" charset="-122"/>
                <a:cs typeface="Arial" pitchFamily="34" charset="-120"/>
              </a:rPr>
              <a:t>The point: we tested the experience, not just the idea.</a:t>
            </a:r>
            <a:endParaRPr lang="en-US" sz="14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BUSINESS MODEL</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Keep access free for young people while building a sustainable revenue path</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Young people get the essential journey; future funding and paid extensions can support sustainability.</a:t>
            </a:r>
            <a:endParaRPr lang="en-US" sz="1300" dirty="0"/>
          </a:p>
        </p:txBody>
      </p:sp>
      <p:sp>
        <p:nvSpPr>
          <p:cNvPr id="5" name="Shape 3"/>
          <p:cNvSpPr/>
          <p:nvPr/>
        </p:nvSpPr>
        <p:spPr>
          <a:xfrm>
            <a:off x="658368" y="2148840"/>
            <a:ext cx="3401568" cy="3319272"/>
          </a:xfrm>
          <a:prstGeom prst="roundRect">
            <a:avLst>
              <a:gd name="adj" fmla="val 2204"/>
            </a:avLst>
          </a:prstGeom>
          <a:solidFill>
            <a:srgbClr val="DDEEE9"/>
          </a:solidFill>
          <a:ln w="12700">
            <a:solidFill>
              <a:srgbClr val="DDEEE9">
                <a:alpha val="0"/>
              </a:srgbClr>
            </a:solidFill>
            <a:prstDash val="solid"/>
          </a:ln>
        </p:spPr>
      </p:sp>
      <p:sp>
        <p:nvSpPr>
          <p:cNvPr id="6" name="Text 4"/>
          <p:cNvSpPr/>
          <p:nvPr/>
        </p:nvSpPr>
        <p:spPr>
          <a:xfrm>
            <a:off x="914400"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2E7D73"/>
                </a:solidFill>
                <a:latin typeface="Arial" pitchFamily="34" charset="0"/>
                <a:ea typeface="Arial" pitchFamily="34" charset="-122"/>
                <a:cs typeface="Arial" pitchFamily="34" charset="-120"/>
              </a:rPr>
              <a:t>FREE USER</a:t>
            </a:r>
            <a:endParaRPr lang="en-US" sz="1000" dirty="0"/>
          </a:p>
        </p:txBody>
      </p:sp>
      <p:sp>
        <p:nvSpPr>
          <p:cNvPr id="7" name="Text 5"/>
          <p:cNvSpPr/>
          <p:nvPr/>
        </p:nvSpPr>
        <p:spPr>
          <a:xfrm>
            <a:off x="914400"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YOUNG PERSON</a:t>
            </a:r>
            <a:endParaRPr lang="en-US" sz="2000" dirty="0"/>
          </a:p>
        </p:txBody>
      </p:sp>
      <p:sp>
        <p:nvSpPr>
          <p:cNvPr id="8" name="Text 6"/>
          <p:cNvSpPr/>
          <p:nvPr/>
        </p:nvSpPr>
        <p:spPr>
          <a:xfrm>
            <a:off x="914400"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182A35"/>
                </a:solidFill>
                <a:latin typeface="Arial" pitchFamily="34" charset="0"/>
                <a:ea typeface="Arial" pitchFamily="34" charset="-122"/>
                <a:cs typeface="Arial" pitchFamily="34" charset="-120"/>
              </a:rPr>
              <a:t>Essential MindMate journey:</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Check-ins + next steps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Chat + journaling</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Breathing / meditation</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Learn + support routes</a:t>
            </a:r>
            <a:endParaRPr lang="en-US" sz="1230" dirty="0"/>
          </a:p>
        </p:txBody>
      </p:sp>
      <p:sp>
        <p:nvSpPr>
          <p:cNvPr id="9" name="Text 7"/>
          <p:cNvSpPr/>
          <p:nvPr/>
        </p:nvSpPr>
        <p:spPr>
          <a:xfrm>
            <a:off x="4114800" y="3493008"/>
            <a:ext cx="274320" cy="320040"/>
          </a:xfrm>
          <a:prstGeom prst="rect">
            <a:avLst/>
          </a:prstGeom>
          <a:noFill/>
          <a:ln/>
        </p:spPr>
        <p:txBody>
          <a:bodyPr wrap="square" lIns="0" tIns="0" rIns="0" bIns="0" rtlCol="0" anchor="ctr">
            <a:normAutofit/>
          </a:bodyPr>
          <a:lstStyle/>
          <a:p>
            <a:pPr algn="ctr" indent="0" marL="0">
              <a:buNone/>
            </a:pPr>
            <a:r>
              <a:rPr lang="en-US" sz="2200" b="1" dirty="0">
                <a:solidFill>
                  <a:srgbClr val="D9776A"/>
                </a:solidFill>
                <a:latin typeface="Arial" pitchFamily="34" charset="0"/>
                <a:ea typeface="Arial" pitchFamily="34" charset="-122"/>
                <a:cs typeface="Arial" pitchFamily="34" charset="-120"/>
              </a:rPr>
              <a:t>→</a:t>
            </a:r>
            <a:endParaRPr lang="en-US" sz="2200" dirty="0"/>
          </a:p>
        </p:txBody>
      </p:sp>
      <p:sp>
        <p:nvSpPr>
          <p:cNvPr id="10" name="Shape 8"/>
          <p:cNvSpPr/>
          <p:nvPr/>
        </p:nvSpPr>
        <p:spPr>
          <a:xfrm>
            <a:off x="4425696" y="2148840"/>
            <a:ext cx="3401568" cy="3319272"/>
          </a:xfrm>
          <a:prstGeom prst="roundRect">
            <a:avLst>
              <a:gd name="adj" fmla="val 2204"/>
            </a:avLst>
          </a:prstGeom>
          <a:solidFill>
            <a:srgbClr val="F4E7D4"/>
          </a:solidFill>
          <a:ln w="12700">
            <a:solidFill>
              <a:srgbClr val="F4E7D4">
                <a:alpha val="0"/>
              </a:srgbClr>
            </a:solidFill>
            <a:prstDash val="solid"/>
          </a:ln>
        </p:spPr>
      </p:sp>
      <p:sp>
        <p:nvSpPr>
          <p:cNvPr id="11" name="Text 9"/>
          <p:cNvSpPr/>
          <p:nvPr/>
        </p:nvSpPr>
        <p:spPr>
          <a:xfrm>
            <a:off x="4681728"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2E7D73"/>
                </a:solidFill>
                <a:latin typeface="Arial" pitchFamily="34" charset="0"/>
                <a:ea typeface="Arial" pitchFamily="34" charset="-122"/>
                <a:cs typeface="Arial" pitchFamily="34" charset="-120"/>
              </a:rPr>
              <a:t>WHO PAYS</a:t>
            </a:r>
            <a:endParaRPr lang="en-US" sz="1000" dirty="0"/>
          </a:p>
        </p:txBody>
      </p:sp>
      <p:sp>
        <p:nvSpPr>
          <p:cNvPr id="12" name="Text 10"/>
          <p:cNvSpPr/>
          <p:nvPr/>
        </p:nvSpPr>
        <p:spPr>
          <a:xfrm>
            <a:off x="4681728"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ORGANISATIONS</a:t>
            </a:r>
            <a:endParaRPr lang="en-US" sz="2000" dirty="0"/>
          </a:p>
        </p:txBody>
      </p:sp>
      <p:sp>
        <p:nvSpPr>
          <p:cNvPr id="13" name="Text 11"/>
          <p:cNvSpPr/>
          <p:nvPr/>
        </p:nvSpPr>
        <p:spPr>
          <a:xfrm>
            <a:off x="4681728"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182A35"/>
                </a:solidFill>
                <a:latin typeface="Arial" pitchFamily="34" charset="0"/>
                <a:ea typeface="Arial" pitchFamily="34" charset="-122"/>
                <a:cs typeface="Arial" pitchFamily="34" charset="-120"/>
              </a:rPr>
              <a:t>Potential customers or funders to validate:</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Youth organisations / NGOs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Foundations + CSR programmes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Sponsored access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Workshops + implementation</a:t>
            </a:r>
            <a:endParaRPr lang="en-US" sz="1230" dirty="0"/>
          </a:p>
        </p:txBody>
      </p:sp>
      <p:sp>
        <p:nvSpPr>
          <p:cNvPr id="14" name="Text 12"/>
          <p:cNvSpPr/>
          <p:nvPr/>
        </p:nvSpPr>
        <p:spPr>
          <a:xfrm>
            <a:off x="7882128" y="3493008"/>
            <a:ext cx="274320" cy="320040"/>
          </a:xfrm>
          <a:prstGeom prst="rect">
            <a:avLst/>
          </a:prstGeom>
          <a:noFill/>
          <a:ln/>
        </p:spPr>
        <p:txBody>
          <a:bodyPr wrap="square" lIns="0" tIns="0" rIns="0" bIns="0" rtlCol="0" anchor="ctr">
            <a:normAutofit/>
          </a:bodyPr>
          <a:lstStyle/>
          <a:p>
            <a:pPr algn="ctr" indent="0" marL="0">
              <a:buNone/>
            </a:pPr>
            <a:r>
              <a:rPr lang="en-US" sz="2200" b="1" dirty="0">
                <a:solidFill>
                  <a:srgbClr val="D9776A"/>
                </a:solidFill>
                <a:latin typeface="Arial" pitchFamily="34" charset="0"/>
                <a:ea typeface="Arial" pitchFamily="34" charset="-122"/>
                <a:cs typeface="Arial" pitchFamily="34" charset="-120"/>
              </a:rPr>
              <a:t>→</a:t>
            </a:r>
            <a:endParaRPr lang="en-US" sz="2200" dirty="0"/>
          </a:p>
        </p:txBody>
      </p:sp>
      <p:sp>
        <p:nvSpPr>
          <p:cNvPr id="15" name="Shape 13"/>
          <p:cNvSpPr/>
          <p:nvPr/>
        </p:nvSpPr>
        <p:spPr>
          <a:xfrm>
            <a:off x="8193024" y="2148840"/>
            <a:ext cx="3401568" cy="3319272"/>
          </a:xfrm>
          <a:prstGeom prst="roundRect">
            <a:avLst>
              <a:gd name="adj" fmla="val 2204"/>
            </a:avLst>
          </a:prstGeom>
          <a:solidFill>
            <a:srgbClr val="12232B"/>
          </a:solidFill>
          <a:ln w="12700">
            <a:solidFill>
              <a:srgbClr val="12232B">
                <a:alpha val="0"/>
              </a:srgbClr>
            </a:solidFill>
            <a:prstDash val="solid"/>
          </a:ln>
        </p:spPr>
      </p:sp>
      <p:sp>
        <p:nvSpPr>
          <p:cNvPr id="16" name="Text 14"/>
          <p:cNvSpPr/>
          <p:nvPr/>
        </p:nvSpPr>
        <p:spPr>
          <a:xfrm>
            <a:off x="8449056"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78AFA2"/>
                </a:solidFill>
                <a:latin typeface="Arial" pitchFamily="34" charset="0"/>
                <a:ea typeface="Arial" pitchFamily="34" charset="-122"/>
                <a:cs typeface="Arial" pitchFamily="34" charset="-120"/>
              </a:rPr>
              <a:t>FUTURE REVENUE</a:t>
            </a:r>
            <a:endParaRPr lang="en-US" sz="1000" dirty="0"/>
          </a:p>
        </p:txBody>
      </p:sp>
      <p:sp>
        <p:nvSpPr>
          <p:cNvPr id="17" name="Text 15"/>
          <p:cNvSpPr/>
          <p:nvPr/>
        </p:nvSpPr>
        <p:spPr>
          <a:xfrm>
            <a:off x="8449056"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rial" pitchFamily="34" charset="0"/>
                <a:ea typeface="Arial" pitchFamily="34" charset="-122"/>
                <a:cs typeface="Arial" pitchFamily="34" charset="-120"/>
              </a:rPr>
              <a:t>OPTIONAL PAID</a:t>
            </a:r>
            <a:endParaRPr lang="en-US" sz="2000" dirty="0"/>
          </a:p>
        </p:txBody>
      </p:sp>
      <p:sp>
        <p:nvSpPr>
          <p:cNvPr id="18" name="Text 16"/>
          <p:cNvSpPr/>
          <p:nvPr/>
        </p:nvSpPr>
        <p:spPr>
          <a:xfrm>
            <a:off x="8449056"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D2E2DE"/>
                </a:solidFill>
                <a:latin typeface="Arial" pitchFamily="34" charset="0"/>
                <a:ea typeface="Arial" pitchFamily="34" charset="-122"/>
                <a:cs typeface="Arial" pitchFamily="34" charset="-120"/>
              </a:rPr>
              <a:t>Only after validating what users value:</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Wellbeing programmes</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Additional guided content</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Structured multi-day routines</a:t>
            </a:r>
            <a:endParaRPr lang="en-US" sz="1230" dirty="0"/>
          </a:p>
        </p:txBody>
      </p:sp>
      <p:sp>
        <p:nvSpPr>
          <p:cNvPr id="19" name="Shape 17"/>
          <p:cNvSpPr/>
          <p:nvPr/>
        </p:nvSpPr>
        <p:spPr>
          <a:xfrm>
            <a:off x="1234440" y="5715000"/>
            <a:ext cx="9738360" cy="429768"/>
          </a:xfrm>
          <a:prstGeom prst="roundRect">
            <a:avLst>
              <a:gd name="adj" fmla="val 17021"/>
            </a:avLst>
          </a:prstGeom>
          <a:solidFill>
            <a:srgbClr val="D9776A"/>
          </a:solidFill>
          <a:ln w="12700">
            <a:solidFill>
              <a:srgbClr val="D9776A">
                <a:alpha val="0"/>
              </a:srgbClr>
            </a:solidFill>
            <a:prstDash val="solid"/>
          </a:ln>
        </p:spPr>
      </p:sp>
      <p:sp>
        <p:nvSpPr>
          <p:cNvPr id="20" name="Text 18"/>
          <p:cNvSpPr/>
          <p:nvPr/>
        </p:nvSpPr>
        <p:spPr>
          <a:xfrm>
            <a:off x="1417320" y="5806440"/>
            <a:ext cx="9372600" cy="21031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TODAY: FREE, PRE-REVENUE PROTOTYPE  ·  FUTURE: EARN WITHOUT SELLING PRIVATE CONVERSATIONS</a:t>
            </a:r>
            <a:endParaRPr lang="en-US" sz="1000" dirty="0"/>
          </a:p>
        </p:txBody>
      </p:sp>
      <p:sp>
        <p:nvSpPr>
          <p:cNvPr id="21" name="Text 1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1792" y="384048"/>
            <a:ext cx="10972800" cy="365760"/>
          </a:xfrm>
          <a:prstGeom prst="rect">
            <a:avLst/>
          </a:prstGeom>
          <a:noFill/>
          <a:ln/>
        </p:spPr>
        <p:txBody>
          <a:bodyPr wrap="square" lIns="0" tIns="0" rIns="0" bIns="0" rtlCol="0" anchor="ctr">
            <a:normAutofit/>
          </a:bodyPr>
          <a:lstStyle/>
          <a:p>
            <a:pPr algn="ctr" indent="0" marL="0">
              <a:buNone/>
            </a:pPr>
            <a:r>
              <a:rPr lang="en-US" sz="2500" b="1" dirty="0">
                <a:solidFill>
                  <a:srgbClr val="12232B"/>
                </a:solidFill>
                <a:latin typeface="Arial" pitchFamily="34" charset="0"/>
                <a:ea typeface="Arial" pitchFamily="34" charset="-122"/>
                <a:cs typeface="Arial" pitchFamily="34" charset="-120"/>
              </a:rPr>
              <a:t>FINANCIAL STATEMENT</a:t>
            </a:r>
            <a:endParaRPr lang="en-US" sz="2500" dirty="0"/>
          </a:p>
        </p:txBody>
      </p:sp>
      <p:sp>
        <p:nvSpPr>
          <p:cNvPr id="3" name="Text 1"/>
          <p:cNvSpPr/>
          <p:nvPr/>
        </p:nvSpPr>
        <p:spPr>
          <a:xfrm>
            <a:off x="1325880" y="932688"/>
            <a:ext cx="9555480" cy="256032"/>
          </a:xfrm>
          <a:prstGeom prst="rect">
            <a:avLst/>
          </a:prstGeom>
          <a:noFill/>
          <a:ln/>
        </p:spPr>
        <p:txBody>
          <a:bodyPr wrap="square" lIns="0" tIns="0" rIns="0" bIns="0" rtlCol="0" anchor="ctr">
            <a:normAutofit/>
          </a:bodyPr>
          <a:lstStyle/>
          <a:p>
            <a:pPr algn="ctr" indent="0" marL="0">
              <a:buNone/>
            </a:pPr>
            <a:r>
              <a:rPr lang="en-US" sz="1100" i="1" dirty="0">
                <a:solidFill>
                  <a:srgbClr val="68767C"/>
                </a:solidFill>
                <a:latin typeface="Arial" pitchFamily="34" charset="0"/>
                <a:ea typeface="Arial" pitchFamily="34" charset="-122"/>
                <a:cs typeface="Arial" pitchFamily="34" charset="-120"/>
              </a:rPr>
              <a:t>Illustrative/projected competition figures — confirm against verified records before submission.</a:t>
            </a:r>
            <a:endParaRPr lang="en-US" sz="1100" dirty="0"/>
          </a:p>
        </p:txBody>
      </p:sp>
      <p:sp>
        <p:nvSpPr>
          <p:cNvPr id="4" name="Shape 2"/>
          <p:cNvSpPr/>
          <p:nvPr/>
        </p:nvSpPr>
        <p:spPr>
          <a:xfrm>
            <a:off x="777240" y="1572768"/>
            <a:ext cx="2971800" cy="530352"/>
          </a:xfrm>
          <a:prstGeom prst="rect">
            <a:avLst/>
          </a:prstGeom>
          <a:solidFill>
            <a:srgbClr val="5376C5"/>
          </a:solidFill>
          <a:ln w="12700">
            <a:solidFill>
              <a:srgbClr val="FFFFFF"/>
            </a:solidFill>
            <a:prstDash val="solid"/>
          </a:ln>
        </p:spPr>
      </p:sp>
      <p:sp>
        <p:nvSpPr>
          <p:cNvPr id="5" name="Text 3"/>
          <p:cNvSpPr/>
          <p:nvPr/>
        </p:nvSpPr>
        <p:spPr>
          <a:xfrm>
            <a:off x="868680" y="1627632"/>
            <a:ext cx="2788920" cy="420624"/>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rial" pitchFamily="34" charset="0"/>
                <a:ea typeface="Arial" pitchFamily="34" charset="-122"/>
                <a:cs typeface="Arial" pitchFamily="34" charset="-120"/>
              </a:rPr>
              <a:t>REVENUE SOURCE</a:t>
            </a:r>
            <a:endParaRPr lang="en-US" sz="1100" dirty="0"/>
          </a:p>
        </p:txBody>
      </p:sp>
      <p:sp>
        <p:nvSpPr>
          <p:cNvPr id="6" name="Shape 4"/>
          <p:cNvSpPr/>
          <p:nvPr/>
        </p:nvSpPr>
        <p:spPr>
          <a:xfrm>
            <a:off x="3749040" y="1572768"/>
            <a:ext cx="1874520" cy="530352"/>
          </a:xfrm>
          <a:prstGeom prst="rect">
            <a:avLst/>
          </a:prstGeom>
          <a:solidFill>
            <a:srgbClr val="5376C5"/>
          </a:solidFill>
          <a:ln w="12700">
            <a:solidFill>
              <a:srgbClr val="FFFFFF"/>
            </a:solidFill>
            <a:prstDash val="solid"/>
          </a:ln>
        </p:spPr>
      </p:sp>
      <p:sp>
        <p:nvSpPr>
          <p:cNvPr id="7" name="Text 5"/>
          <p:cNvSpPr/>
          <p:nvPr/>
        </p:nvSpPr>
        <p:spPr>
          <a:xfrm>
            <a:off x="3840480" y="1627632"/>
            <a:ext cx="1691640" cy="420624"/>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rial" pitchFamily="34" charset="0"/>
                <a:ea typeface="Arial" pitchFamily="34" charset="-122"/>
                <a:cs typeface="Arial" pitchFamily="34" charset="-120"/>
              </a:rPr>
              <a:t>UNIT COST (₦)</a:t>
            </a:r>
            <a:endParaRPr lang="en-US" sz="1100" dirty="0"/>
          </a:p>
        </p:txBody>
      </p:sp>
      <p:sp>
        <p:nvSpPr>
          <p:cNvPr id="8" name="Shape 6"/>
          <p:cNvSpPr/>
          <p:nvPr/>
        </p:nvSpPr>
        <p:spPr>
          <a:xfrm>
            <a:off x="5623560" y="1572768"/>
            <a:ext cx="1508760" cy="530352"/>
          </a:xfrm>
          <a:prstGeom prst="rect">
            <a:avLst/>
          </a:prstGeom>
          <a:solidFill>
            <a:srgbClr val="5376C5"/>
          </a:solidFill>
          <a:ln w="12700">
            <a:solidFill>
              <a:srgbClr val="FFFFFF"/>
            </a:solidFill>
            <a:prstDash val="solid"/>
          </a:ln>
        </p:spPr>
      </p:sp>
      <p:sp>
        <p:nvSpPr>
          <p:cNvPr id="9" name="Text 7"/>
          <p:cNvSpPr/>
          <p:nvPr/>
        </p:nvSpPr>
        <p:spPr>
          <a:xfrm>
            <a:off x="5715000" y="1627632"/>
            <a:ext cx="1325880" cy="420624"/>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rial" pitchFamily="34" charset="0"/>
                <a:ea typeface="Arial" pitchFamily="34" charset="-122"/>
                <a:cs typeface="Arial" pitchFamily="34" charset="-120"/>
              </a:rPr>
              <a:t>UNITS</a:t>
            </a:r>
            <a:endParaRPr lang="en-US" sz="1100" dirty="0"/>
          </a:p>
        </p:txBody>
      </p:sp>
      <p:sp>
        <p:nvSpPr>
          <p:cNvPr id="10" name="Shape 8"/>
          <p:cNvSpPr/>
          <p:nvPr/>
        </p:nvSpPr>
        <p:spPr>
          <a:xfrm>
            <a:off x="7132320" y="1572768"/>
            <a:ext cx="2057400" cy="530352"/>
          </a:xfrm>
          <a:prstGeom prst="rect">
            <a:avLst/>
          </a:prstGeom>
          <a:solidFill>
            <a:srgbClr val="5376C5"/>
          </a:solidFill>
          <a:ln w="12700">
            <a:solidFill>
              <a:srgbClr val="FFFFFF"/>
            </a:solidFill>
            <a:prstDash val="solid"/>
          </a:ln>
        </p:spPr>
      </p:sp>
      <p:sp>
        <p:nvSpPr>
          <p:cNvPr id="11" name="Text 9"/>
          <p:cNvSpPr/>
          <p:nvPr/>
        </p:nvSpPr>
        <p:spPr>
          <a:xfrm>
            <a:off x="7223760" y="1627632"/>
            <a:ext cx="1874520" cy="420624"/>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rial" pitchFamily="34" charset="0"/>
                <a:ea typeface="Arial" pitchFamily="34" charset="-122"/>
                <a:cs typeface="Arial" pitchFamily="34" charset="-120"/>
              </a:rPr>
              <a:t>TOTAL (₦)</a:t>
            </a:r>
            <a:endParaRPr lang="en-US" sz="1100" dirty="0"/>
          </a:p>
        </p:txBody>
      </p:sp>
      <p:sp>
        <p:nvSpPr>
          <p:cNvPr id="12" name="Shape 10"/>
          <p:cNvSpPr/>
          <p:nvPr/>
        </p:nvSpPr>
        <p:spPr>
          <a:xfrm>
            <a:off x="777240" y="2103120"/>
            <a:ext cx="2971800" cy="640080"/>
          </a:xfrm>
          <a:prstGeom prst="rect">
            <a:avLst/>
          </a:prstGeom>
          <a:solidFill>
            <a:srgbClr val="EEF1FA"/>
          </a:solidFill>
          <a:ln w="12700">
            <a:solidFill>
              <a:srgbClr val="FFFFFF"/>
            </a:solidFill>
            <a:prstDash val="solid"/>
          </a:ln>
        </p:spPr>
      </p:sp>
      <p:sp>
        <p:nvSpPr>
          <p:cNvPr id="13" name="Text 11"/>
          <p:cNvSpPr/>
          <p:nvPr/>
        </p:nvSpPr>
        <p:spPr>
          <a:xfrm>
            <a:off x="868680" y="2157984"/>
            <a:ext cx="278892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Shares</a:t>
            </a:r>
            <a:endParaRPr lang="en-US" sz="1300" dirty="0"/>
          </a:p>
        </p:txBody>
      </p:sp>
      <p:sp>
        <p:nvSpPr>
          <p:cNvPr id="14" name="Shape 12"/>
          <p:cNvSpPr/>
          <p:nvPr/>
        </p:nvSpPr>
        <p:spPr>
          <a:xfrm>
            <a:off x="3749040" y="2103120"/>
            <a:ext cx="1874520" cy="640080"/>
          </a:xfrm>
          <a:prstGeom prst="rect">
            <a:avLst/>
          </a:prstGeom>
          <a:solidFill>
            <a:srgbClr val="EEF1FA"/>
          </a:solidFill>
          <a:ln w="12700">
            <a:solidFill>
              <a:srgbClr val="FFFFFF"/>
            </a:solidFill>
            <a:prstDash val="solid"/>
          </a:ln>
        </p:spPr>
      </p:sp>
      <p:sp>
        <p:nvSpPr>
          <p:cNvPr id="15" name="Text 13"/>
          <p:cNvSpPr/>
          <p:nvPr/>
        </p:nvSpPr>
        <p:spPr>
          <a:xfrm>
            <a:off x="3840480" y="2157984"/>
            <a:ext cx="169164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500</a:t>
            </a:r>
            <a:endParaRPr lang="en-US" sz="1300" dirty="0"/>
          </a:p>
        </p:txBody>
      </p:sp>
      <p:sp>
        <p:nvSpPr>
          <p:cNvPr id="16" name="Shape 14"/>
          <p:cNvSpPr/>
          <p:nvPr/>
        </p:nvSpPr>
        <p:spPr>
          <a:xfrm>
            <a:off x="5623560" y="2103120"/>
            <a:ext cx="1508760" cy="640080"/>
          </a:xfrm>
          <a:prstGeom prst="rect">
            <a:avLst/>
          </a:prstGeom>
          <a:solidFill>
            <a:srgbClr val="EEF1FA"/>
          </a:solidFill>
          <a:ln w="12700">
            <a:solidFill>
              <a:srgbClr val="FFFFFF"/>
            </a:solidFill>
            <a:prstDash val="solid"/>
          </a:ln>
        </p:spPr>
      </p:sp>
      <p:sp>
        <p:nvSpPr>
          <p:cNvPr id="17" name="Text 15"/>
          <p:cNvSpPr/>
          <p:nvPr/>
        </p:nvSpPr>
        <p:spPr>
          <a:xfrm>
            <a:off x="5715000" y="2157984"/>
            <a:ext cx="132588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100</a:t>
            </a:r>
            <a:endParaRPr lang="en-US" sz="1300" dirty="0"/>
          </a:p>
        </p:txBody>
      </p:sp>
      <p:sp>
        <p:nvSpPr>
          <p:cNvPr id="18" name="Shape 16"/>
          <p:cNvSpPr/>
          <p:nvPr/>
        </p:nvSpPr>
        <p:spPr>
          <a:xfrm>
            <a:off x="7132320" y="2103120"/>
            <a:ext cx="2057400" cy="640080"/>
          </a:xfrm>
          <a:prstGeom prst="rect">
            <a:avLst/>
          </a:prstGeom>
          <a:solidFill>
            <a:srgbClr val="EEF1FA"/>
          </a:solidFill>
          <a:ln w="12700">
            <a:solidFill>
              <a:srgbClr val="FFFFFF"/>
            </a:solidFill>
            <a:prstDash val="solid"/>
          </a:ln>
        </p:spPr>
      </p:sp>
      <p:sp>
        <p:nvSpPr>
          <p:cNvPr id="19" name="Text 17"/>
          <p:cNvSpPr/>
          <p:nvPr/>
        </p:nvSpPr>
        <p:spPr>
          <a:xfrm>
            <a:off x="7223760" y="2157984"/>
            <a:ext cx="1874520" cy="530352"/>
          </a:xfrm>
          <a:prstGeom prst="rect">
            <a:avLst/>
          </a:prstGeom>
          <a:noFill/>
          <a:ln/>
        </p:spPr>
        <p:txBody>
          <a:bodyPr wrap="square" lIns="0" tIns="0" rIns="0" bIns="0" rtlCol="0" anchor="ctr">
            <a:normAutofit/>
          </a:bodyPr>
          <a:lstStyle/>
          <a:p>
            <a:pPr algn="r" indent="0" marL="0">
              <a:buNone/>
            </a:pPr>
            <a:r>
              <a:rPr lang="en-US" sz="1300" dirty="0">
                <a:solidFill>
                  <a:srgbClr val="12232B"/>
                </a:solidFill>
                <a:latin typeface="Arial" pitchFamily="34" charset="0"/>
                <a:ea typeface="Arial" pitchFamily="34" charset="-122"/>
                <a:cs typeface="Arial" pitchFamily="34" charset="-120"/>
              </a:rPr>
              <a:t>50,000</a:t>
            </a:r>
            <a:endParaRPr lang="en-US" sz="1300" dirty="0"/>
          </a:p>
        </p:txBody>
      </p:sp>
      <p:sp>
        <p:nvSpPr>
          <p:cNvPr id="20" name="Shape 18"/>
          <p:cNvSpPr/>
          <p:nvPr/>
        </p:nvSpPr>
        <p:spPr>
          <a:xfrm>
            <a:off x="777240" y="2743200"/>
            <a:ext cx="2971800" cy="640080"/>
          </a:xfrm>
          <a:prstGeom prst="rect">
            <a:avLst/>
          </a:prstGeom>
          <a:solidFill>
            <a:srgbClr val="EEF1FA"/>
          </a:solidFill>
          <a:ln w="12700">
            <a:solidFill>
              <a:srgbClr val="FFFFFF"/>
            </a:solidFill>
            <a:prstDash val="solid"/>
          </a:ln>
        </p:spPr>
      </p:sp>
      <p:sp>
        <p:nvSpPr>
          <p:cNvPr id="21" name="Text 19"/>
          <p:cNvSpPr/>
          <p:nvPr/>
        </p:nvSpPr>
        <p:spPr>
          <a:xfrm>
            <a:off x="868680" y="2798064"/>
            <a:ext cx="278892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Sponsorship</a:t>
            </a:r>
            <a:endParaRPr lang="en-US" sz="1300" dirty="0"/>
          </a:p>
        </p:txBody>
      </p:sp>
      <p:sp>
        <p:nvSpPr>
          <p:cNvPr id="22" name="Shape 20"/>
          <p:cNvSpPr/>
          <p:nvPr/>
        </p:nvSpPr>
        <p:spPr>
          <a:xfrm>
            <a:off x="3749040" y="2743200"/>
            <a:ext cx="1874520" cy="640080"/>
          </a:xfrm>
          <a:prstGeom prst="rect">
            <a:avLst/>
          </a:prstGeom>
          <a:solidFill>
            <a:srgbClr val="EEF1FA"/>
          </a:solidFill>
          <a:ln w="12700">
            <a:solidFill>
              <a:srgbClr val="FFFFFF"/>
            </a:solidFill>
            <a:prstDash val="solid"/>
          </a:ln>
        </p:spPr>
      </p:sp>
      <p:sp>
        <p:nvSpPr>
          <p:cNvPr id="23" name="Text 21"/>
          <p:cNvSpPr/>
          <p:nvPr/>
        </p:nvSpPr>
        <p:spPr>
          <a:xfrm>
            <a:off x="3840480" y="2798064"/>
            <a:ext cx="169164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a:t>
            </a:r>
            <a:endParaRPr lang="en-US" sz="1300" dirty="0"/>
          </a:p>
        </p:txBody>
      </p:sp>
      <p:sp>
        <p:nvSpPr>
          <p:cNvPr id="24" name="Shape 22"/>
          <p:cNvSpPr/>
          <p:nvPr/>
        </p:nvSpPr>
        <p:spPr>
          <a:xfrm>
            <a:off x="5623560" y="2743200"/>
            <a:ext cx="1508760" cy="640080"/>
          </a:xfrm>
          <a:prstGeom prst="rect">
            <a:avLst/>
          </a:prstGeom>
          <a:solidFill>
            <a:srgbClr val="EEF1FA"/>
          </a:solidFill>
          <a:ln w="12700">
            <a:solidFill>
              <a:srgbClr val="FFFFFF"/>
            </a:solidFill>
            <a:prstDash val="solid"/>
          </a:ln>
        </p:spPr>
      </p:sp>
      <p:sp>
        <p:nvSpPr>
          <p:cNvPr id="25" name="Text 23"/>
          <p:cNvSpPr/>
          <p:nvPr/>
        </p:nvSpPr>
        <p:spPr>
          <a:xfrm>
            <a:off x="5715000" y="2798064"/>
            <a:ext cx="132588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7132320" y="2743200"/>
            <a:ext cx="2057400" cy="640080"/>
          </a:xfrm>
          <a:prstGeom prst="rect">
            <a:avLst/>
          </a:prstGeom>
          <a:solidFill>
            <a:srgbClr val="EEF1FA"/>
          </a:solidFill>
          <a:ln w="12700">
            <a:solidFill>
              <a:srgbClr val="FFFFFF"/>
            </a:solidFill>
            <a:prstDash val="solid"/>
          </a:ln>
        </p:spPr>
      </p:sp>
      <p:sp>
        <p:nvSpPr>
          <p:cNvPr id="27" name="Text 25"/>
          <p:cNvSpPr/>
          <p:nvPr/>
        </p:nvSpPr>
        <p:spPr>
          <a:xfrm>
            <a:off x="7223760" y="2798064"/>
            <a:ext cx="1874520" cy="530352"/>
          </a:xfrm>
          <a:prstGeom prst="rect">
            <a:avLst/>
          </a:prstGeom>
          <a:noFill/>
          <a:ln/>
        </p:spPr>
        <p:txBody>
          <a:bodyPr wrap="square" lIns="0" tIns="0" rIns="0" bIns="0" rtlCol="0" anchor="ctr">
            <a:normAutofit/>
          </a:bodyPr>
          <a:lstStyle/>
          <a:p>
            <a:pPr algn="r" indent="0" marL="0">
              <a:buNone/>
            </a:pPr>
            <a:r>
              <a:rPr lang="en-US" sz="1300" dirty="0">
                <a:solidFill>
                  <a:srgbClr val="12232B"/>
                </a:solidFill>
                <a:latin typeface="Arial" pitchFamily="34" charset="0"/>
                <a:ea typeface="Arial" pitchFamily="34" charset="-122"/>
                <a:cs typeface="Arial" pitchFamily="34" charset="-120"/>
              </a:rPr>
              <a:t>200,000</a:t>
            </a:r>
            <a:endParaRPr lang="en-US" sz="1300" dirty="0"/>
          </a:p>
        </p:txBody>
      </p:sp>
      <p:sp>
        <p:nvSpPr>
          <p:cNvPr id="28" name="Shape 26"/>
          <p:cNvSpPr/>
          <p:nvPr/>
        </p:nvSpPr>
        <p:spPr>
          <a:xfrm>
            <a:off x="777240" y="3383280"/>
            <a:ext cx="2971800" cy="640080"/>
          </a:xfrm>
          <a:prstGeom prst="rect">
            <a:avLst/>
          </a:prstGeom>
          <a:solidFill>
            <a:srgbClr val="EEF1FA"/>
          </a:solidFill>
          <a:ln w="12700">
            <a:solidFill>
              <a:srgbClr val="FFFFFF"/>
            </a:solidFill>
            <a:prstDash val="solid"/>
          </a:ln>
        </p:spPr>
      </p:sp>
      <p:sp>
        <p:nvSpPr>
          <p:cNvPr id="29" name="Text 27"/>
          <p:cNvSpPr/>
          <p:nvPr/>
        </p:nvSpPr>
        <p:spPr>
          <a:xfrm>
            <a:off x="868680" y="3438144"/>
            <a:ext cx="278892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Sales of confectioneries</a:t>
            </a:r>
            <a:endParaRPr lang="en-US" sz="1300" dirty="0"/>
          </a:p>
        </p:txBody>
      </p:sp>
      <p:sp>
        <p:nvSpPr>
          <p:cNvPr id="30" name="Shape 28"/>
          <p:cNvSpPr/>
          <p:nvPr/>
        </p:nvSpPr>
        <p:spPr>
          <a:xfrm>
            <a:off x="3749040" y="3383280"/>
            <a:ext cx="1874520" cy="640080"/>
          </a:xfrm>
          <a:prstGeom prst="rect">
            <a:avLst/>
          </a:prstGeom>
          <a:solidFill>
            <a:srgbClr val="EEF1FA"/>
          </a:solidFill>
          <a:ln w="12700">
            <a:solidFill>
              <a:srgbClr val="FFFFFF"/>
            </a:solidFill>
            <a:prstDash val="solid"/>
          </a:ln>
        </p:spPr>
      </p:sp>
      <p:sp>
        <p:nvSpPr>
          <p:cNvPr id="31" name="Text 29"/>
          <p:cNvSpPr/>
          <p:nvPr/>
        </p:nvSpPr>
        <p:spPr>
          <a:xfrm>
            <a:off x="3840480" y="3438144"/>
            <a:ext cx="169164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100</a:t>
            </a:r>
            <a:endParaRPr lang="en-US" sz="1300" dirty="0"/>
          </a:p>
        </p:txBody>
      </p:sp>
      <p:sp>
        <p:nvSpPr>
          <p:cNvPr id="32" name="Shape 30"/>
          <p:cNvSpPr/>
          <p:nvPr/>
        </p:nvSpPr>
        <p:spPr>
          <a:xfrm>
            <a:off x="5623560" y="3383280"/>
            <a:ext cx="1508760" cy="640080"/>
          </a:xfrm>
          <a:prstGeom prst="rect">
            <a:avLst/>
          </a:prstGeom>
          <a:solidFill>
            <a:srgbClr val="EEF1FA"/>
          </a:solidFill>
          <a:ln w="12700">
            <a:solidFill>
              <a:srgbClr val="FFFFFF"/>
            </a:solidFill>
            <a:prstDash val="solid"/>
          </a:ln>
        </p:spPr>
      </p:sp>
      <p:sp>
        <p:nvSpPr>
          <p:cNvPr id="33" name="Text 31"/>
          <p:cNvSpPr/>
          <p:nvPr/>
        </p:nvSpPr>
        <p:spPr>
          <a:xfrm>
            <a:off x="5715000" y="3438144"/>
            <a:ext cx="1325880" cy="530352"/>
          </a:xfrm>
          <a:prstGeom prst="rect">
            <a:avLst/>
          </a:prstGeom>
          <a:noFill/>
          <a:ln/>
        </p:spPr>
        <p:txBody>
          <a:bodyPr wrap="square" lIns="0" tIns="0" rIns="0" bIns="0" rtlCol="0" anchor="ctr">
            <a:normAutofit/>
          </a:bodyPr>
          <a:lstStyle/>
          <a:p>
            <a:pPr algn="l" indent="0" marL="0">
              <a:buNone/>
            </a:pPr>
            <a:r>
              <a:rPr lang="en-US" sz="1300" dirty="0">
                <a:solidFill>
                  <a:srgbClr val="12232B"/>
                </a:solidFill>
                <a:latin typeface="Arial" pitchFamily="34" charset="0"/>
                <a:ea typeface="Arial" pitchFamily="34" charset="-122"/>
                <a:cs typeface="Arial" pitchFamily="34" charset="-120"/>
              </a:rPr>
              <a:t>500</a:t>
            </a:r>
            <a:endParaRPr lang="en-US" sz="1300" dirty="0"/>
          </a:p>
        </p:txBody>
      </p:sp>
      <p:sp>
        <p:nvSpPr>
          <p:cNvPr id="34" name="Shape 32"/>
          <p:cNvSpPr/>
          <p:nvPr/>
        </p:nvSpPr>
        <p:spPr>
          <a:xfrm>
            <a:off x="7132320" y="3383280"/>
            <a:ext cx="2057400" cy="640080"/>
          </a:xfrm>
          <a:prstGeom prst="rect">
            <a:avLst/>
          </a:prstGeom>
          <a:solidFill>
            <a:srgbClr val="EEF1FA"/>
          </a:solidFill>
          <a:ln w="12700">
            <a:solidFill>
              <a:srgbClr val="FFFFFF"/>
            </a:solidFill>
            <a:prstDash val="solid"/>
          </a:ln>
        </p:spPr>
      </p:sp>
      <p:sp>
        <p:nvSpPr>
          <p:cNvPr id="35" name="Text 33"/>
          <p:cNvSpPr/>
          <p:nvPr/>
        </p:nvSpPr>
        <p:spPr>
          <a:xfrm>
            <a:off x="7223760" y="3438144"/>
            <a:ext cx="1874520" cy="530352"/>
          </a:xfrm>
          <a:prstGeom prst="rect">
            <a:avLst/>
          </a:prstGeom>
          <a:noFill/>
          <a:ln/>
        </p:spPr>
        <p:txBody>
          <a:bodyPr wrap="square" lIns="0" tIns="0" rIns="0" bIns="0" rtlCol="0" anchor="ctr">
            <a:normAutofit/>
          </a:bodyPr>
          <a:lstStyle/>
          <a:p>
            <a:pPr algn="r" indent="0" marL="0">
              <a:buNone/>
            </a:pPr>
            <a:r>
              <a:rPr lang="en-US" sz="1300" dirty="0">
                <a:solidFill>
                  <a:srgbClr val="12232B"/>
                </a:solidFill>
                <a:latin typeface="Arial" pitchFamily="34" charset="0"/>
                <a:ea typeface="Arial" pitchFamily="34" charset="-122"/>
                <a:cs typeface="Arial" pitchFamily="34" charset="-120"/>
              </a:rPr>
              <a:t>50,000</a:t>
            </a:r>
            <a:endParaRPr lang="en-US" sz="1300" dirty="0"/>
          </a:p>
        </p:txBody>
      </p:sp>
      <p:sp>
        <p:nvSpPr>
          <p:cNvPr id="36" name="Shape 34"/>
          <p:cNvSpPr/>
          <p:nvPr/>
        </p:nvSpPr>
        <p:spPr>
          <a:xfrm>
            <a:off x="777240" y="4023360"/>
            <a:ext cx="2971800" cy="640080"/>
          </a:xfrm>
          <a:prstGeom prst="rect">
            <a:avLst/>
          </a:prstGeom>
          <a:solidFill>
            <a:srgbClr val="D6DCF0"/>
          </a:solidFill>
          <a:ln w="12700">
            <a:solidFill>
              <a:srgbClr val="FFFFFF"/>
            </a:solidFill>
            <a:prstDash val="solid"/>
          </a:ln>
        </p:spPr>
      </p:sp>
      <p:sp>
        <p:nvSpPr>
          <p:cNvPr id="37" name="Text 35"/>
          <p:cNvSpPr/>
          <p:nvPr/>
        </p:nvSpPr>
        <p:spPr>
          <a:xfrm>
            <a:off x="868680" y="4078224"/>
            <a:ext cx="2788920" cy="530352"/>
          </a:xfrm>
          <a:prstGeom prst="rect">
            <a:avLst/>
          </a:prstGeom>
          <a:noFill/>
          <a:ln/>
        </p:spPr>
        <p:txBody>
          <a:bodyPr wrap="square" lIns="0" tIns="0" rIns="0" bIns="0" rtlCol="0" anchor="ctr">
            <a:normAutofit/>
          </a:bodyPr>
          <a:lstStyle/>
          <a:p>
            <a:pPr algn="l" indent="0" marL="0">
              <a:buNone/>
            </a:pPr>
            <a:r>
              <a:rPr lang="en-US" sz="1300" b="1" dirty="0">
                <a:solidFill>
                  <a:srgbClr val="12232B"/>
                </a:solidFill>
                <a:latin typeface="Arial" pitchFamily="34" charset="0"/>
                <a:ea typeface="Arial" pitchFamily="34" charset="-122"/>
                <a:cs typeface="Arial" pitchFamily="34" charset="-120"/>
              </a:rPr>
              <a:t>TOTAL REVENUE</a:t>
            </a:r>
            <a:endParaRPr lang="en-US" sz="1300" dirty="0"/>
          </a:p>
        </p:txBody>
      </p:sp>
      <p:sp>
        <p:nvSpPr>
          <p:cNvPr id="38" name="Shape 36"/>
          <p:cNvSpPr/>
          <p:nvPr/>
        </p:nvSpPr>
        <p:spPr>
          <a:xfrm>
            <a:off x="3749040" y="4023360"/>
            <a:ext cx="1874520" cy="640080"/>
          </a:xfrm>
          <a:prstGeom prst="rect">
            <a:avLst/>
          </a:prstGeom>
          <a:solidFill>
            <a:srgbClr val="D6DCF0"/>
          </a:solidFill>
          <a:ln w="12700">
            <a:solidFill>
              <a:srgbClr val="FFFFFF"/>
            </a:solidFill>
            <a:prstDash val="solid"/>
          </a:ln>
        </p:spPr>
      </p:sp>
      <p:sp>
        <p:nvSpPr>
          <p:cNvPr id="39" name="Text 37"/>
          <p:cNvSpPr/>
          <p:nvPr/>
        </p:nvSpPr>
        <p:spPr>
          <a:xfrm>
            <a:off x="3840480" y="4078224"/>
            <a:ext cx="1691640" cy="530352"/>
          </a:xfrm>
          <a:prstGeom prst="rect">
            <a:avLst/>
          </a:prstGeom>
          <a:noFill/>
          <a:ln/>
        </p:spPr>
        <p:txBody>
          <a:bodyPr wrap="square" lIns="0" tIns="0" rIns="0" bIns="0" rtlCol="0" anchor="ctr">
            <a:normAutofit/>
          </a:bodyPr>
          <a:lstStyle/>
          <a:p>
            <a:pPr algn="l" indent="0" marL="0">
              <a:buNone/>
            </a:pPr>
            <a:endParaRPr lang="en-US" sz="1300" dirty="0"/>
          </a:p>
        </p:txBody>
      </p:sp>
      <p:sp>
        <p:nvSpPr>
          <p:cNvPr id="40" name="Shape 38"/>
          <p:cNvSpPr/>
          <p:nvPr/>
        </p:nvSpPr>
        <p:spPr>
          <a:xfrm>
            <a:off x="5623560" y="4023360"/>
            <a:ext cx="1508760" cy="640080"/>
          </a:xfrm>
          <a:prstGeom prst="rect">
            <a:avLst/>
          </a:prstGeom>
          <a:solidFill>
            <a:srgbClr val="D6DCF0"/>
          </a:solidFill>
          <a:ln w="12700">
            <a:solidFill>
              <a:srgbClr val="FFFFFF"/>
            </a:solidFill>
            <a:prstDash val="solid"/>
          </a:ln>
        </p:spPr>
      </p:sp>
      <p:sp>
        <p:nvSpPr>
          <p:cNvPr id="41" name="Text 39"/>
          <p:cNvSpPr/>
          <p:nvPr/>
        </p:nvSpPr>
        <p:spPr>
          <a:xfrm>
            <a:off x="5715000" y="4078224"/>
            <a:ext cx="1325880" cy="530352"/>
          </a:xfrm>
          <a:prstGeom prst="rect">
            <a:avLst/>
          </a:prstGeom>
          <a:noFill/>
          <a:ln/>
        </p:spPr>
        <p:txBody>
          <a:bodyPr wrap="square" lIns="0" tIns="0" rIns="0" bIns="0" rtlCol="0" anchor="ctr">
            <a:normAutofit/>
          </a:bodyPr>
          <a:lstStyle/>
          <a:p>
            <a:pPr algn="l" indent="0" marL="0">
              <a:buNone/>
            </a:pPr>
            <a:endParaRPr lang="en-US" sz="1300" dirty="0"/>
          </a:p>
        </p:txBody>
      </p:sp>
      <p:sp>
        <p:nvSpPr>
          <p:cNvPr id="42" name="Shape 40"/>
          <p:cNvSpPr/>
          <p:nvPr/>
        </p:nvSpPr>
        <p:spPr>
          <a:xfrm>
            <a:off x="7132320" y="4023360"/>
            <a:ext cx="2057400" cy="640080"/>
          </a:xfrm>
          <a:prstGeom prst="rect">
            <a:avLst/>
          </a:prstGeom>
          <a:solidFill>
            <a:srgbClr val="D6DCF0"/>
          </a:solidFill>
          <a:ln w="12700">
            <a:solidFill>
              <a:srgbClr val="FFFFFF"/>
            </a:solidFill>
            <a:prstDash val="solid"/>
          </a:ln>
        </p:spPr>
      </p:sp>
      <p:sp>
        <p:nvSpPr>
          <p:cNvPr id="43" name="Text 41"/>
          <p:cNvSpPr/>
          <p:nvPr/>
        </p:nvSpPr>
        <p:spPr>
          <a:xfrm>
            <a:off x="7223760" y="4078224"/>
            <a:ext cx="1874520" cy="530352"/>
          </a:xfrm>
          <a:prstGeom prst="rect">
            <a:avLst/>
          </a:prstGeom>
          <a:noFill/>
          <a:ln/>
        </p:spPr>
        <p:txBody>
          <a:bodyPr wrap="square" lIns="0" tIns="0" rIns="0" bIns="0" rtlCol="0" anchor="ctr">
            <a:normAutofit/>
          </a:bodyPr>
          <a:lstStyle/>
          <a:p>
            <a:pPr algn="r" indent="0" marL="0">
              <a:buNone/>
            </a:pPr>
            <a:r>
              <a:rPr lang="en-US" sz="1300" b="1" dirty="0">
                <a:solidFill>
                  <a:srgbClr val="12232B"/>
                </a:solidFill>
                <a:latin typeface="Arial" pitchFamily="34" charset="0"/>
                <a:ea typeface="Arial" pitchFamily="34" charset="-122"/>
                <a:cs typeface="Arial" pitchFamily="34" charset="-120"/>
              </a:rPr>
              <a:t>300,000</a:t>
            </a:r>
            <a:endParaRPr lang="en-US" sz="1300" dirty="0"/>
          </a:p>
        </p:txBody>
      </p:sp>
      <p:sp>
        <p:nvSpPr>
          <p:cNvPr id="44" name="Shape 42"/>
          <p:cNvSpPr/>
          <p:nvPr/>
        </p:nvSpPr>
        <p:spPr>
          <a:xfrm>
            <a:off x="8458200" y="1920240"/>
            <a:ext cx="2788920" cy="2468880"/>
          </a:xfrm>
          <a:prstGeom prst="roundRect">
            <a:avLst>
              <a:gd name="adj" fmla="val 2963"/>
            </a:avLst>
          </a:prstGeom>
          <a:solidFill>
            <a:srgbClr val="F4E7D4"/>
          </a:solidFill>
          <a:ln w="12700">
            <a:solidFill>
              <a:srgbClr val="F4E7D4">
                <a:alpha val="0"/>
              </a:srgbClr>
            </a:solidFill>
            <a:prstDash val="solid"/>
          </a:ln>
        </p:spPr>
      </p:sp>
      <p:sp>
        <p:nvSpPr>
          <p:cNvPr id="45" name="Text 43"/>
          <p:cNvSpPr/>
          <p:nvPr/>
        </p:nvSpPr>
        <p:spPr>
          <a:xfrm>
            <a:off x="8759952" y="2267712"/>
            <a:ext cx="2176272" cy="228600"/>
          </a:xfrm>
          <a:prstGeom prst="rect">
            <a:avLst/>
          </a:prstGeom>
          <a:noFill/>
          <a:ln/>
        </p:spPr>
        <p:txBody>
          <a:bodyPr wrap="square" lIns="0" tIns="0" rIns="0" bIns="0" rtlCol="0" anchor="ctr">
            <a:normAutofit/>
          </a:bodyPr>
          <a:lstStyle/>
          <a:p>
            <a:pPr algn="l" indent="0" marL="0">
              <a:buNone/>
            </a:pPr>
            <a:r>
              <a:rPr lang="en-US" sz="1100" b="1" dirty="0">
                <a:solidFill>
                  <a:srgbClr val="2E7D73"/>
                </a:solidFill>
                <a:latin typeface="Arial" pitchFamily="34" charset="0"/>
                <a:ea typeface="Arial" pitchFamily="34" charset="-122"/>
                <a:cs typeface="Arial" pitchFamily="34" charset="-120"/>
              </a:rPr>
              <a:t>TOTAL REVENUE</a:t>
            </a:r>
            <a:endParaRPr lang="en-US" sz="1100" dirty="0"/>
          </a:p>
        </p:txBody>
      </p:sp>
      <p:sp>
        <p:nvSpPr>
          <p:cNvPr id="46" name="Text 44"/>
          <p:cNvSpPr/>
          <p:nvPr/>
        </p:nvSpPr>
        <p:spPr>
          <a:xfrm>
            <a:off x="8759952" y="2651760"/>
            <a:ext cx="2176272" cy="475488"/>
          </a:xfrm>
          <a:prstGeom prst="rect">
            <a:avLst/>
          </a:prstGeom>
          <a:noFill/>
          <a:ln/>
        </p:spPr>
        <p:txBody>
          <a:bodyPr wrap="square" lIns="0" tIns="0" rIns="0" bIns="0" rtlCol="0" anchor="ctr">
            <a:normAutofit/>
          </a:bodyPr>
          <a:lstStyle/>
          <a:p>
            <a:pPr algn="l" indent="0" marL="0">
              <a:buNone/>
            </a:pPr>
            <a:r>
              <a:rPr lang="en-US" sz="2600" b="1" dirty="0">
                <a:solidFill>
                  <a:srgbClr val="12232B"/>
                </a:solidFill>
                <a:latin typeface="Arial" pitchFamily="34" charset="0"/>
                <a:ea typeface="Arial" pitchFamily="34" charset="-122"/>
                <a:cs typeface="Arial" pitchFamily="34" charset="-120"/>
              </a:rPr>
              <a:t>₦300,000</a:t>
            </a:r>
            <a:endParaRPr lang="en-US" sz="2600" dirty="0"/>
          </a:p>
        </p:txBody>
      </p:sp>
      <p:sp>
        <p:nvSpPr>
          <p:cNvPr id="47" name="Text 45"/>
          <p:cNvSpPr/>
          <p:nvPr/>
        </p:nvSpPr>
        <p:spPr>
          <a:xfrm>
            <a:off x="8759952" y="3429000"/>
            <a:ext cx="2157984" cy="566928"/>
          </a:xfrm>
          <a:prstGeom prst="rect">
            <a:avLst/>
          </a:prstGeom>
          <a:noFill/>
          <a:ln/>
        </p:spPr>
        <p:txBody>
          <a:bodyPr wrap="square" lIns="0" tIns="0" rIns="0" bIns="0" rtlCol="0" anchor="ctr">
            <a:normAutofit/>
          </a:bodyPr>
          <a:lstStyle/>
          <a:p>
            <a:pPr algn="l" indent="0" marL="0">
              <a:buNone/>
            </a:pPr>
            <a:r>
              <a:rPr lang="en-US" sz="1100" dirty="0">
                <a:solidFill>
                  <a:srgbClr val="68767C"/>
                </a:solidFill>
                <a:latin typeface="Arial" pitchFamily="34" charset="0"/>
                <a:ea typeface="Arial" pitchFamily="34" charset="-122"/>
                <a:cs typeface="Arial" pitchFamily="34" charset="-120"/>
              </a:rPr>
              <a:t>This is a projection unless the team has verified records of actual revenue.</a:t>
            </a:r>
            <a:endParaRPr lang="en-US" sz="1100" dirty="0"/>
          </a:p>
        </p:txBody>
      </p:sp>
      <p:sp>
        <p:nvSpPr>
          <p:cNvPr id="48" name="Shape 46"/>
          <p:cNvSpPr/>
          <p:nvPr/>
        </p:nvSpPr>
        <p:spPr>
          <a:xfrm>
            <a:off x="1143000" y="5120640"/>
            <a:ext cx="9875520" cy="502920"/>
          </a:xfrm>
          <a:prstGeom prst="roundRect">
            <a:avLst>
              <a:gd name="adj" fmla="val 14545"/>
            </a:avLst>
          </a:prstGeom>
          <a:solidFill>
            <a:srgbClr val="12232B"/>
          </a:solidFill>
          <a:ln w="12700">
            <a:solidFill>
              <a:srgbClr val="12232B">
                <a:alpha val="0"/>
              </a:srgbClr>
            </a:solidFill>
            <a:prstDash val="solid"/>
          </a:ln>
        </p:spPr>
      </p:sp>
      <p:sp>
        <p:nvSpPr>
          <p:cNvPr id="49" name="Text 47"/>
          <p:cNvSpPr/>
          <p:nvPr/>
        </p:nvSpPr>
        <p:spPr>
          <a:xfrm>
            <a:off x="1417320" y="5266944"/>
            <a:ext cx="932688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Revenue sources shown: shares + sponsorship + sales of confectioneries.</a:t>
            </a:r>
            <a:endParaRPr lang="en-US" sz="1200" dirty="0"/>
          </a:p>
        </p:txBody>
      </p:sp>
      <p:sp>
        <p:nvSpPr>
          <p:cNvPr id="50" name="Text 48"/>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EXPENDITURE STATEMENT</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How the projected funds are used</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A clear cost breakdown makes the financial story easier for judges to follow.</a:t>
            </a:r>
            <a:endParaRPr lang="en-US" sz="1300" dirty="0"/>
          </a:p>
        </p:txBody>
      </p:sp>
      <p:sp>
        <p:nvSpPr>
          <p:cNvPr id="5" name="Shape 3"/>
          <p:cNvSpPr/>
          <p:nvPr/>
        </p:nvSpPr>
        <p:spPr>
          <a:xfrm>
            <a:off x="658368" y="1828800"/>
            <a:ext cx="4892040" cy="475488"/>
          </a:xfrm>
          <a:prstGeom prst="rect">
            <a:avLst/>
          </a:prstGeom>
          <a:solidFill>
            <a:srgbClr val="5376C5"/>
          </a:solidFill>
          <a:ln w="12700">
            <a:solidFill>
              <a:srgbClr val="FFFFFF"/>
            </a:solidFill>
            <a:prstDash val="solid"/>
          </a:ln>
        </p:spPr>
      </p:sp>
      <p:sp>
        <p:nvSpPr>
          <p:cNvPr id="6" name="Text 4"/>
          <p:cNvSpPr/>
          <p:nvPr/>
        </p:nvSpPr>
        <p:spPr>
          <a:xfrm>
            <a:off x="749808" y="1883664"/>
            <a:ext cx="4709160" cy="36576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rial" pitchFamily="34" charset="0"/>
                <a:ea typeface="Arial" pitchFamily="34" charset="-122"/>
                <a:cs typeface="Arial" pitchFamily="34" charset="-120"/>
              </a:rPr>
              <a:t>EXPENDITURE</a:t>
            </a:r>
            <a:endParaRPr lang="en-US" sz="1200" dirty="0"/>
          </a:p>
        </p:txBody>
      </p:sp>
      <p:sp>
        <p:nvSpPr>
          <p:cNvPr id="7" name="Shape 5"/>
          <p:cNvSpPr/>
          <p:nvPr/>
        </p:nvSpPr>
        <p:spPr>
          <a:xfrm>
            <a:off x="5550408" y="1828800"/>
            <a:ext cx="2194560" cy="475488"/>
          </a:xfrm>
          <a:prstGeom prst="rect">
            <a:avLst/>
          </a:prstGeom>
          <a:solidFill>
            <a:srgbClr val="5376C5"/>
          </a:solidFill>
          <a:ln w="12700">
            <a:solidFill>
              <a:srgbClr val="FFFFFF"/>
            </a:solidFill>
            <a:prstDash val="solid"/>
          </a:ln>
        </p:spPr>
      </p:sp>
      <p:sp>
        <p:nvSpPr>
          <p:cNvPr id="8" name="Text 6"/>
          <p:cNvSpPr/>
          <p:nvPr/>
        </p:nvSpPr>
        <p:spPr>
          <a:xfrm>
            <a:off x="5641848" y="1883664"/>
            <a:ext cx="2011680" cy="365760"/>
          </a:xfrm>
          <a:prstGeom prst="rect">
            <a:avLst/>
          </a:prstGeom>
          <a:noFill/>
          <a:ln/>
        </p:spPr>
        <p:txBody>
          <a:bodyPr wrap="square" lIns="0" tIns="0" rIns="0" bIns="0" rtlCol="0" anchor="ctr">
            <a:normAutofit/>
          </a:bodyPr>
          <a:lstStyle/>
          <a:p>
            <a:pPr algn="r" indent="0" marL="0">
              <a:buNone/>
            </a:pPr>
            <a:r>
              <a:rPr lang="en-US" sz="1200" b="1" dirty="0">
                <a:solidFill>
                  <a:srgbClr val="FFFFFF"/>
                </a:solidFill>
                <a:latin typeface="Arial" pitchFamily="34" charset="0"/>
                <a:ea typeface="Arial" pitchFamily="34" charset="-122"/>
                <a:cs typeface="Arial" pitchFamily="34" charset="-120"/>
              </a:rPr>
              <a:t>AMOUNT (₦)</a:t>
            </a:r>
            <a:endParaRPr lang="en-US" sz="1200" dirty="0"/>
          </a:p>
        </p:txBody>
      </p:sp>
      <p:sp>
        <p:nvSpPr>
          <p:cNvPr id="9" name="Shape 7"/>
          <p:cNvSpPr/>
          <p:nvPr/>
        </p:nvSpPr>
        <p:spPr>
          <a:xfrm>
            <a:off x="658368" y="2304288"/>
            <a:ext cx="4892040" cy="420624"/>
          </a:xfrm>
          <a:prstGeom prst="rect">
            <a:avLst/>
          </a:prstGeom>
          <a:solidFill>
            <a:srgbClr val="EEF1FA"/>
          </a:solidFill>
          <a:ln w="12700">
            <a:solidFill>
              <a:srgbClr val="FFFFFF"/>
            </a:solidFill>
            <a:prstDash val="solid"/>
          </a:ln>
        </p:spPr>
      </p:sp>
      <p:sp>
        <p:nvSpPr>
          <p:cNvPr id="10" name="Text 8"/>
          <p:cNvSpPr/>
          <p:nvPr/>
        </p:nvSpPr>
        <p:spPr>
          <a:xfrm>
            <a:off x="749808" y="2359152"/>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App development</a:t>
            </a:r>
            <a:endParaRPr lang="en-US" sz="1200" dirty="0"/>
          </a:p>
        </p:txBody>
      </p:sp>
      <p:sp>
        <p:nvSpPr>
          <p:cNvPr id="11" name="Shape 9"/>
          <p:cNvSpPr/>
          <p:nvPr/>
        </p:nvSpPr>
        <p:spPr>
          <a:xfrm>
            <a:off x="5550408" y="2304288"/>
            <a:ext cx="2194560" cy="420624"/>
          </a:xfrm>
          <a:prstGeom prst="rect">
            <a:avLst/>
          </a:prstGeom>
          <a:solidFill>
            <a:srgbClr val="EEF1FA"/>
          </a:solidFill>
          <a:ln w="12700">
            <a:solidFill>
              <a:srgbClr val="FFFFFF"/>
            </a:solidFill>
            <a:prstDash val="solid"/>
          </a:ln>
        </p:spPr>
      </p:sp>
      <p:sp>
        <p:nvSpPr>
          <p:cNvPr id="12" name="Text 10"/>
          <p:cNvSpPr/>
          <p:nvPr/>
        </p:nvSpPr>
        <p:spPr>
          <a:xfrm>
            <a:off x="5641848" y="2359152"/>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100,000</a:t>
            </a:r>
            <a:endParaRPr lang="en-US" sz="1200" dirty="0"/>
          </a:p>
        </p:txBody>
      </p:sp>
      <p:sp>
        <p:nvSpPr>
          <p:cNvPr id="13" name="Shape 11"/>
          <p:cNvSpPr/>
          <p:nvPr/>
        </p:nvSpPr>
        <p:spPr>
          <a:xfrm>
            <a:off x="658368" y="2724912"/>
            <a:ext cx="4892040" cy="420624"/>
          </a:xfrm>
          <a:prstGeom prst="rect">
            <a:avLst/>
          </a:prstGeom>
          <a:solidFill>
            <a:srgbClr val="EEF1FA"/>
          </a:solidFill>
          <a:ln w="12700">
            <a:solidFill>
              <a:srgbClr val="FFFFFF"/>
            </a:solidFill>
            <a:prstDash val="solid"/>
          </a:ln>
        </p:spPr>
      </p:sp>
      <p:sp>
        <p:nvSpPr>
          <p:cNvPr id="14" name="Text 12"/>
          <p:cNvSpPr/>
          <p:nvPr/>
        </p:nvSpPr>
        <p:spPr>
          <a:xfrm>
            <a:off x="749808" y="2779776"/>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Internet / data</a:t>
            </a:r>
            <a:endParaRPr lang="en-US" sz="1200" dirty="0"/>
          </a:p>
        </p:txBody>
      </p:sp>
      <p:sp>
        <p:nvSpPr>
          <p:cNvPr id="15" name="Shape 13"/>
          <p:cNvSpPr/>
          <p:nvPr/>
        </p:nvSpPr>
        <p:spPr>
          <a:xfrm>
            <a:off x="5550408" y="2724912"/>
            <a:ext cx="2194560" cy="420624"/>
          </a:xfrm>
          <a:prstGeom prst="rect">
            <a:avLst/>
          </a:prstGeom>
          <a:solidFill>
            <a:srgbClr val="EEF1FA"/>
          </a:solidFill>
          <a:ln w="12700">
            <a:solidFill>
              <a:srgbClr val="FFFFFF"/>
            </a:solidFill>
            <a:prstDash val="solid"/>
          </a:ln>
        </p:spPr>
      </p:sp>
      <p:sp>
        <p:nvSpPr>
          <p:cNvPr id="16" name="Text 14"/>
          <p:cNvSpPr/>
          <p:nvPr/>
        </p:nvSpPr>
        <p:spPr>
          <a:xfrm>
            <a:off x="5641848" y="2779776"/>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10,000</a:t>
            </a:r>
            <a:endParaRPr lang="en-US" sz="1200" dirty="0"/>
          </a:p>
        </p:txBody>
      </p:sp>
      <p:sp>
        <p:nvSpPr>
          <p:cNvPr id="17" name="Shape 15"/>
          <p:cNvSpPr/>
          <p:nvPr/>
        </p:nvSpPr>
        <p:spPr>
          <a:xfrm>
            <a:off x="658368" y="3145536"/>
            <a:ext cx="4892040" cy="420624"/>
          </a:xfrm>
          <a:prstGeom prst="rect">
            <a:avLst/>
          </a:prstGeom>
          <a:solidFill>
            <a:srgbClr val="EEF1FA"/>
          </a:solidFill>
          <a:ln w="12700">
            <a:solidFill>
              <a:srgbClr val="FFFFFF"/>
            </a:solidFill>
            <a:prstDash val="solid"/>
          </a:ln>
        </p:spPr>
      </p:sp>
      <p:sp>
        <p:nvSpPr>
          <p:cNvPr id="18" name="Text 16"/>
          <p:cNvSpPr/>
          <p:nvPr/>
        </p:nvSpPr>
        <p:spPr>
          <a:xfrm>
            <a:off x="749808" y="3200400"/>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Board</a:t>
            </a:r>
            <a:endParaRPr lang="en-US" sz="1200" dirty="0"/>
          </a:p>
        </p:txBody>
      </p:sp>
      <p:sp>
        <p:nvSpPr>
          <p:cNvPr id="19" name="Shape 17"/>
          <p:cNvSpPr/>
          <p:nvPr/>
        </p:nvSpPr>
        <p:spPr>
          <a:xfrm>
            <a:off x="5550408" y="3145536"/>
            <a:ext cx="2194560" cy="420624"/>
          </a:xfrm>
          <a:prstGeom prst="rect">
            <a:avLst/>
          </a:prstGeom>
          <a:solidFill>
            <a:srgbClr val="EEF1FA"/>
          </a:solidFill>
          <a:ln w="12700">
            <a:solidFill>
              <a:srgbClr val="FFFFFF"/>
            </a:solidFill>
            <a:prstDash val="solid"/>
          </a:ln>
        </p:spPr>
      </p:sp>
      <p:sp>
        <p:nvSpPr>
          <p:cNvPr id="20" name="Text 18"/>
          <p:cNvSpPr/>
          <p:nvPr/>
        </p:nvSpPr>
        <p:spPr>
          <a:xfrm>
            <a:off x="5641848" y="3200400"/>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9,000</a:t>
            </a:r>
            <a:endParaRPr lang="en-US" sz="1200" dirty="0"/>
          </a:p>
        </p:txBody>
      </p:sp>
      <p:sp>
        <p:nvSpPr>
          <p:cNvPr id="21" name="Shape 19"/>
          <p:cNvSpPr/>
          <p:nvPr/>
        </p:nvSpPr>
        <p:spPr>
          <a:xfrm>
            <a:off x="658368" y="3566160"/>
            <a:ext cx="4892040" cy="420624"/>
          </a:xfrm>
          <a:prstGeom prst="rect">
            <a:avLst/>
          </a:prstGeom>
          <a:solidFill>
            <a:srgbClr val="EEF1FA"/>
          </a:solidFill>
          <a:ln w="12700">
            <a:solidFill>
              <a:srgbClr val="FFFFFF"/>
            </a:solidFill>
            <a:prstDash val="solid"/>
          </a:ln>
        </p:spPr>
      </p:sp>
      <p:sp>
        <p:nvSpPr>
          <p:cNvPr id="22" name="Text 20"/>
          <p:cNvSpPr/>
          <p:nvPr/>
        </p:nvSpPr>
        <p:spPr>
          <a:xfrm>
            <a:off x="749808" y="3621024"/>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Contingency</a:t>
            </a:r>
            <a:endParaRPr lang="en-US" sz="1200" dirty="0"/>
          </a:p>
        </p:txBody>
      </p:sp>
      <p:sp>
        <p:nvSpPr>
          <p:cNvPr id="23" name="Shape 21"/>
          <p:cNvSpPr/>
          <p:nvPr/>
        </p:nvSpPr>
        <p:spPr>
          <a:xfrm>
            <a:off x="5550408" y="3566160"/>
            <a:ext cx="2194560" cy="420624"/>
          </a:xfrm>
          <a:prstGeom prst="rect">
            <a:avLst/>
          </a:prstGeom>
          <a:solidFill>
            <a:srgbClr val="EEF1FA"/>
          </a:solidFill>
          <a:ln w="12700">
            <a:solidFill>
              <a:srgbClr val="FFFFFF"/>
            </a:solidFill>
            <a:prstDash val="solid"/>
          </a:ln>
        </p:spPr>
      </p:sp>
      <p:sp>
        <p:nvSpPr>
          <p:cNvPr id="24" name="Text 22"/>
          <p:cNvSpPr/>
          <p:nvPr/>
        </p:nvSpPr>
        <p:spPr>
          <a:xfrm>
            <a:off x="5641848" y="3621024"/>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30,000</a:t>
            </a:r>
            <a:endParaRPr lang="en-US" sz="1200" dirty="0"/>
          </a:p>
        </p:txBody>
      </p:sp>
      <p:sp>
        <p:nvSpPr>
          <p:cNvPr id="25" name="Shape 23"/>
          <p:cNvSpPr/>
          <p:nvPr/>
        </p:nvSpPr>
        <p:spPr>
          <a:xfrm>
            <a:off x="658368" y="3986784"/>
            <a:ext cx="4892040" cy="420624"/>
          </a:xfrm>
          <a:prstGeom prst="rect">
            <a:avLst/>
          </a:prstGeom>
          <a:solidFill>
            <a:srgbClr val="EEF1FA"/>
          </a:solidFill>
          <a:ln w="12700">
            <a:solidFill>
              <a:srgbClr val="FFFFFF"/>
            </a:solidFill>
            <a:prstDash val="solid"/>
          </a:ln>
        </p:spPr>
      </p:sp>
      <p:sp>
        <p:nvSpPr>
          <p:cNvPr id="26" name="Text 24"/>
          <p:cNvSpPr/>
          <p:nvPr/>
        </p:nvSpPr>
        <p:spPr>
          <a:xfrm>
            <a:off x="749808" y="4041648"/>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Transport</a:t>
            </a:r>
            <a:endParaRPr lang="en-US" sz="1200" dirty="0"/>
          </a:p>
        </p:txBody>
      </p:sp>
      <p:sp>
        <p:nvSpPr>
          <p:cNvPr id="27" name="Shape 25"/>
          <p:cNvSpPr/>
          <p:nvPr/>
        </p:nvSpPr>
        <p:spPr>
          <a:xfrm>
            <a:off x="5550408" y="3986784"/>
            <a:ext cx="2194560" cy="420624"/>
          </a:xfrm>
          <a:prstGeom prst="rect">
            <a:avLst/>
          </a:prstGeom>
          <a:solidFill>
            <a:srgbClr val="EEF1FA"/>
          </a:solidFill>
          <a:ln w="12700">
            <a:solidFill>
              <a:srgbClr val="FFFFFF"/>
            </a:solidFill>
            <a:prstDash val="solid"/>
          </a:ln>
        </p:spPr>
      </p:sp>
      <p:sp>
        <p:nvSpPr>
          <p:cNvPr id="28" name="Text 26"/>
          <p:cNvSpPr/>
          <p:nvPr/>
        </p:nvSpPr>
        <p:spPr>
          <a:xfrm>
            <a:off x="5641848" y="4041648"/>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30,000</a:t>
            </a:r>
            <a:endParaRPr lang="en-US" sz="1200" dirty="0"/>
          </a:p>
        </p:txBody>
      </p:sp>
      <p:sp>
        <p:nvSpPr>
          <p:cNvPr id="29" name="Shape 27"/>
          <p:cNvSpPr/>
          <p:nvPr/>
        </p:nvSpPr>
        <p:spPr>
          <a:xfrm>
            <a:off x="658368" y="4407408"/>
            <a:ext cx="4892040" cy="420624"/>
          </a:xfrm>
          <a:prstGeom prst="rect">
            <a:avLst/>
          </a:prstGeom>
          <a:solidFill>
            <a:srgbClr val="EEF1FA"/>
          </a:solidFill>
          <a:ln w="12700">
            <a:solidFill>
              <a:srgbClr val="FFFFFF"/>
            </a:solidFill>
            <a:prstDash val="solid"/>
          </a:ln>
        </p:spPr>
      </p:sp>
      <p:sp>
        <p:nvSpPr>
          <p:cNvPr id="30" name="Text 28"/>
          <p:cNvSpPr/>
          <p:nvPr/>
        </p:nvSpPr>
        <p:spPr>
          <a:xfrm>
            <a:off x="749808" y="4462272"/>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Stationery</a:t>
            </a:r>
            <a:endParaRPr lang="en-US" sz="1200" dirty="0"/>
          </a:p>
        </p:txBody>
      </p:sp>
      <p:sp>
        <p:nvSpPr>
          <p:cNvPr id="31" name="Shape 29"/>
          <p:cNvSpPr/>
          <p:nvPr/>
        </p:nvSpPr>
        <p:spPr>
          <a:xfrm>
            <a:off x="5550408" y="4407408"/>
            <a:ext cx="2194560" cy="420624"/>
          </a:xfrm>
          <a:prstGeom prst="rect">
            <a:avLst/>
          </a:prstGeom>
          <a:solidFill>
            <a:srgbClr val="EEF1FA"/>
          </a:solidFill>
          <a:ln w="12700">
            <a:solidFill>
              <a:srgbClr val="FFFFFF"/>
            </a:solidFill>
            <a:prstDash val="solid"/>
          </a:ln>
        </p:spPr>
      </p:sp>
      <p:sp>
        <p:nvSpPr>
          <p:cNvPr id="32" name="Text 30"/>
          <p:cNvSpPr/>
          <p:nvPr/>
        </p:nvSpPr>
        <p:spPr>
          <a:xfrm>
            <a:off x="5641848" y="4462272"/>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20,000</a:t>
            </a:r>
            <a:endParaRPr lang="en-US" sz="1200" dirty="0"/>
          </a:p>
        </p:txBody>
      </p:sp>
      <p:sp>
        <p:nvSpPr>
          <p:cNvPr id="33" name="Shape 31"/>
          <p:cNvSpPr/>
          <p:nvPr/>
        </p:nvSpPr>
        <p:spPr>
          <a:xfrm>
            <a:off x="658368" y="4828032"/>
            <a:ext cx="4892040" cy="420624"/>
          </a:xfrm>
          <a:prstGeom prst="rect">
            <a:avLst/>
          </a:prstGeom>
          <a:solidFill>
            <a:srgbClr val="EEF1FA"/>
          </a:solidFill>
          <a:ln w="12700">
            <a:solidFill>
              <a:srgbClr val="FFFFFF"/>
            </a:solidFill>
            <a:prstDash val="solid"/>
          </a:ln>
        </p:spPr>
      </p:sp>
      <p:sp>
        <p:nvSpPr>
          <p:cNvPr id="34" name="Text 32"/>
          <p:cNvSpPr/>
          <p:nvPr/>
        </p:nvSpPr>
        <p:spPr>
          <a:xfrm>
            <a:off x="749808" y="4882896"/>
            <a:ext cx="4709160" cy="310896"/>
          </a:xfrm>
          <a:prstGeom prst="rect">
            <a:avLst/>
          </a:prstGeom>
          <a:noFill/>
          <a:ln/>
        </p:spPr>
        <p:txBody>
          <a:bodyPr wrap="square" lIns="0" tIns="0" rIns="0" bIns="0" rtlCol="0" anchor="ctr">
            <a:normAutofit/>
          </a:bodyPr>
          <a:lstStyle/>
          <a:p>
            <a:pPr algn="l" indent="0" marL="0">
              <a:buNone/>
            </a:pPr>
            <a:r>
              <a:rPr lang="en-US" sz="1200" dirty="0">
                <a:solidFill>
                  <a:srgbClr val="12232B"/>
                </a:solidFill>
                <a:latin typeface="Arial" pitchFamily="34" charset="0"/>
                <a:ea typeface="Arial" pitchFamily="34" charset="-122"/>
                <a:cs typeface="Arial" pitchFamily="34" charset="-120"/>
              </a:rPr>
              <a:t>Printing paper</a:t>
            </a:r>
            <a:endParaRPr lang="en-US" sz="1200" dirty="0"/>
          </a:p>
        </p:txBody>
      </p:sp>
      <p:sp>
        <p:nvSpPr>
          <p:cNvPr id="35" name="Shape 33"/>
          <p:cNvSpPr/>
          <p:nvPr/>
        </p:nvSpPr>
        <p:spPr>
          <a:xfrm>
            <a:off x="5550408" y="4828032"/>
            <a:ext cx="2194560" cy="420624"/>
          </a:xfrm>
          <a:prstGeom prst="rect">
            <a:avLst/>
          </a:prstGeom>
          <a:solidFill>
            <a:srgbClr val="EEF1FA"/>
          </a:solidFill>
          <a:ln w="12700">
            <a:solidFill>
              <a:srgbClr val="FFFFFF"/>
            </a:solidFill>
            <a:prstDash val="solid"/>
          </a:ln>
        </p:spPr>
      </p:sp>
      <p:sp>
        <p:nvSpPr>
          <p:cNvPr id="36" name="Text 34"/>
          <p:cNvSpPr/>
          <p:nvPr/>
        </p:nvSpPr>
        <p:spPr>
          <a:xfrm>
            <a:off x="5641848" y="4882896"/>
            <a:ext cx="2011680" cy="310896"/>
          </a:xfrm>
          <a:prstGeom prst="rect">
            <a:avLst/>
          </a:prstGeom>
          <a:noFill/>
          <a:ln/>
        </p:spPr>
        <p:txBody>
          <a:bodyPr wrap="square" lIns="0" tIns="0" rIns="0" bIns="0" rtlCol="0" anchor="ctr">
            <a:normAutofit/>
          </a:bodyPr>
          <a:lstStyle/>
          <a:p>
            <a:pPr algn="r" indent="0" marL="0">
              <a:buNone/>
            </a:pPr>
            <a:r>
              <a:rPr lang="en-US" sz="1200" dirty="0">
                <a:solidFill>
                  <a:srgbClr val="12232B"/>
                </a:solidFill>
                <a:latin typeface="Arial" pitchFamily="34" charset="0"/>
                <a:ea typeface="Arial" pitchFamily="34" charset="-122"/>
                <a:cs typeface="Arial" pitchFamily="34" charset="-120"/>
              </a:rPr>
              <a:t>10,000</a:t>
            </a:r>
            <a:endParaRPr lang="en-US" sz="1200" dirty="0"/>
          </a:p>
        </p:txBody>
      </p:sp>
      <p:sp>
        <p:nvSpPr>
          <p:cNvPr id="37" name="Shape 35"/>
          <p:cNvSpPr/>
          <p:nvPr/>
        </p:nvSpPr>
        <p:spPr>
          <a:xfrm>
            <a:off x="658368" y="5248656"/>
            <a:ext cx="4892040" cy="420624"/>
          </a:xfrm>
          <a:prstGeom prst="rect">
            <a:avLst/>
          </a:prstGeom>
          <a:solidFill>
            <a:srgbClr val="D6DCF0"/>
          </a:solidFill>
          <a:ln w="12700">
            <a:solidFill>
              <a:srgbClr val="FFFFFF"/>
            </a:solidFill>
            <a:prstDash val="solid"/>
          </a:ln>
        </p:spPr>
      </p:sp>
      <p:sp>
        <p:nvSpPr>
          <p:cNvPr id="38" name="Text 36"/>
          <p:cNvSpPr/>
          <p:nvPr/>
        </p:nvSpPr>
        <p:spPr>
          <a:xfrm>
            <a:off x="749808" y="5303520"/>
            <a:ext cx="4709160" cy="310896"/>
          </a:xfrm>
          <a:prstGeom prst="rect">
            <a:avLst/>
          </a:prstGeom>
          <a:noFill/>
          <a:ln/>
        </p:spPr>
        <p:txBody>
          <a:bodyPr wrap="square" lIns="0" tIns="0" rIns="0" bIns="0" rtlCol="0" anchor="ctr">
            <a:normAutofit/>
          </a:bodyPr>
          <a:lstStyle/>
          <a:p>
            <a:pPr algn="l" indent="0" marL="0">
              <a:buNone/>
            </a:pPr>
            <a:r>
              <a:rPr lang="en-US" sz="1200" b="1" dirty="0">
                <a:solidFill>
                  <a:srgbClr val="12232B"/>
                </a:solidFill>
                <a:latin typeface="Arial" pitchFamily="34" charset="0"/>
                <a:ea typeface="Arial" pitchFamily="34" charset="-122"/>
                <a:cs typeface="Arial" pitchFamily="34" charset="-120"/>
              </a:rPr>
              <a:t>TOTAL EXPENSES</a:t>
            </a:r>
            <a:endParaRPr lang="en-US" sz="1200" dirty="0"/>
          </a:p>
        </p:txBody>
      </p:sp>
      <p:sp>
        <p:nvSpPr>
          <p:cNvPr id="39" name="Shape 37"/>
          <p:cNvSpPr/>
          <p:nvPr/>
        </p:nvSpPr>
        <p:spPr>
          <a:xfrm>
            <a:off x="5550408" y="5248656"/>
            <a:ext cx="2194560" cy="420624"/>
          </a:xfrm>
          <a:prstGeom prst="rect">
            <a:avLst/>
          </a:prstGeom>
          <a:solidFill>
            <a:srgbClr val="D6DCF0"/>
          </a:solidFill>
          <a:ln w="12700">
            <a:solidFill>
              <a:srgbClr val="FFFFFF"/>
            </a:solidFill>
            <a:prstDash val="solid"/>
          </a:ln>
        </p:spPr>
      </p:sp>
      <p:sp>
        <p:nvSpPr>
          <p:cNvPr id="40" name="Text 38"/>
          <p:cNvSpPr/>
          <p:nvPr/>
        </p:nvSpPr>
        <p:spPr>
          <a:xfrm>
            <a:off x="5641848" y="5303520"/>
            <a:ext cx="2011680" cy="310896"/>
          </a:xfrm>
          <a:prstGeom prst="rect">
            <a:avLst/>
          </a:prstGeom>
          <a:noFill/>
          <a:ln/>
        </p:spPr>
        <p:txBody>
          <a:bodyPr wrap="square" lIns="0" tIns="0" rIns="0" bIns="0" rtlCol="0" anchor="ctr">
            <a:normAutofit/>
          </a:bodyPr>
          <a:lstStyle/>
          <a:p>
            <a:pPr algn="r" indent="0" marL="0">
              <a:buNone/>
            </a:pPr>
            <a:r>
              <a:rPr lang="en-US" sz="1200" b="1" dirty="0">
                <a:solidFill>
                  <a:srgbClr val="12232B"/>
                </a:solidFill>
                <a:latin typeface="Arial" pitchFamily="34" charset="0"/>
                <a:ea typeface="Arial" pitchFamily="34" charset="-122"/>
                <a:cs typeface="Arial" pitchFamily="34" charset="-120"/>
              </a:rPr>
              <a:t>217,000</a:t>
            </a:r>
            <a:endParaRPr lang="en-US" sz="1200" dirty="0"/>
          </a:p>
        </p:txBody>
      </p:sp>
      <p:sp>
        <p:nvSpPr>
          <p:cNvPr id="41" name="Shape 39"/>
          <p:cNvSpPr/>
          <p:nvPr/>
        </p:nvSpPr>
        <p:spPr>
          <a:xfrm>
            <a:off x="8092440" y="1828800"/>
            <a:ext cx="3429000" cy="3419856"/>
          </a:xfrm>
          <a:prstGeom prst="roundRect">
            <a:avLst>
              <a:gd name="adj" fmla="val 2139"/>
            </a:avLst>
          </a:prstGeom>
          <a:solidFill>
            <a:srgbClr val="12232B"/>
          </a:solidFill>
          <a:ln w="12700">
            <a:solidFill>
              <a:srgbClr val="12232B">
                <a:alpha val="0"/>
              </a:srgbClr>
            </a:solidFill>
            <a:prstDash val="solid"/>
          </a:ln>
        </p:spPr>
      </p:sp>
      <p:sp>
        <p:nvSpPr>
          <p:cNvPr id="42" name="Text 40"/>
          <p:cNvSpPr/>
          <p:nvPr/>
        </p:nvSpPr>
        <p:spPr>
          <a:xfrm>
            <a:off x="8430768" y="2176272"/>
            <a:ext cx="2743200" cy="219456"/>
          </a:xfrm>
          <a:prstGeom prst="rect">
            <a:avLst/>
          </a:prstGeom>
          <a:noFill/>
          <a:ln/>
        </p:spPr>
        <p:txBody>
          <a:bodyPr wrap="square" lIns="0" tIns="0" rIns="0" bIns="0" rtlCol="0" anchor="ctr">
            <a:normAutofit/>
          </a:bodyPr>
          <a:lstStyle/>
          <a:p>
            <a:pPr algn="l" indent="0" marL="0">
              <a:buNone/>
            </a:pPr>
            <a:r>
              <a:rPr lang="en-US" sz="1100" b="1" spc="100" kern="0" dirty="0">
                <a:solidFill>
                  <a:srgbClr val="78AFA2"/>
                </a:solidFill>
                <a:latin typeface="Arial" pitchFamily="34" charset="0"/>
                <a:ea typeface="Arial" pitchFamily="34" charset="-122"/>
                <a:cs typeface="Arial" pitchFamily="34" charset="-120"/>
              </a:rPr>
              <a:t>FINANCIAL SUMMARY</a:t>
            </a:r>
            <a:endParaRPr lang="en-US" sz="1100" dirty="0"/>
          </a:p>
        </p:txBody>
      </p:sp>
      <p:sp>
        <p:nvSpPr>
          <p:cNvPr id="43" name="Text 41"/>
          <p:cNvSpPr/>
          <p:nvPr/>
        </p:nvSpPr>
        <p:spPr>
          <a:xfrm>
            <a:off x="8430768" y="2761488"/>
            <a:ext cx="1554480" cy="228600"/>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Total revenue</a:t>
            </a:r>
            <a:endParaRPr lang="en-US" sz="1300" dirty="0"/>
          </a:p>
        </p:txBody>
      </p:sp>
      <p:sp>
        <p:nvSpPr>
          <p:cNvPr id="44" name="Text 42"/>
          <p:cNvSpPr/>
          <p:nvPr/>
        </p:nvSpPr>
        <p:spPr>
          <a:xfrm>
            <a:off x="9646920" y="2761488"/>
            <a:ext cx="1481328" cy="228600"/>
          </a:xfrm>
          <a:prstGeom prst="rect">
            <a:avLst/>
          </a:prstGeom>
          <a:noFill/>
          <a:ln/>
        </p:spPr>
        <p:txBody>
          <a:bodyPr wrap="square" lIns="0" tIns="0" rIns="0" bIns="0" rtlCol="0" anchor="ctr">
            <a:normAutofit/>
          </a:bodyPr>
          <a:lstStyle/>
          <a:p>
            <a:pPr algn="r" indent="0" marL="0">
              <a:buNone/>
            </a:pPr>
            <a:r>
              <a:rPr lang="en-US" sz="1400" b="1" dirty="0">
                <a:solidFill>
                  <a:srgbClr val="F4E7D4"/>
                </a:solidFill>
                <a:latin typeface="Arial" pitchFamily="34" charset="0"/>
                <a:ea typeface="Arial" pitchFamily="34" charset="-122"/>
                <a:cs typeface="Arial" pitchFamily="34" charset="-120"/>
              </a:rPr>
              <a:t>₦300,000</a:t>
            </a:r>
            <a:endParaRPr lang="en-US" sz="1400" dirty="0"/>
          </a:p>
        </p:txBody>
      </p:sp>
      <p:sp>
        <p:nvSpPr>
          <p:cNvPr id="45" name="Shape 43"/>
          <p:cNvSpPr/>
          <p:nvPr/>
        </p:nvSpPr>
        <p:spPr>
          <a:xfrm>
            <a:off x="8430768" y="3145536"/>
            <a:ext cx="2724912" cy="0"/>
          </a:xfrm>
          <a:prstGeom prst="line">
            <a:avLst/>
          </a:prstGeom>
          <a:noFill/>
          <a:ln w="12700">
            <a:solidFill>
              <a:srgbClr val="2E7D73"/>
            </a:solidFill>
            <a:prstDash val="solid"/>
          </a:ln>
        </p:spPr>
      </p:sp>
      <p:sp>
        <p:nvSpPr>
          <p:cNvPr id="46" name="Text 44"/>
          <p:cNvSpPr/>
          <p:nvPr/>
        </p:nvSpPr>
        <p:spPr>
          <a:xfrm>
            <a:off x="8430768" y="3401568"/>
            <a:ext cx="1554480" cy="228600"/>
          </a:xfrm>
          <a:prstGeom prst="rect">
            <a:avLst/>
          </a:prstGeom>
          <a:noFill/>
          <a:ln/>
        </p:spPr>
        <p:txBody>
          <a:bodyPr wrap="square" lIns="0" tIns="0" rIns="0" bIns="0" rtlCol="0" anchor="ctr">
            <a:normAutofit/>
          </a:bodyPr>
          <a:lstStyle/>
          <a:p>
            <a:pPr algn="l" indent="0" marL="0">
              <a:buNone/>
            </a:pPr>
            <a:r>
              <a:rPr lang="en-US" sz="1300" dirty="0">
                <a:solidFill>
                  <a:srgbClr val="FFFFFF"/>
                </a:solidFill>
                <a:latin typeface="Arial" pitchFamily="34" charset="0"/>
                <a:ea typeface="Arial" pitchFamily="34" charset="-122"/>
                <a:cs typeface="Arial" pitchFamily="34" charset="-120"/>
              </a:rPr>
              <a:t>Total expenses</a:t>
            </a:r>
            <a:endParaRPr lang="en-US" sz="1300" dirty="0"/>
          </a:p>
        </p:txBody>
      </p:sp>
      <p:sp>
        <p:nvSpPr>
          <p:cNvPr id="47" name="Text 45"/>
          <p:cNvSpPr/>
          <p:nvPr/>
        </p:nvSpPr>
        <p:spPr>
          <a:xfrm>
            <a:off x="9646920" y="3401568"/>
            <a:ext cx="1481328" cy="228600"/>
          </a:xfrm>
          <a:prstGeom prst="rect">
            <a:avLst/>
          </a:prstGeom>
          <a:noFill/>
          <a:ln/>
        </p:spPr>
        <p:txBody>
          <a:bodyPr wrap="square" lIns="0" tIns="0" rIns="0" bIns="0" rtlCol="0" anchor="ctr">
            <a:normAutofit/>
          </a:bodyPr>
          <a:lstStyle/>
          <a:p>
            <a:pPr algn="r" indent="0" marL="0">
              <a:buNone/>
            </a:pPr>
            <a:r>
              <a:rPr lang="en-US" sz="1400" b="1" dirty="0">
                <a:solidFill>
                  <a:srgbClr val="F4E7D4"/>
                </a:solidFill>
                <a:latin typeface="Arial" pitchFamily="34" charset="0"/>
                <a:ea typeface="Arial" pitchFamily="34" charset="-122"/>
                <a:cs typeface="Arial" pitchFamily="34" charset="-120"/>
              </a:rPr>
              <a:t>₦217,000</a:t>
            </a:r>
            <a:endParaRPr lang="en-US" sz="1400" dirty="0"/>
          </a:p>
        </p:txBody>
      </p:sp>
      <p:sp>
        <p:nvSpPr>
          <p:cNvPr id="48" name="Shape 46"/>
          <p:cNvSpPr/>
          <p:nvPr/>
        </p:nvSpPr>
        <p:spPr>
          <a:xfrm>
            <a:off x="8430768" y="3785616"/>
            <a:ext cx="2724912" cy="0"/>
          </a:xfrm>
          <a:prstGeom prst="line">
            <a:avLst/>
          </a:prstGeom>
          <a:noFill/>
          <a:ln w="12700">
            <a:solidFill>
              <a:srgbClr val="2E7D73"/>
            </a:solidFill>
            <a:prstDash val="solid"/>
          </a:ln>
        </p:spPr>
      </p:sp>
      <p:sp>
        <p:nvSpPr>
          <p:cNvPr id="49" name="Text 47"/>
          <p:cNvSpPr/>
          <p:nvPr/>
        </p:nvSpPr>
        <p:spPr>
          <a:xfrm>
            <a:off x="8430768" y="4069080"/>
            <a:ext cx="1965960" cy="36576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Projected profit / surplus</a:t>
            </a:r>
            <a:endParaRPr lang="en-US" sz="1400" dirty="0"/>
          </a:p>
        </p:txBody>
      </p:sp>
      <p:sp>
        <p:nvSpPr>
          <p:cNvPr id="50" name="Text 48"/>
          <p:cNvSpPr/>
          <p:nvPr/>
        </p:nvSpPr>
        <p:spPr>
          <a:xfrm>
            <a:off x="9646920" y="4069080"/>
            <a:ext cx="1481328" cy="365760"/>
          </a:xfrm>
          <a:prstGeom prst="rect">
            <a:avLst/>
          </a:prstGeom>
          <a:noFill/>
          <a:ln/>
        </p:spPr>
        <p:txBody>
          <a:bodyPr wrap="square" lIns="0" tIns="0" rIns="0" bIns="0" rtlCol="0" anchor="ctr">
            <a:normAutofit/>
          </a:bodyPr>
          <a:lstStyle/>
          <a:p>
            <a:pPr algn="r" indent="0" marL="0">
              <a:buNone/>
            </a:pPr>
            <a:r>
              <a:rPr lang="en-US" sz="2200" b="1" dirty="0">
                <a:solidFill>
                  <a:srgbClr val="D9776A"/>
                </a:solidFill>
                <a:latin typeface="Arial" pitchFamily="34" charset="0"/>
                <a:ea typeface="Arial" pitchFamily="34" charset="-122"/>
                <a:cs typeface="Arial" pitchFamily="34" charset="-120"/>
              </a:rPr>
              <a:t>₦83,000</a:t>
            </a:r>
            <a:endParaRPr lang="en-US" sz="2200" dirty="0"/>
          </a:p>
        </p:txBody>
      </p:sp>
      <p:sp>
        <p:nvSpPr>
          <p:cNvPr id="51" name="Text 49"/>
          <p:cNvSpPr/>
          <p:nvPr/>
        </p:nvSpPr>
        <p:spPr>
          <a:xfrm>
            <a:off x="8430768" y="4718304"/>
            <a:ext cx="2724912" cy="228600"/>
          </a:xfrm>
          <a:prstGeom prst="rect">
            <a:avLst/>
          </a:prstGeom>
          <a:noFill/>
          <a:ln/>
        </p:spPr>
        <p:txBody>
          <a:bodyPr wrap="square" lIns="0" tIns="0" rIns="0" bIns="0" rtlCol="0" anchor="ctr">
            <a:normAutofit/>
          </a:bodyPr>
          <a:lstStyle/>
          <a:p>
            <a:pPr algn="r" indent="0" marL="0">
              <a:buNone/>
            </a:pPr>
            <a:r>
              <a:rPr lang="en-US" sz="1000" dirty="0">
                <a:solidFill>
                  <a:srgbClr val="D2E2DE"/>
                </a:solidFill>
                <a:latin typeface="Arial" pitchFamily="34" charset="0"/>
                <a:ea typeface="Arial" pitchFamily="34" charset="-122"/>
                <a:cs typeface="Arial" pitchFamily="34" charset="-120"/>
              </a:rPr>
              <a:t>₦300,000 − ₦217,000 = ₦83,000</a:t>
            </a:r>
            <a:endParaRPr lang="en-US" sz="1000" dirty="0"/>
          </a:p>
        </p:txBody>
      </p:sp>
      <p:sp>
        <p:nvSpPr>
          <p:cNvPr id="52" name="Shape 50"/>
          <p:cNvSpPr/>
          <p:nvPr/>
        </p:nvSpPr>
        <p:spPr>
          <a:xfrm>
            <a:off x="3611880" y="5742432"/>
            <a:ext cx="2788920" cy="301752"/>
          </a:xfrm>
          <a:prstGeom prst="roundRect">
            <a:avLst>
              <a:gd name="adj" fmla="val 24242"/>
            </a:avLst>
          </a:prstGeom>
          <a:solidFill>
            <a:srgbClr val="D9776A"/>
          </a:solidFill>
          <a:ln w="12700">
            <a:solidFill>
              <a:srgbClr val="D9776A">
                <a:alpha val="0"/>
              </a:srgbClr>
            </a:solidFill>
            <a:prstDash val="solid"/>
          </a:ln>
        </p:spPr>
      </p:sp>
      <p:sp>
        <p:nvSpPr>
          <p:cNvPr id="53" name="Text 51"/>
          <p:cNvSpPr/>
          <p:nvPr/>
        </p:nvSpPr>
        <p:spPr>
          <a:xfrm>
            <a:off x="3685032" y="5751576"/>
            <a:ext cx="264261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ILLUSTRATIVE / PROJECTED</a:t>
            </a:r>
            <a:endParaRPr lang="en-US" sz="900" dirty="0"/>
          </a:p>
        </p:txBody>
      </p:sp>
      <p:sp>
        <p:nvSpPr>
          <p:cNvPr id="54" name="Text 52"/>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pic>
        <p:nvPicPr>
          <p:cNvPr id="3" name="Image 0" descr="/home/user/mindmate/logos/logo_b_icon_512.png">    </p:cNvPr>
          <p:cNvPicPr>
            <a:picLocks noChangeAspect="1"/>
          </p:cNvPicPr>
          <p:nvPr/>
        </p:nvPicPr>
        <p:blipFill>
          <a:blip r:embed="rId1"/>
          <a:stretch>
            <a:fillRect/>
          </a:stretch>
        </p:blipFill>
        <p:spPr>
          <a:xfrm>
            <a:off x="8979408" y="603504"/>
            <a:ext cx="2395728" cy="2395728"/>
          </a:xfrm>
          <a:prstGeom prst="rect">
            <a:avLst/>
          </a:prstGeom>
        </p:spPr>
      </p:pic>
      <p:sp>
        <p:nvSpPr>
          <p:cNvPr id="4" name="Text 1"/>
          <p:cNvSpPr/>
          <p:nvPr/>
        </p:nvSpPr>
        <p:spPr>
          <a:xfrm>
            <a:off x="713232" y="804672"/>
            <a:ext cx="6583680" cy="594360"/>
          </a:xfrm>
          <a:prstGeom prst="rect">
            <a:avLst/>
          </a:prstGeom>
          <a:noFill/>
          <a:ln/>
        </p:spPr>
        <p:txBody>
          <a:bodyPr wrap="square" lIns="0" tIns="0" rIns="0" bIns="0" rtlCol="0" anchor="ctr">
            <a:normAutofit/>
          </a:bodyPr>
          <a:lstStyle/>
          <a:p>
            <a:pPr algn="l" indent="0" marL="0">
              <a:buNone/>
            </a:pPr>
            <a:r>
              <a:rPr lang="en-US" sz="3900" b="1" dirty="0">
                <a:solidFill>
                  <a:srgbClr val="FFFFFF"/>
                </a:solidFill>
                <a:latin typeface="Arial" pitchFamily="34" charset="0"/>
                <a:ea typeface="Arial" pitchFamily="34" charset="-122"/>
                <a:cs typeface="Arial" pitchFamily="34" charset="-120"/>
              </a:rPr>
              <a:t>MindMate</a:t>
            </a:r>
            <a:endParaRPr lang="en-US" sz="3900" dirty="0"/>
          </a:p>
        </p:txBody>
      </p:sp>
      <p:sp>
        <p:nvSpPr>
          <p:cNvPr id="5" name="Text 2"/>
          <p:cNvSpPr/>
          <p:nvPr/>
        </p:nvSpPr>
        <p:spPr>
          <a:xfrm>
            <a:off x="731520" y="1737360"/>
            <a:ext cx="7223760" cy="713232"/>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Make the next safe step feel possible.</a:t>
            </a:r>
            <a:endParaRPr lang="en-US" sz="2900" dirty="0"/>
          </a:p>
        </p:txBody>
      </p:sp>
      <p:sp>
        <p:nvSpPr>
          <p:cNvPr id="6" name="Text 3"/>
          <p:cNvSpPr/>
          <p:nvPr/>
        </p:nvSpPr>
        <p:spPr>
          <a:xfrm>
            <a:off x="749808" y="2770632"/>
            <a:ext cx="6675120" cy="310896"/>
          </a:xfrm>
          <a:prstGeom prst="rect">
            <a:avLst/>
          </a:prstGeom>
          <a:noFill/>
          <a:ln/>
        </p:spPr>
        <p:txBody>
          <a:bodyPr wrap="square" lIns="0" tIns="0" rIns="0" bIns="0" rtlCol="0" anchor="ctr">
            <a:normAutofit/>
          </a:bodyPr>
          <a:lstStyle/>
          <a:p>
            <a:pPr algn="l" indent="0" marL="0">
              <a:buNone/>
            </a:pPr>
            <a:r>
              <a:rPr lang="en-US" sz="1400" b="1" dirty="0">
                <a:solidFill>
                  <a:srgbClr val="78AFA2"/>
                </a:solidFill>
                <a:latin typeface="Arial" pitchFamily="34" charset="0"/>
                <a:ea typeface="Arial" pitchFamily="34" charset="-122"/>
                <a:cs typeface="Arial" pitchFamily="34" charset="-120"/>
              </a:rPr>
              <a:t>CHECK IN → TAKE ONE SMALL STEP → REFLECT → CONNECT</a:t>
            </a:r>
            <a:endParaRPr lang="en-US" sz="1400" dirty="0"/>
          </a:p>
        </p:txBody>
      </p:sp>
      <p:sp>
        <p:nvSpPr>
          <p:cNvPr id="7" name="Shape 4"/>
          <p:cNvSpPr/>
          <p:nvPr/>
        </p:nvSpPr>
        <p:spPr>
          <a:xfrm>
            <a:off x="749808" y="3730752"/>
            <a:ext cx="5989320" cy="1078992"/>
          </a:xfrm>
          <a:prstGeom prst="roundRect">
            <a:avLst>
              <a:gd name="adj" fmla="val 6780"/>
            </a:avLst>
          </a:prstGeom>
          <a:solidFill>
            <a:srgbClr val="1B3238"/>
          </a:solidFill>
          <a:ln w="12700">
            <a:solidFill>
              <a:srgbClr val="1B3238">
                <a:alpha val="0"/>
              </a:srgbClr>
            </a:solidFill>
            <a:prstDash val="solid"/>
          </a:ln>
        </p:spPr>
      </p:sp>
      <p:sp>
        <p:nvSpPr>
          <p:cNvPr id="8" name="Text 5"/>
          <p:cNvSpPr/>
          <p:nvPr/>
        </p:nvSpPr>
        <p:spPr>
          <a:xfrm>
            <a:off x="1024128" y="4041648"/>
            <a:ext cx="5440680" cy="347472"/>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https://mindmate-app-fcf2d.web.app</a:t>
            </a:r>
            <a:endParaRPr lang="en-US" sz="1600" dirty="0"/>
          </a:p>
        </p:txBody>
      </p:sp>
      <p:sp>
        <p:nvSpPr>
          <p:cNvPr id="9" name="Text 6"/>
          <p:cNvSpPr/>
          <p:nvPr/>
        </p:nvSpPr>
        <p:spPr>
          <a:xfrm>
            <a:off x="1024128" y="4462272"/>
            <a:ext cx="5440680" cy="228600"/>
          </a:xfrm>
          <a:prstGeom prst="rect">
            <a:avLst/>
          </a:prstGeom>
          <a:noFill/>
          <a:ln/>
        </p:spPr>
        <p:txBody>
          <a:bodyPr wrap="square" lIns="0" tIns="0" rIns="0" bIns="0" rtlCol="0" anchor="ctr">
            <a:normAutofit/>
          </a:bodyPr>
          <a:lstStyle/>
          <a:p>
            <a:pPr algn="ctr" indent="0" marL="0">
              <a:buNone/>
            </a:pPr>
            <a:r>
              <a:rPr lang="en-US" sz="1100" dirty="0">
                <a:solidFill>
                  <a:srgbClr val="D2E2DE"/>
                </a:solidFill>
                <a:latin typeface="Arial" pitchFamily="34" charset="0"/>
                <a:ea typeface="Arial" pitchFamily="34" charset="-122"/>
                <a:cs typeface="Arial" pitchFamily="34" charset="-120"/>
              </a:rPr>
              <a:t>Scan the QR code to try the live Web release.</a:t>
            </a:r>
            <a:endParaRPr lang="en-US" sz="1100" dirty="0"/>
          </a:p>
        </p:txBody>
      </p:sp>
      <p:pic>
        <p:nvPicPr>
          <p:cNvPr id="10" name="Image 1" descr="/home/user/mindmate/docs/mindmate-web-qr.png">    </p:cNvPr>
          <p:cNvPicPr>
            <a:picLocks noChangeAspect="1"/>
          </p:cNvPicPr>
          <p:nvPr/>
        </p:nvPicPr>
        <p:blipFill>
          <a:blip r:embed="rId2"/>
          <a:stretch>
            <a:fillRect/>
          </a:stretch>
        </p:blipFill>
        <p:spPr>
          <a:xfrm>
            <a:off x="7662672" y="3246120"/>
            <a:ext cx="3291840" cy="3291840"/>
          </a:xfrm>
          <a:prstGeom prst="rect">
            <a:avLst/>
          </a:prstGeom>
        </p:spPr>
      </p:pic>
      <p:sp>
        <p:nvSpPr>
          <p:cNvPr id="11" name="Text 7"/>
          <p:cNvSpPr/>
          <p:nvPr/>
        </p:nvSpPr>
        <p:spPr>
          <a:xfrm>
            <a:off x="749808" y="5943600"/>
            <a:ext cx="2743200" cy="365760"/>
          </a:xfrm>
          <a:prstGeom prst="rect">
            <a:avLst/>
          </a:prstGeom>
          <a:noFill/>
          <a:ln/>
        </p:spPr>
        <p:txBody>
          <a:bodyPr wrap="square" lIns="0" tIns="0" rIns="0" bIns="0" rtlCol="0" anchor="ctr">
            <a:normAutofit/>
          </a:bodyPr>
          <a:lstStyle/>
          <a:p>
            <a:pPr algn="l" indent="0" marL="0">
              <a:buNone/>
            </a:pPr>
            <a:r>
              <a:rPr lang="en-US" sz="2000" b="1" dirty="0">
                <a:solidFill>
                  <a:srgbClr val="D9776A"/>
                </a:solidFill>
                <a:latin typeface="Arial" pitchFamily="34" charset="0"/>
                <a:ea typeface="Arial" pitchFamily="34" charset="-122"/>
                <a:cs typeface="Arial" pitchFamily="34" charset="-120"/>
              </a:rPr>
              <a:t>Thank you</a:t>
            </a:r>
            <a:endParaRPr lang="en-US" sz="2000" dirty="0"/>
          </a:p>
        </p:txBody>
      </p:sp>
      <p:sp>
        <p:nvSpPr>
          <p:cNvPr id="12" name="Text 8"/>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MindMate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MindMate competition presentation</dc:title>
  <dc:subject>MindMate competition presentation</dc:subject>
  <dc:creator>MindMate team</dc:creator>
  <cp:lastModifiedBy>MindMate team</cp:lastModifiedBy>
  <cp:revision>1</cp:revision>
  <dcterms:created xsi:type="dcterms:W3CDTF">2026-09-08T22:36:27Z</dcterms:created>
  <dcterms:modified xsi:type="dcterms:W3CDTF">2026-09-08T22:36:27Z</dcterms:modified>
</cp:coreProperties>
</file>
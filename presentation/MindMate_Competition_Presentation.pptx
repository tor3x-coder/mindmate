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Many people do not need a huge solution in the first difficult moment. They need a safe, low-pressure first step. MindMate helps someone check in, take one practical action, reflect, and reach trusted human support when they need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focused on the moment before someone is ready for formal help. The product challenge is not to replace a counsellor. It is to make the next safe step easier while keeping a clear bridge to people and services.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MindMate is organised around one repeatable journey. The user is not forced into a long questionnaire or a huge library. They can start with a small action and change direction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order: Home check-in and One Safe Step; a short practice; Learn article to Ask MindMate; Chat and the hamburger drawer; then the prepared safe crisis test phrase and Emergency Support. Use a prepared demo account and never display private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treated safety as a product boundary. Crisis routing is allow-listed and deterministic. The AI supports reflection, but it does not make clinical decisions or take control away from the user.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deliberately did not create a Firestore chat collection. Local history makes the privacy boundary easier to explain and keeps sensitive conversation data out of the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not only a mockup. The team built and tested Android and Web release artifacts, deployed the Web version, and validated the main user journeys.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impact goal is not to measure how long someone stays inside the app. It is to help them take a useful next step and know where to go when they need another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not presenting unimplemented monetisation as current revenue. For this stage, stewardship means being honest about what is built, protecting trust, and not rushing a paid system into a sensitive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MindMate does not promise to solve every difficult day. It helps someone begin: with one small step, an honest boundary, and a clearer path to support.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NDMATE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890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890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0"/>
            <a:ext cx="4190695" cy="6858000"/>
          </a:xfrm>
          <a:prstGeom prst="rect">
            <a:avLst/>
          </a:prstGeom>
          <a:solidFill>
            <a:srgbClr val="1B3238"/>
          </a:solidFill>
          <a:ln w="12700">
            <a:solidFill>
              <a:srgbClr val="1B32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776A"/>
          </a:solidFill>
          <a:ln w="12700">
            <a:solidFill>
              <a:srgbClr val="D9776A">
                <a:alpha val="0"/>
              </a:srgbClr>
            </a:solidFill>
            <a:prstDash val="solid"/>
          </a:ln>
        </p:spPr>
      </p:sp>
      <p:pic>
        <p:nvPicPr>
          <p:cNvPr id="4" name="Image 0" descr="/home/user/mindmate/logos/logo_b_icon_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5632" y="960120"/>
            <a:ext cx="3154680" cy="3154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13232" y="713232"/>
            <a:ext cx="2423160" cy="310896"/>
          </a:xfrm>
          <a:prstGeom prst="roundRect">
            <a:avLst>
              <a:gd name="adj" fmla="val 35294"/>
            </a:avLst>
          </a:prstGeom>
          <a:solidFill>
            <a:srgbClr val="2E7D73"/>
          </a:solidFill>
          <a:ln w="12700">
            <a:solidFill>
              <a:srgbClr val="2E7D73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722376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COMPETITION PRESENTATION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713232" y="1481328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MindMate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228600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4E7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small step</a:t>
            </a:r>
            <a:endParaRPr lang="en-US" sz="2900" dirty="0"/>
          </a:p>
          <a:p>
            <a:pPr algn="l" indent="0" marL="0">
              <a:buNone/>
            </a:pPr>
            <a:r>
              <a:rPr lang="en-US" sz="2900" b="1" dirty="0">
                <a:solidFill>
                  <a:srgbClr val="F4E7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toward a better day.</a:t>
            </a:r>
            <a:endParaRPr lang="en-US" sz="29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74904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2E2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calm, private wellbeing companion for young people.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7091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8AF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in  →  take one small step  →  reflect  →  find support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5852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Team: ____________________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43737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10" kern="0" dirty="0">
                <a:solidFill>
                  <a:srgbClr val="9ABD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MINDMATE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890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/ THE PROBLEM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step is often the hardest one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426464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876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 should meet someone before the crisis becomes bigger.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623560" cy="3474720"/>
          </a:xfrm>
          <a:prstGeom prst="roundRect">
            <a:avLst>
              <a:gd name="adj" fmla="val 3158"/>
            </a:avLst>
          </a:prstGeom>
          <a:solidFill>
            <a:srgbClr val="12232B"/>
          </a:solidFill>
          <a:ln w="12700">
            <a:solidFill>
              <a:srgbClr val="12232B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257860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E7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“I know I need support.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F4E7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 just do not know where to begin.”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385876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D2E2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Stress and difficult feelings are often carried privately.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87552" y="4462272"/>
            <a:ext cx="4453128" cy="0"/>
          </a:xfrm>
          <a:prstGeom prst="line">
            <a:avLst/>
          </a:prstGeom>
          <a:noFill/>
          <a:ln w="25400">
            <a:solidFill>
              <a:srgbClr val="2E7D73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 txBox="1"/>
          <p:nvPr/>
        </p:nvSpPr>
        <p:spPr>
          <a:xfrm>
            <a:off x="987552" y="4681728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78AF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wellbeing tool must be supportive without pretending to be a clinician.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784848" y="2148840"/>
            <a:ext cx="4754880" cy="3474720"/>
          </a:xfrm>
          <a:prstGeom prst="roundRect">
            <a:avLst>
              <a:gd name="adj" fmla="val 2105"/>
            </a:avLst>
          </a:prstGeom>
          <a:solidFill>
            <a:srgbClr val="EEF5F2"/>
          </a:solidFill>
          <a:ln w="15240">
            <a:solidFill>
              <a:srgbClr val="78AFA2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6922008" y="359359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 REAL SCREENSHOT HERE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with a real team/problem image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 a simple user journey visual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931152" y="5852160"/>
            <a:ext cx="1298448" cy="310896"/>
          </a:xfrm>
          <a:prstGeom prst="roundRect">
            <a:avLst>
              <a:gd name="adj" fmla="val 35294"/>
            </a:avLst>
          </a:prstGeom>
          <a:solidFill>
            <a:srgbClr val="DDEEE9"/>
          </a:solidFill>
          <a:ln w="12700">
            <a:solidFill>
              <a:srgbClr val="DDEEE9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40880" y="586130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FRICTION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394192" y="5852160"/>
            <a:ext cx="1874520" cy="310896"/>
          </a:xfrm>
          <a:prstGeom prst="roundRect">
            <a:avLst>
              <a:gd name="adj" fmla="val 35294"/>
            </a:avLst>
          </a:prstGeom>
          <a:solidFill>
            <a:srgbClr val="F4E7D4"/>
          </a:solidFill>
          <a:ln w="12700">
            <a:solidFill>
              <a:srgbClr val="F4E7D4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3920" y="5861304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HONEST BOUNDARIES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442448" y="5852160"/>
            <a:ext cx="1097280" cy="310896"/>
          </a:xfrm>
          <a:prstGeom prst="roundRect">
            <a:avLst>
              <a:gd name="adj" fmla="val 35294"/>
            </a:avLst>
          </a:prstGeom>
          <a:solidFill>
            <a:srgbClr val="D9776A"/>
          </a:solidFill>
          <a:ln w="12700">
            <a:solidFill>
              <a:srgbClr val="D9776A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52176" y="5861304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SUPPORT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43737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10" kern="0" dirty="0">
                <a:solidFill>
                  <a:srgbClr val="7890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MINDMATE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890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THE SOLUTION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gentle loop, not a feature catalogue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426464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876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repeatable journey that lets the user change direction at any time.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2240280" cy="2423160"/>
          </a:xfrm>
          <a:prstGeom prst="roundRect">
            <a:avLst>
              <a:gd name="adj" fmla="val 4898"/>
            </a:avLst>
          </a:prstGeom>
          <a:solidFill>
            <a:srgbClr val="DDEEE9"/>
          </a:solidFill>
          <a:ln w="12700">
            <a:solidFill>
              <a:srgbClr val="DDEEE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54203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358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IN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76472"/>
            <a:ext cx="18470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876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words and context.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321868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547872" y="2331720"/>
            <a:ext cx="2240280" cy="2423160"/>
          </a:xfrm>
          <a:prstGeom prst="roundRect">
            <a:avLst>
              <a:gd name="adj" fmla="val 4898"/>
            </a:avLst>
          </a:prstGeom>
          <a:solidFill>
            <a:srgbClr val="DDEEE9"/>
          </a:solidFill>
          <a:ln w="12700">
            <a:solidFill>
              <a:srgbClr val="DDEEE9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12464" y="254203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712464" y="30358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SMALL STEP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712464" y="3776472"/>
            <a:ext cx="18470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876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Breathing, practice, reflection, or a plan.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321868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437376" y="2331720"/>
            <a:ext cx="2240280" cy="2423160"/>
          </a:xfrm>
          <a:prstGeom prst="roundRect">
            <a:avLst>
              <a:gd name="adj" fmla="val 4898"/>
            </a:avLst>
          </a:prstGeom>
          <a:solidFill>
            <a:srgbClr val="DDEEE9"/>
          </a:solidFill>
          <a:ln w="12700">
            <a:solidFill>
              <a:srgbClr val="DDEEE9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01968" y="254203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01968" y="30358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601968" y="3776472"/>
            <a:ext cx="18470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876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Notice whether it helped — without forced positivity.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787384" y="321868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9326880" y="2331720"/>
            <a:ext cx="2240280" cy="2423160"/>
          </a:xfrm>
          <a:prstGeom prst="roundRect">
            <a:avLst>
              <a:gd name="adj" fmla="val 4898"/>
            </a:avLst>
          </a:prstGeom>
          <a:solidFill>
            <a:srgbClr val="12232B"/>
          </a:solidFill>
          <a:ln w="12700">
            <a:solidFill>
              <a:srgbClr val="12232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491472" y="254203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7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491472" y="30358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491472" y="3776472"/>
            <a:ext cx="18470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2E2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trusted human or emergency support when needed.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097280" y="5349240"/>
            <a:ext cx="10012680" cy="566928"/>
          </a:xfrm>
          <a:prstGeom prst="roundRect">
            <a:avLst>
              <a:gd name="adj" fmla="val 19355"/>
            </a:avLst>
          </a:prstGeom>
          <a:solidFill>
            <a:srgbClr val="F4E7D4"/>
          </a:solidFill>
          <a:ln w="12700">
            <a:solidFill>
              <a:srgbClr val="F4E7D4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325880" y="5468112"/>
            <a:ext cx="9555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goal is not longer screen time. The goal is a useful next step.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43737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10" kern="0" dirty="0">
                <a:solidFill>
                  <a:srgbClr val="7890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MINDMATE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890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LIVE DEMO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journey in the product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426464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876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these four boxes with real screenshots from the release build.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201168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EEF5F2"/>
          </a:solidFill>
          <a:ln w="15240">
            <a:solidFill>
              <a:srgbClr val="78AFA2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795528" y="3387852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 REAL SCREENSHOT HERE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/ CHECK-IN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93008" y="201168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EEF5F2"/>
          </a:solidFill>
          <a:ln w="15240">
            <a:solidFill>
              <a:srgbClr val="78AFA2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3630168" y="3387852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 REAL SCREENSHOT HERE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PRACTICE / BREATHING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27648" y="201168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EEF5F2"/>
          </a:solidFill>
          <a:ln w="15240">
            <a:solidFill>
              <a:srgbClr val="78AFA2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6464808" y="3387852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 REAL SCREENSHOT HERE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 → ASK MINDMATE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62288" y="2011680"/>
            <a:ext cx="2377440" cy="3337560"/>
          </a:xfrm>
          <a:prstGeom prst="roundRect">
            <a:avLst>
              <a:gd name="adj" fmla="val 3077"/>
            </a:avLst>
          </a:prstGeom>
          <a:solidFill>
            <a:srgbClr val="EEF5F2"/>
          </a:solidFill>
          <a:ln w="15240">
            <a:solidFill>
              <a:srgbClr val="78AFA2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9299448" y="3387852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 REAL SCREENSHOT HERE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CHAT DRAWER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EMERGENCY SUPPORT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" y="5669280"/>
            <a:ext cx="1600200" cy="310896"/>
          </a:xfrm>
          <a:prstGeom prst="roundRect">
            <a:avLst>
              <a:gd name="adj" fmla="val 35294"/>
            </a:avLst>
          </a:prstGeom>
          <a:solidFill>
            <a:srgbClr val="DDEEE9"/>
          </a:solidFill>
          <a:ln w="12700">
            <a:solidFill>
              <a:srgbClr val="DDEEE9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61872" y="5678424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IN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050792" y="5669280"/>
            <a:ext cx="1508760" cy="310896"/>
          </a:xfrm>
          <a:prstGeom prst="roundRect">
            <a:avLst>
              <a:gd name="adj" fmla="val 35294"/>
            </a:avLst>
          </a:prstGeom>
          <a:solidFill>
            <a:srgbClr val="DDEEE9"/>
          </a:solidFill>
          <a:ln w="12700">
            <a:solidFill>
              <a:srgbClr val="DDEEE9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0520" y="5678424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903720" y="5669280"/>
            <a:ext cx="1371600" cy="310896"/>
          </a:xfrm>
          <a:prstGeom prst="roundRect">
            <a:avLst>
              <a:gd name="adj" fmla="val 35294"/>
            </a:avLst>
          </a:prstGeom>
          <a:solidFill>
            <a:srgbClr val="F4E7D4"/>
          </a:solidFill>
          <a:ln w="12700">
            <a:solidFill>
              <a:srgbClr val="F4E7D4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13448" y="5678424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656064" y="5669280"/>
            <a:ext cx="1371600" cy="310896"/>
          </a:xfrm>
          <a:prstGeom prst="roundRect">
            <a:avLst>
              <a:gd name="adj" fmla="val 35294"/>
            </a:avLst>
          </a:prstGeom>
          <a:solidFill>
            <a:srgbClr val="D9776A"/>
          </a:solidFill>
          <a:ln w="12700">
            <a:solidFill>
              <a:srgbClr val="D9776A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65792" y="5678424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SAFETY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43737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10" kern="0" dirty="0">
                <a:solidFill>
                  <a:srgbClr val="7890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MINDMATE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890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78AF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SAFETY BY DESIGN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Helpful does not mean pretending to be a professional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426464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2E2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Safety is a product boundary, not a disclaimer at the bottom of a screen.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2148840"/>
            <a:ext cx="3749040" cy="3611880"/>
          </a:xfrm>
          <a:prstGeom prst="roundRect">
            <a:avLst>
              <a:gd name="adj" fmla="val 3038"/>
            </a:avLst>
          </a:prstGeom>
          <a:solidFill>
            <a:srgbClr val="D9776A"/>
          </a:solidFill>
          <a:ln w="12700">
            <a:solidFill>
              <a:srgbClr val="D9776A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254203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TRUSTED</a:t>
            </a:r>
            <a:endParaRPr lang="en-US" sz="2900" dirty="0"/>
          </a:p>
          <a:p>
            <a:pPr algn="l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3675888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a crisis signal is detected, the interface renders a trusted, allow-listed route to Emergency Support.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983480" y="2212848"/>
            <a:ext cx="164592" cy="164592"/>
          </a:xfrm>
          <a:prstGeom prst="roundRect">
            <a:avLst>
              <a:gd name="adj" fmla="val 66667"/>
            </a:avLst>
          </a:prstGeom>
          <a:solidFill>
            <a:srgbClr val="D9776A"/>
          </a:solidFill>
          <a:ln w="12700">
            <a:solidFill>
              <a:srgbClr val="D9776A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21808" y="2139696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identity is transparent.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983480" y="2843784"/>
            <a:ext cx="164592" cy="164592"/>
          </a:xfrm>
          <a:prstGeom prst="roundRect">
            <a:avLst>
              <a:gd name="adj" fmla="val 66667"/>
            </a:avLst>
          </a:prstGeom>
          <a:solidFill>
            <a:srgbClr val="D9776A"/>
          </a:solidFill>
          <a:ln w="12700">
            <a:solidFill>
              <a:srgbClr val="D9776A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21808" y="2770632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diagnosis or prescription.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983480" y="3474720"/>
            <a:ext cx="164592" cy="164592"/>
          </a:xfrm>
          <a:prstGeom prst="roundRect">
            <a:avLst>
              <a:gd name="adj" fmla="val 66667"/>
            </a:avLst>
          </a:prstGeom>
          <a:solidFill>
            <a:srgbClr val="D9776A"/>
          </a:solidFill>
          <a:ln w="12700">
            <a:solidFill>
              <a:srgbClr val="D9776A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21808" y="3401568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arbitrary external URLs.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983480" y="4105656"/>
            <a:ext cx="164592" cy="164592"/>
          </a:xfrm>
          <a:prstGeom prst="roundRect">
            <a:avLst>
              <a:gd name="adj" fmla="val 66667"/>
            </a:avLst>
          </a:prstGeom>
          <a:solidFill>
            <a:srgbClr val="D9776A"/>
          </a:solidFill>
          <a:ln w="12700">
            <a:solidFill>
              <a:srgbClr val="D9776A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21808" y="4032504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autonomous escalation.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983480" y="4736592"/>
            <a:ext cx="164592" cy="164592"/>
          </a:xfrm>
          <a:prstGeom prst="roundRect">
            <a:avLst>
              <a:gd name="adj" fmla="val 66667"/>
            </a:avLst>
          </a:prstGeom>
          <a:solidFill>
            <a:srgbClr val="D9776A"/>
          </a:solidFill>
          <a:ln w="12700">
            <a:solidFill>
              <a:srgbClr val="D9776A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21808" y="4663440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Difficult-day replies acknowledge first.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43737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10" kern="0" dirty="0">
                <a:solidFill>
                  <a:srgbClr val="9ABD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MINDMATE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890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PRIVACY AND TRUST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most personal conversations should not become a new data problem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426464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876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privacy boundary is easier for people to understand.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2029968"/>
            <a:ext cx="2267712" cy="1225296"/>
          </a:xfrm>
          <a:prstGeom prst="roundRect">
            <a:avLst>
              <a:gd name="adj" fmla="val 8955"/>
            </a:avLst>
          </a:prstGeom>
          <a:solidFill>
            <a:srgbClr val="DDEEE9"/>
          </a:solidFill>
          <a:ln w="12700">
            <a:solidFill>
              <a:srgbClr val="DDEEE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219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786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Saved on the device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18688" y="2029968"/>
            <a:ext cx="2267712" cy="1225296"/>
          </a:xfrm>
          <a:prstGeom prst="roundRect">
            <a:avLst>
              <a:gd name="adj" fmla="val 8955"/>
            </a:avLst>
          </a:prstGeom>
          <a:solidFill>
            <a:srgbClr val="F4E7D4"/>
          </a:solidFill>
          <a:ln w="12700">
            <a:solidFill>
              <a:srgbClr val="F4E7D4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83280" y="22219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5786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 signed-in account where available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779008" y="2029968"/>
            <a:ext cx="2267712" cy="1225296"/>
          </a:xfrm>
          <a:prstGeom prst="roundRect">
            <a:avLst>
              <a:gd name="adj" fmla="val 8955"/>
            </a:avLst>
          </a:prstGeom>
          <a:solidFill>
            <a:srgbClr val="DDEEE9"/>
          </a:solidFill>
          <a:ln w="12700">
            <a:solidFill>
              <a:srgbClr val="DDEEE9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0" y="22219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5786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chats · 24 messages · 4,000 chars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8368" y="3794760"/>
            <a:ext cx="6629400" cy="1600200"/>
          </a:xfrm>
          <a:prstGeom prst="roundRect">
            <a:avLst>
              <a:gd name="adj" fmla="val 6857"/>
            </a:avLst>
          </a:prstGeom>
          <a:solidFill>
            <a:srgbClr val="12232B"/>
          </a:solidFill>
          <a:ln w="12700">
            <a:solidFill>
              <a:srgbClr val="12232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87552" y="41605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8AF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DEVICE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44988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Chat history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48646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2E2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written to Firestore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273552" y="443484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77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700" dirty="0"/>
          </a:p>
        </p:txBody>
      </p:sp>
      <p:sp>
        <p:nvSpPr>
          <p:cNvPr id="19" name="Text 17"/>
          <p:cNvSpPr txBox="1"/>
          <p:nvPr/>
        </p:nvSpPr>
        <p:spPr>
          <a:xfrm>
            <a:off x="3950208" y="41605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8AF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CONTROL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950208" y="449884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chat · delete · clear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3950208" y="48646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2E2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forced positivity. No hidden history feed.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99248" y="3794760"/>
            <a:ext cx="3840480" cy="1600200"/>
          </a:xfrm>
          <a:prstGeom prst="roundRect">
            <a:avLst>
              <a:gd name="adj" fmla="val 4571"/>
            </a:avLst>
          </a:prstGeom>
          <a:solidFill>
            <a:srgbClr val="1B3238"/>
          </a:solidFill>
          <a:ln w="15240">
            <a:solidFill>
              <a:srgbClr val="78AFA2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7836408" y="4302252"/>
            <a:ext cx="3566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2E2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 REAL SCREENSHOT HERE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D2E2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with a real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D2E2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Chat history screenshot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43737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10" kern="0" dirty="0">
                <a:solidFill>
                  <a:srgbClr val="7890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MINDMATE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890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EXECUTION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idea to a tested release candidate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426464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876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product is live, packaged, and ready to demonstrate.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2084832"/>
            <a:ext cx="2487168" cy="1417320"/>
          </a:xfrm>
          <a:prstGeom prst="roundRect">
            <a:avLst>
              <a:gd name="adj" fmla="val 7742"/>
            </a:avLst>
          </a:prstGeom>
          <a:solidFill>
            <a:srgbClr val="2E7D73"/>
          </a:solidFill>
          <a:ln w="12700">
            <a:solidFill>
              <a:srgbClr val="2E7D73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5915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53/53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077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Flutter tests passed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0" y="2084832"/>
            <a:ext cx="2487168" cy="1417320"/>
          </a:xfrm>
          <a:prstGeom prst="roundRect">
            <a:avLst>
              <a:gd name="adj" fmla="val 7742"/>
            </a:avLst>
          </a:prstGeom>
          <a:solidFill>
            <a:srgbClr val="D9776A"/>
          </a:solidFill>
          <a:ln w="12700">
            <a:solidFill>
              <a:srgbClr val="D9776A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35915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65.4 MB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3639312" y="29077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Release APK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91072" y="2084832"/>
            <a:ext cx="2487168" cy="1417320"/>
          </a:xfrm>
          <a:prstGeom prst="roundRect">
            <a:avLst>
              <a:gd name="adj" fmla="val 7742"/>
            </a:avLst>
          </a:prstGeom>
          <a:solidFill>
            <a:srgbClr val="78AFA2"/>
          </a:solidFill>
          <a:ln w="12700">
            <a:solidFill>
              <a:srgbClr val="78AFA2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55664" y="235915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54.2 MB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6455664" y="29077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Bundle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07424" y="2084832"/>
            <a:ext cx="2487168" cy="1417320"/>
          </a:xfrm>
          <a:prstGeom prst="roundRect">
            <a:avLst>
              <a:gd name="adj" fmla="val 7742"/>
            </a:avLst>
          </a:prstGeom>
          <a:solidFill>
            <a:srgbClr val="12232B"/>
          </a:solidFill>
          <a:ln w="12700">
            <a:solidFill>
              <a:srgbClr val="12232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72016" y="235915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9272016" y="29077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Flutter Web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58368" y="4069080"/>
            <a:ext cx="6492240" cy="1234440"/>
          </a:xfrm>
          <a:prstGeom prst="roundRect">
            <a:avLst>
              <a:gd name="adj" fmla="val 8889"/>
            </a:avLst>
          </a:prstGeom>
          <a:solidFill>
            <a:srgbClr val="F4E7D4"/>
          </a:solidFill>
          <a:ln w="12700">
            <a:solidFill>
              <a:srgbClr val="F4E7D4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42976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HOSTED WEB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461772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mindmate-app-fcf2d.web.app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499262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876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in Chrome now · scan QR on a phone later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43800" y="4069080"/>
            <a:ext cx="3995928" cy="1234440"/>
          </a:xfrm>
          <a:prstGeom prst="roundRect">
            <a:avLst>
              <a:gd name="adj" fmla="val 5926"/>
            </a:avLst>
          </a:prstGeom>
          <a:solidFill>
            <a:srgbClr val="EEF5F2"/>
          </a:solidFill>
          <a:ln w="15240">
            <a:solidFill>
              <a:srgbClr val="78AFA2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7680960" y="4393692"/>
            <a:ext cx="3721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 REAL SCREENSHOT HERE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build / test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screenshot here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43737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10" kern="0" dirty="0">
                <a:solidFill>
                  <a:srgbClr val="7890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MINDMATE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890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IMPACT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practical first step can widen access to support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426464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876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usefulness and trust — not just time spent inside the app.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2103120"/>
            <a:ext cx="5321808" cy="3429000"/>
          </a:xfrm>
          <a:prstGeom prst="roundRect">
            <a:avLst>
              <a:gd name="adj" fmla="val 3200"/>
            </a:avLst>
          </a:prstGeom>
          <a:solidFill>
            <a:srgbClr val="DDEEE9"/>
          </a:solidFill>
          <a:ln w="12700">
            <a:solidFill>
              <a:srgbClr val="DDEEE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246888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40" kern="0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96265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7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92608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 friction before asking for help.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49300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7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456432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small practices easier to discover.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402336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7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3986784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human and emergency support visible.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455371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7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4517136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without reducing a person to a score.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355080" y="2103120"/>
            <a:ext cx="5184648" cy="3429000"/>
          </a:xfrm>
          <a:prstGeom prst="roundRect">
            <a:avLst>
              <a:gd name="adj" fmla="val 3200"/>
            </a:avLst>
          </a:prstGeom>
          <a:solidFill>
            <a:srgbClr val="12232B"/>
          </a:solidFill>
          <a:ln w="12700">
            <a:solidFill>
              <a:srgbClr val="12232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02552" y="2468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40" kern="0" dirty="0">
                <a:solidFill>
                  <a:srgbClr val="78AF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STEWARDSHIP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702552" y="3017520"/>
            <a:ext cx="4251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E7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before complexity.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702552" y="3822192"/>
            <a:ext cx="4187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D2E2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are honest about what is built, protect sensitive data, and do not rush payment or engagement mechanics into a sensitive product.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3737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10" kern="0" dirty="0">
                <a:solidFill>
                  <a:srgbClr val="7890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MINDMATE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890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THE ROAD AHEAD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trust before adding complexity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426464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876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strong prototype is honest about today and disciplined about tomorrow.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2057400"/>
            <a:ext cx="5212080" cy="3611880"/>
          </a:xfrm>
          <a:prstGeom prst="roundRect">
            <a:avLst>
              <a:gd name="adj" fmla="val 3038"/>
            </a:avLst>
          </a:prstGeom>
          <a:solidFill>
            <a:srgbClr val="12232B"/>
          </a:solidFill>
          <a:ln w="12700">
            <a:solidFill>
              <a:srgbClr val="12232B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2450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40" kern="0" dirty="0">
                <a:solidFill>
                  <a:srgbClr val="78AF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87552" y="2999232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2E7D73"/>
          </a:solidFill>
          <a:ln w="12700">
            <a:solidFill>
              <a:srgbClr val="2E7D73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53312" y="2907792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Android and Web releases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87552" y="3529584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2E7D73"/>
          </a:solidFill>
          <a:ln w="12700">
            <a:solidFill>
              <a:srgbClr val="2E7D73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53312" y="3438144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Chat history and safety boundaries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87552" y="4059936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2E7D73"/>
          </a:solidFill>
          <a:ln w="12700">
            <a:solidFill>
              <a:srgbClr val="2E7D73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53312" y="3968496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Bundled Learn and practice content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87552" y="4590288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2E7D73"/>
          </a:solidFill>
          <a:ln w="12700">
            <a:solidFill>
              <a:srgbClr val="2E7D73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53312" y="449884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Release artifacts and repeatable demo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327648" y="2057400"/>
            <a:ext cx="5212080" cy="3611880"/>
          </a:xfrm>
          <a:prstGeom prst="roundRect">
            <a:avLst>
              <a:gd name="adj" fmla="val 3038"/>
            </a:avLst>
          </a:prstGeom>
          <a:solidFill>
            <a:srgbClr val="F4E7D4"/>
          </a:solidFill>
          <a:ln w="12700">
            <a:solidFill>
              <a:srgbClr val="F4E7D4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56832" y="2450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40" kern="0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656832" y="2999232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D9776A"/>
          </a:solidFill>
          <a:ln w="12700">
            <a:solidFill>
              <a:srgbClr val="D9776A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22592" y="29077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 device and accessibility testing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656832" y="3529584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D9776A"/>
          </a:solidFill>
          <a:ln w="12700">
            <a:solidFill>
              <a:srgbClr val="D9776A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2592" y="343814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Continue qualified content review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56832" y="4059936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D9776A"/>
          </a:solidFill>
          <a:ln w="12700">
            <a:solidFill>
              <a:srgbClr val="D9776A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022592" y="39684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 sustainable funding ethically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656832" y="4590288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D9776A"/>
          </a:solidFill>
          <a:ln w="12700">
            <a:solidFill>
              <a:srgbClr val="D9776A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22592" y="449884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223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privacy boundary understandable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3737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10" kern="0" dirty="0">
                <a:solidFill>
                  <a:srgbClr val="7890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MINDMATE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890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776A"/>
          </a:solidFill>
          <a:ln w="12700">
            <a:solidFill>
              <a:srgbClr val="D9776A">
                <a:alpha val="0"/>
              </a:srgbClr>
            </a:solidFill>
            <a:prstDash val="solid"/>
          </a:ln>
        </p:spPr>
      </p:sp>
      <p:pic>
        <p:nvPicPr>
          <p:cNvPr id="3" name="Image 0" descr="/home/user/mindmate/logos/logo_b_icon_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0" y="658368"/>
            <a:ext cx="2331720" cy="2331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13232" y="841248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MindMate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783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4E7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the next safe step feel possible.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749808" y="2788920"/>
            <a:ext cx="6675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8AF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in  →  take one small step  →  reflect  →  connect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49808" y="3730752"/>
            <a:ext cx="5989320" cy="1078992"/>
          </a:xfrm>
          <a:prstGeom prst="roundRect">
            <a:avLst>
              <a:gd name="adj" fmla="val 10169"/>
            </a:avLst>
          </a:prstGeom>
          <a:solidFill>
            <a:srgbClr val="1B3238"/>
          </a:solidFill>
          <a:ln w="12700">
            <a:solidFill>
              <a:srgbClr val="1B3238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24128" y="4041648"/>
            <a:ext cx="5440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https://mindmate-app-fcf2d.web.app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24128" y="4462272"/>
            <a:ext cx="5440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D2E2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 the QR code to try the live Web release.</a:t>
            </a:r>
            <a:endParaRPr lang="en-US" sz="1100" dirty="0"/>
          </a:p>
        </p:txBody>
      </p:sp>
      <p:pic>
        <p:nvPicPr>
          <p:cNvPr id="10" name="Image 1" descr="/home/user/mindmate/docs/mindmate-web-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672" y="3246120"/>
            <a:ext cx="3291840" cy="32918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9808" y="5943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977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43737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10" kern="0" dirty="0">
                <a:solidFill>
                  <a:srgbClr val="9ABD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MINDMATE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890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MindMate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MindMate — One small step toward a better day</dc:title>
  <dc:subject>MindMate competition presentation</dc:subject>
  <dc:creator>MindMate team</dc:creator>
  <cp:lastModifiedBy>MindMate team</cp:lastModifiedBy>
  <cp:revision>1</cp:revision>
  <dcterms:created xsi:type="dcterms:W3CDTF">2026-09-05T12:11:04Z</dcterms:created>
  <dcterms:modified xsi:type="dcterms:W3CDTF">2026-09-05T12:11:04Z</dcterms:modified>
</cp:coreProperties>
</file>
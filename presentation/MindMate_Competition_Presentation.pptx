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MindMate is a calm, private wellbeing companion for young people. It helps someone move from a difficult moment to one small, safe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solving three connected problems: emotional awareness, access to low-barrier tools, and isolation. The gap we care about is the moment between knowing “I need help” and knowing what safe next step to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solution is a connected pathway. Notice what is happening, act with one small step, talk it through safely, and connect with people when self-guided help is not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screenshots here: Home and Check-in, Learn and One Small Step, then Chat and support. The journey begins by naming what is happening, tries one manageable action, and keeps the next route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Safety should be understandable to a non-technical audience. MindMate acknowledges, offers a practical next step, and shows a clear route to Emergency Support when risk appears. It does not make clinical decisions or take control from the user.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comparisons generic. We are not claiming that every other app works the same way; we are explaining the gap MindMate is designed to address: connecting check-in, action, conversation, and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lead with programming terms. Explain that there is a signed Android release, a live Web version, and that the journeys that matter most were tested across features, safety behaviour, and layouts.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the three phone frames with real screenshots or use the live Web release. During the demo, prove four things: a real check-in, a clear next step, useful reflection or Chat, and a visible support route.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accurate: MindMate has no current paying customers or revenue claim. This is a future strategy to validate, not an existing business result. We will not sell private conversations or use ads. Any organisation funding, workshops, or paid extensions would need to be validated and built later with safety and policy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invent impact percentages. Show the intended human change: awareness, action, and connection. The app should help someone begin and keep the path to people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next stage is evidence: user testing, accessibility review, safety review, and business-model validation. We should improve the product using evidence rather than adding features because they sound impressive.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MindMate does not promise to solve every difficult day. It helps someone begin: with one small step, an honest boundary, and a clearer path to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INDMATE">
    <p:bg>
      <p:bgPr>
        <a:solidFill>
          <a:srgbClr val="F7F4E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75720" y="647395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8908A"/>
                </a:solidFill>
                <a:latin typeface="Arial"/>
                <a:ea typeface="Arial"/>
                <a:cs typeface="Arial"/>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75720" y="647395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8908A"/>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2B"/>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D9776A"/>
          </a:solidFill>
          <a:ln w="12700">
            <a:solidFill>
              <a:srgbClr val="D9776A">
                <a:alpha val="0"/>
              </a:srgbClr>
            </a:solidFill>
            <a:prstDash val="solid"/>
          </a:ln>
        </p:spPr>
      </p:sp>
      <p:sp>
        <p:nvSpPr>
          <p:cNvPr id="3" name="Shape 1"/>
          <p:cNvSpPr/>
          <p:nvPr/>
        </p:nvSpPr>
        <p:spPr>
          <a:xfrm>
            <a:off x="8046720" y="0"/>
            <a:ext cx="4144975" cy="6858000"/>
          </a:xfrm>
          <a:prstGeom prst="rect">
            <a:avLst/>
          </a:prstGeom>
          <a:solidFill>
            <a:srgbClr val="1B3238"/>
          </a:solidFill>
          <a:ln w="12700">
            <a:solidFill>
              <a:srgbClr val="1B3238">
                <a:alpha val="0"/>
              </a:srgbClr>
            </a:solidFill>
            <a:prstDash val="solid"/>
          </a:ln>
        </p:spPr>
      </p:sp>
      <p:pic>
        <p:nvPicPr>
          <p:cNvPr id="4" name="Image 0" descr="/home/user/mindmate/logos/logo_b_icon_512.png">    </p:cNvPr>
          <p:cNvPicPr>
            <a:picLocks noChangeAspect="1"/>
          </p:cNvPicPr>
          <p:nvPr/>
        </p:nvPicPr>
        <p:blipFill>
          <a:blip r:embed="rId1"/>
          <a:stretch>
            <a:fillRect/>
          </a:stretch>
        </p:blipFill>
        <p:spPr>
          <a:xfrm>
            <a:off x="8549640" y="950976"/>
            <a:ext cx="3017520" cy="3017520"/>
          </a:xfrm>
          <a:prstGeom prst="rect">
            <a:avLst/>
          </a:prstGeom>
        </p:spPr>
      </p:pic>
      <p:sp>
        <p:nvSpPr>
          <p:cNvPr id="5" name="Shape 2"/>
          <p:cNvSpPr/>
          <p:nvPr/>
        </p:nvSpPr>
        <p:spPr>
          <a:xfrm>
            <a:off x="713232" y="713232"/>
            <a:ext cx="2423160" cy="301752"/>
          </a:xfrm>
          <a:prstGeom prst="roundRect">
            <a:avLst>
              <a:gd name="adj" fmla="val 24242"/>
            </a:avLst>
          </a:prstGeom>
          <a:solidFill>
            <a:srgbClr val="2E7D73"/>
          </a:solidFill>
          <a:ln w="12700">
            <a:solidFill>
              <a:srgbClr val="2E7D73">
                <a:alpha val="0"/>
              </a:srgbClr>
            </a:solidFill>
            <a:prstDash val="solid"/>
          </a:ln>
        </p:spPr>
      </p:sp>
      <p:sp>
        <p:nvSpPr>
          <p:cNvPr id="6" name="Text 3"/>
          <p:cNvSpPr/>
          <p:nvPr/>
        </p:nvSpPr>
        <p:spPr>
          <a:xfrm>
            <a:off x="786384" y="722376"/>
            <a:ext cx="2276856" cy="274320"/>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rial" pitchFamily="34" charset="0"/>
                <a:ea typeface="Arial" pitchFamily="34" charset="-122"/>
                <a:cs typeface="Arial" pitchFamily="34" charset="-120"/>
              </a:rPr>
              <a:t>COMPETITION PRESENTATION</a:t>
            </a:r>
            <a:endParaRPr lang="en-US" sz="900" dirty="0"/>
          </a:p>
        </p:txBody>
      </p:sp>
      <p:sp>
        <p:nvSpPr>
          <p:cNvPr id="7" name="Text 4"/>
          <p:cNvSpPr/>
          <p:nvPr/>
        </p:nvSpPr>
        <p:spPr>
          <a:xfrm>
            <a:off x="713232" y="1508760"/>
            <a:ext cx="6675120" cy="658368"/>
          </a:xfrm>
          <a:prstGeom prst="rect">
            <a:avLst/>
          </a:prstGeom>
          <a:noFill/>
          <a:ln/>
        </p:spPr>
        <p:txBody>
          <a:bodyPr wrap="square" lIns="0" tIns="0" rIns="0" bIns="0" rtlCol="0" anchor="ctr">
            <a:normAutofit/>
          </a:bodyPr>
          <a:lstStyle/>
          <a:p>
            <a:pPr algn="l" indent="0" marL="0">
              <a:buNone/>
            </a:pPr>
            <a:r>
              <a:rPr lang="en-US" sz="4200" b="1" dirty="0">
                <a:solidFill>
                  <a:srgbClr val="FFFFFF"/>
                </a:solidFill>
                <a:latin typeface="Arial" pitchFamily="34" charset="0"/>
                <a:ea typeface="Arial" pitchFamily="34" charset="-122"/>
                <a:cs typeface="Arial" pitchFamily="34" charset="-120"/>
              </a:rPr>
              <a:t>MindMate</a:t>
            </a:r>
            <a:endParaRPr lang="en-US" sz="4200" dirty="0"/>
          </a:p>
        </p:txBody>
      </p:sp>
      <p:sp>
        <p:nvSpPr>
          <p:cNvPr id="8" name="Text 5"/>
          <p:cNvSpPr/>
          <p:nvPr/>
        </p:nvSpPr>
        <p:spPr>
          <a:xfrm>
            <a:off x="713232" y="2286000"/>
            <a:ext cx="6858000" cy="1115568"/>
          </a:xfrm>
          <a:prstGeom prst="rect">
            <a:avLst/>
          </a:prstGeom>
          <a:noFill/>
          <a:ln/>
        </p:spPr>
        <p:txBody>
          <a:bodyPr wrap="square" lIns="0" tIns="0" rIns="0" bIns="0" rtlCol="0" anchor="ctr">
            <a:normAutofit/>
          </a:bodyPr>
          <a:lstStyle/>
          <a:p>
            <a:pPr algn="l" indent="0" marL="0">
              <a:buNone/>
            </a:pPr>
            <a:r>
              <a:rPr lang="en-US" sz="2900" b="1" dirty="0">
                <a:solidFill>
                  <a:srgbClr val="F4E7D4"/>
                </a:solidFill>
                <a:latin typeface="Arial" pitchFamily="34" charset="0"/>
                <a:ea typeface="Arial" pitchFamily="34" charset="-122"/>
                <a:cs typeface="Arial" pitchFamily="34" charset="-120"/>
              </a:rPr>
              <a:t>One small step</a:t>
            </a:r>
            <a:endParaRPr lang="en-US" sz="2900" dirty="0"/>
          </a:p>
          <a:p>
            <a:pPr algn="l" indent="0" marL="0">
              <a:buNone/>
            </a:pPr>
            <a:r>
              <a:rPr lang="en-US" sz="2900" b="1" dirty="0">
                <a:solidFill>
                  <a:srgbClr val="F4E7D4"/>
                </a:solidFill>
                <a:latin typeface="Arial" pitchFamily="34" charset="0"/>
                <a:ea typeface="Arial" pitchFamily="34" charset="-122"/>
                <a:cs typeface="Arial" pitchFamily="34" charset="-120"/>
              </a:rPr>
              <a:t>toward a better day.</a:t>
            </a:r>
            <a:endParaRPr lang="en-US" sz="2900" dirty="0"/>
          </a:p>
        </p:txBody>
      </p:sp>
      <p:sp>
        <p:nvSpPr>
          <p:cNvPr id="9" name="Text 6"/>
          <p:cNvSpPr/>
          <p:nvPr/>
        </p:nvSpPr>
        <p:spPr>
          <a:xfrm>
            <a:off x="731520" y="3767328"/>
            <a:ext cx="6126480" cy="365760"/>
          </a:xfrm>
          <a:prstGeom prst="rect">
            <a:avLst/>
          </a:prstGeom>
          <a:noFill/>
          <a:ln/>
        </p:spPr>
        <p:txBody>
          <a:bodyPr wrap="square" lIns="0" tIns="0" rIns="0" bIns="0" rtlCol="0" anchor="ctr">
            <a:normAutofit/>
          </a:bodyPr>
          <a:lstStyle/>
          <a:p>
            <a:pPr algn="l" indent="0" marL="0">
              <a:buNone/>
            </a:pPr>
            <a:r>
              <a:rPr lang="en-US" sz="1600" dirty="0">
                <a:solidFill>
                  <a:srgbClr val="D2E2DE"/>
                </a:solidFill>
                <a:latin typeface="Arial" pitchFamily="34" charset="0"/>
                <a:ea typeface="Arial" pitchFamily="34" charset="-122"/>
                <a:cs typeface="Arial" pitchFamily="34" charset="-120"/>
              </a:rPr>
              <a:t>A calm, private wellbeing companion for young people.</a:t>
            </a:r>
            <a:endParaRPr lang="en-US" sz="1600" dirty="0"/>
          </a:p>
        </p:txBody>
      </p:sp>
      <p:sp>
        <p:nvSpPr>
          <p:cNvPr id="10" name="Text 7"/>
          <p:cNvSpPr/>
          <p:nvPr/>
        </p:nvSpPr>
        <p:spPr>
          <a:xfrm>
            <a:off x="731520" y="4736592"/>
            <a:ext cx="6492240" cy="310896"/>
          </a:xfrm>
          <a:prstGeom prst="rect">
            <a:avLst/>
          </a:prstGeom>
          <a:noFill/>
          <a:ln/>
        </p:spPr>
        <p:txBody>
          <a:bodyPr wrap="square" lIns="0" tIns="0" rIns="0" bIns="0" rtlCol="0" anchor="ctr">
            <a:normAutofit/>
          </a:bodyPr>
          <a:lstStyle/>
          <a:p>
            <a:pPr algn="l" indent="0" marL="0">
              <a:buNone/>
            </a:pPr>
            <a:r>
              <a:rPr lang="en-US" sz="1100" b="1" dirty="0">
                <a:solidFill>
                  <a:srgbClr val="78AFA2"/>
                </a:solidFill>
                <a:latin typeface="Arial" pitchFamily="34" charset="0"/>
                <a:ea typeface="Arial" pitchFamily="34" charset="-122"/>
                <a:cs typeface="Arial" pitchFamily="34" charset="-120"/>
              </a:rPr>
              <a:t>CHECK IN  →  TAKE ONE SMALL STEP  →  REFLECT  →  FIND SUPPORT</a:t>
            </a:r>
            <a:endParaRPr lang="en-US" sz="1100" dirty="0"/>
          </a:p>
        </p:txBody>
      </p:sp>
      <p:sp>
        <p:nvSpPr>
          <p:cNvPr id="11" name="Text 8"/>
          <p:cNvSpPr/>
          <p:nvPr/>
        </p:nvSpPr>
        <p:spPr>
          <a:xfrm>
            <a:off x="731520" y="5852160"/>
            <a:ext cx="4114800" cy="274320"/>
          </a:xfrm>
          <a:prstGeom prst="rect">
            <a:avLst/>
          </a:prstGeom>
          <a:noFill/>
          <a:ln/>
        </p:spPr>
        <p:txBody>
          <a:bodyPr wrap="square" lIns="0" tIns="0" rIns="0" bIns="0" rtlCol="0" anchor="ctr">
            <a:normAutofit/>
          </a:bodyPr>
          <a:lstStyle/>
          <a:p>
            <a:pPr algn="l" indent="0" marL="0">
              <a:buNone/>
            </a:pPr>
            <a:r>
              <a:rPr lang="en-US" sz="1200" dirty="0">
                <a:solidFill>
                  <a:srgbClr val="FFFFFF"/>
                </a:solidFill>
                <a:latin typeface="Arial" pitchFamily="34" charset="0"/>
                <a:ea typeface="Arial" pitchFamily="34" charset="-122"/>
                <a:cs typeface="Arial" pitchFamily="34" charset="-120"/>
              </a:rPr>
              <a:t>Team: ____________________</a:t>
            </a:r>
            <a:endParaRPr lang="en-US" sz="1200" dirty="0"/>
          </a:p>
        </p:txBody>
      </p:sp>
      <p:sp>
        <p:nvSpPr>
          <p:cNvPr id="12" name="Text 9"/>
          <p:cNvSpPr/>
          <p:nvPr/>
        </p:nvSpPr>
        <p:spPr>
          <a:xfrm>
            <a:off x="621792" y="6437376"/>
            <a:ext cx="1828800"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9ABDB5"/>
                </a:solidFill>
                <a:latin typeface="Arial" pitchFamily="34" charset="0"/>
                <a:ea typeface="Arial" pitchFamily="34" charset="-122"/>
                <a:cs typeface="Arial" pitchFamily="34" charset="-120"/>
              </a:rPr>
              <a:t>MINDMATE</a:t>
            </a:r>
            <a:endParaRPr lang="en-US" sz="800" dirty="0"/>
          </a:p>
        </p:txBody>
      </p:sp>
      <p:sp>
        <p:nvSpPr>
          <p:cNvPr id="25" name="Slide Number Placeholder 0"/>
          <p:cNvSpPr>
            <a:spLocks noGrp="1"/>
          </p:cNvSpPr>
          <p:nvPr>
            <p:ph type="sldNum" sz="quarter" idx="4294967295"/>
          </p:nvPr>
        </p:nvSpPr>
        <p:spPr>
          <a:xfrm>
            <a:off x="11475720" y="647395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8908A"/>
                </a:solidFill>
                <a:latin typeface="Arial"/>
                <a:ea typeface="Arial"/>
                <a:cs typeface="Aria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21792" y="384048"/>
            <a:ext cx="5303520" cy="219456"/>
          </a:xfrm>
          <a:prstGeom prst="rect">
            <a:avLst/>
          </a:prstGeom>
          <a:noFill/>
          <a:ln/>
        </p:spPr>
        <p:txBody>
          <a:bodyPr wrap="square" lIns="0" tIns="0" rIns="0" bIns="0" rtlCol="0" anchor="ctr">
            <a:normAutofit/>
          </a:bodyPr>
          <a:lstStyle/>
          <a:p>
            <a:pPr algn="l" indent="0" marL="0">
              <a:buNone/>
            </a:pPr>
            <a:r>
              <a:rPr lang="en-US" sz="1000" b="1" spc="140" kern="0" dirty="0">
                <a:solidFill>
                  <a:srgbClr val="2E7D73"/>
                </a:solidFill>
                <a:latin typeface="Arial" pitchFamily="34" charset="0"/>
                <a:ea typeface="Arial" pitchFamily="34" charset="-122"/>
                <a:cs typeface="Arial" pitchFamily="34" charset="-120"/>
              </a:rPr>
              <a:t>01 / THE PROBLEM</a:t>
            </a:r>
            <a:endParaRPr lang="en-US" sz="1000" dirty="0"/>
          </a:p>
        </p:txBody>
      </p:sp>
      <p:sp>
        <p:nvSpPr>
          <p:cNvPr id="3" name="Text 1"/>
          <p:cNvSpPr/>
          <p:nvPr/>
        </p:nvSpPr>
        <p:spPr>
          <a:xfrm>
            <a:off x="621792" y="658368"/>
            <a:ext cx="10972800" cy="676656"/>
          </a:xfrm>
          <a:prstGeom prst="rect">
            <a:avLst/>
          </a:prstGeom>
          <a:noFill/>
          <a:ln/>
        </p:spPr>
        <p:txBody>
          <a:bodyPr wrap="square" lIns="0" tIns="0" rIns="0" bIns="0" rtlCol="0" anchor="ctr">
            <a:normAutofit/>
          </a:bodyPr>
          <a:lstStyle/>
          <a:p>
            <a:pPr algn="l" indent="0" marL="0">
              <a:buNone/>
            </a:pPr>
            <a:r>
              <a:rPr lang="en-US" sz="2800" b="1" dirty="0">
                <a:solidFill>
                  <a:srgbClr val="12232B"/>
                </a:solidFill>
                <a:latin typeface="Arial" pitchFamily="34" charset="0"/>
                <a:ea typeface="Arial" pitchFamily="34" charset="-122"/>
                <a:cs typeface="Arial" pitchFamily="34" charset="-120"/>
              </a:rPr>
              <a:t>Young people can feel stuck before they ever ask for help</a:t>
            </a:r>
            <a:endParaRPr lang="en-US" sz="2800" dirty="0"/>
          </a:p>
        </p:txBody>
      </p:sp>
      <p:sp>
        <p:nvSpPr>
          <p:cNvPr id="4" name="Text 2"/>
          <p:cNvSpPr/>
          <p:nvPr/>
        </p:nvSpPr>
        <p:spPr>
          <a:xfrm>
            <a:off x="640080" y="1399032"/>
            <a:ext cx="10607040" cy="347472"/>
          </a:xfrm>
          <a:prstGeom prst="rect">
            <a:avLst/>
          </a:prstGeom>
          <a:noFill/>
          <a:ln/>
        </p:spPr>
        <p:txBody>
          <a:bodyPr wrap="square" lIns="0" tIns="0" rIns="0" bIns="0" rtlCol="0" anchor="ctr">
            <a:normAutofit/>
          </a:bodyPr>
          <a:lstStyle/>
          <a:p>
            <a:pPr algn="l" indent="0" marL="0">
              <a:buNone/>
            </a:pPr>
            <a:r>
              <a:rPr lang="en-US" sz="1300" dirty="0">
                <a:solidFill>
                  <a:srgbClr val="68767C"/>
                </a:solidFill>
                <a:latin typeface="Arial" pitchFamily="34" charset="0"/>
                <a:ea typeface="Arial" pitchFamily="34" charset="-122"/>
                <a:cs typeface="Arial" pitchFamily="34" charset="-120"/>
              </a:rPr>
              <a:t>MindMate responds to three everyday barriers — before a difficult day becomes a crisis.</a:t>
            </a:r>
            <a:endParaRPr lang="en-US" sz="1300" dirty="0"/>
          </a:p>
        </p:txBody>
      </p:sp>
      <p:sp>
        <p:nvSpPr>
          <p:cNvPr id="5" name="Shape 3"/>
          <p:cNvSpPr/>
          <p:nvPr/>
        </p:nvSpPr>
        <p:spPr>
          <a:xfrm>
            <a:off x="658368" y="2057400"/>
            <a:ext cx="3401568" cy="3401568"/>
          </a:xfrm>
          <a:prstGeom prst="roundRect">
            <a:avLst>
              <a:gd name="adj" fmla="val 2151"/>
            </a:avLst>
          </a:prstGeom>
          <a:solidFill>
            <a:srgbClr val="DDEEE9"/>
          </a:solidFill>
          <a:ln w="12700">
            <a:solidFill>
              <a:srgbClr val="DDEEE9">
                <a:alpha val="0"/>
              </a:srgbClr>
            </a:solidFill>
            <a:prstDash val="solid"/>
          </a:ln>
        </p:spPr>
      </p:sp>
      <p:sp>
        <p:nvSpPr>
          <p:cNvPr id="6" name="Text 4"/>
          <p:cNvSpPr/>
          <p:nvPr/>
        </p:nvSpPr>
        <p:spPr>
          <a:xfrm>
            <a:off x="877824" y="2258568"/>
            <a:ext cx="2962656" cy="310896"/>
          </a:xfrm>
          <a:prstGeom prst="rect">
            <a:avLst/>
          </a:prstGeom>
          <a:noFill/>
          <a:ln/>
        </p:spPr>
        <p:txBody>
          <a:bodyPr wrap="square" lIns="0" tIns="0" rIns="0" bIns="0" rtlCol="0" anchor="ctr">
            <a:normAutofit/>
          </a:bodyPr>
          <a:lstStyle/>
          <a:p>
            <a:pPr algn="l" indent="0" marL="0">
              <a:buNone/>
            </a:pPr>
            <a:r>
              <a:rPr lang="en-US" sz="1400" b="1" spc="80" kern="0" dirty="0">
                <a:solidFill>
                  <a:srgbClr val="2E7D73"/>
                </a:solidFill>
                <a:latin typeface="Arial" pitchFamily="34" charset="0"/>
                <a:ea typeface="Arial" pitchFamily="34" charset="-122"/>
                <a:cs typeface="Arial" pitchFamily="34" charset="-120"/>
              </a:rPr>
              <a:t>DIFFICULTY WITH EMOTIONAL AWARENESS</a:t>
            </a:r>
            <a:endParaRPr lang="en-US" sz="1400" dirty="0"/>
          </a:p>
        </p:txBody>
      </p:sp>
      <p:sp>
        <p:nvSpPr>
          <p:cNvPr id="7" name="Text 5"/>
          <p:cNvSpPr/>
          <p:nvPr/>
        </p:nvSpPr>
        <p:spPr>
          <a:xfrm>
            <a:off x="877824" y="2697480"/>
            <a:ext cx="2962656" cy="2322576"/>
          </a:xfrm>
          <a:prstGeom prst="rect">
            <a:avLst/>
          </a:prstGeom>
          <a:noFill/>
          <a:ln/>
        </p:spPr>
        <p:txBody>
          <a:bodyPr wrap="square" lIns="0" tIns="0" rIns="0" bIns="0" rtlCol="0" anchor="ctr">
            <a:normAutofit/>
          </a:bodyPr>
          <a:lstStyle/>
          <a:p>
            <a:pPr algn="l" indent="0" marL="0">
              <a:buNone/>
            </a:pPr>
            <a:r>
              <a:rPr lang="en-US" sz="1350" dirty="0">
                <a:solidFill>
                  <a:srgbClr val="12232B"/>
                </a:solidFill>
                <a:latin typeface="Arial" pitchFamily="34" charset="0"/>
                <a:ea typeface="Arial" pitchFamily="34" charset="-122"/>
                <a:cs typeface="Arial" pitchFamily="34" charset="-120"/>
              </a:rPr>
              <a:t>It can be hard to name, process, or track what you are feeling from day to day. Without a simple way to check in, people may struggle to understand what is affecting their mood or recognise patterns over time.</a:t>
            </a:r>
            <a:endParaRPr lang="en-US" sz="1350" dirty="0"/>
          </a:p>
        </p:txBody>
      </p:sp>
      <p:sp>
        <p:nvSpPr>
          <p:cNvPr id="8" name="Text 6"/>
          <p:cNvSpPr/>
          <p:nvPr/>
        </p:nvSpPr>
        <p:spPr>
          <a:xfrm>
            <a:off x="877824" y="5074920"/>
            <a:ext cx="2962656" cy="219456"/>
          </a:xfrm>
          <a:prstGeom prst="rect">
            <a:avLst/>
          </a:prstGeom>
          <a:noFill/>
          <a:ln/>
        </p:spPr>
        <p:txBody>
          <a:bodyPr wrap="square" lIns="0" tIns="0" rIns="0" bIns="0" rtlCol="0" anchor="ctr">
            <a:normAutofit/>
          </a:bodyPr>
          <a:lstStyle/>
          <a:p>
            <a:pPr algn="l" indent="0" marL="0">
              <a:buNone/>
            </a:pPr>
            <a:r>
              <a:rPr lang="en-US" sz="1100" b="1" dirty="0">
                <a:solidFill>
                  <a:srgbClr val="D9776A"/>
                </a:solidFill>
                <a:latin typeface="Arial" pitchFamily="34" charset="0"/>
                <a:ea typeface="Arial" pitchFamily="34" charset="-122"/>
                <a:cs typeface="Arial" pitchFamily="34" charset="-120"/>
              </a:rPr>
              <a:t>Check in + reflect</a:t>
            </a:r>
            <a:endParaRPr lang="en-US" sz="1100" dirty="0"/>
          </a:p>
        </p:txBody>
      </p:sp>
      <p:sp>
        <p:nvSpPr>
          <p:cNvPr id="9" name="Shape 7"/>
          <p:cNvSpPr/>
          <p:nvPr/>
        </p:nvSpPr>
        <p:spPr>
          <a:xfrm>
            <a:off x="4425696" y="2057400"/>
            <a:ext cx="3401568" cy="3401568"/>
          </a:xfrm>
          <a:prstGeom prst="roundRect">
            <a:avLst>
              <a:gd name="adj" fmla="val 2151"/>
            </a:avLst>
          </a:prstGeom>
          <a:solidFill>
            <a:srgbClr val="F4E7D4"/>
          </a:solidFill>
          <a:ln w="12700">
            <a:solidFill>
              <a:srgbClr val="F4E7D4">
                <a:alpha val="0"/>
              </a:srgbClr>
            </a:solidFill>
            <a:prstDash val="solid"/>
          </a:ln>
        </p:spPr>
      </p:sp>
      <p:sp>
        <p:nvSpPr>
          <p:cNvPr id="10" name="Text 8"/>
          <p:cNvSpPr/>
          <p:nvPr/>
        </p:nvSpPr>
        <p:spPr>
          <a:xfrm>
            <a:off x="4645152" y="2258568"/>
            <a:ext cx="2962656" cy="310896"/>
          </a:xfrm>
          <a:prstGeom prst="rect">
            <a:avLst/>
          </a:prstGeom>
          <a:noFill/>
          <a:ln/>
        </p:spPr>
        <p:txBody>
          <a:bodyPr wrap="square" lIns="0" tIns="0" rIns="0" bIns="0" rtlCol="0" anchor="ctr">
            <a:normAutofit/>
          </a:bodyPr>
          <a:lstStyle/>
          <a:p>
            <a:pPr algn="l" indent="0" marL="0">
              <a:buNone/>
            </a:pPr>
            <a:r>
              <a:rPr lang="en-US" sz="1400" b="1" spc="80" kern="0" dirty="0">
                <a:solidFill>
                  <a:srgbClr val="2E7D73"/>
                </a:solidFill>
                <a:latin typeface="Arial" pitchFamily="34" charset="0"/>
                <a:ea typeface="Arial" pitchFamily="34" charset="-122"/>
                <a:cs typeface="Arial" pitchFamily="34" charset="-120"/>
              </a:rPr>
              <a:t>TOO MANY OPTIONS, NO CLEAR FIRST STEP</a:t>
            </a:r>
            <a:endParaRPr lang="en-US" sz="1400" dirty="0"/>
          </a:p>
        </p:txBody>
      </p:sp>
      <p:sp>
        <p:nvSpPr>
          <p:cNvPr id="11" name="Text 9"/>
          <p:cNvSpPr/>
          <p:nvPr/>
        </p:nvSpPr>
        <p:spPr>
          <a:xfrm>
            <a:off x="4645152" y="2697480"/>
            <a:ext cx="2962656" cy="2322576"/>
          </a:xfrm>
          <a:prstGeom prst="rect">
            <a:avLst/>
          </a:prstGeom>
          <a:noFill/>
          <a:ln/>
        </p:spPr>
        <p:txBody>
          <a:bodyPr wrap="square" lIns="0" tIns="0" rIns="0" bIns="0" rtlCol="0" anchor="ctr">
            <a:normAutofit/>
          </a:bodyPr>
          <a:lstStyle/>
          <a:p>
            <a:pPr algn="l" indent="0" marL="0">
              <a:buNone/>
            </a:pPr>
            <a:r>
              <a:rPr lang="en-US" sz="1350" dirty="0">
                <a:solidFill>
                  <a:srgbClr val="12232B"/>
                </a:solidFill>
                <a:latin typeface="Arial" pitchFamily="34" charset="0"/>
                <a:ea typeface="Arial" pitchFamily="34" charset="-122"/>
                <a:cs typeface="Arial" pitchFamily="34" charset="-120"/>
              </a:rPr>
              <a:t>When people are overwhelmed, too many exercises, resources, or pieces of advice can make it harder to know where to begin. They often need a simple, personalised first step that feels manageable in that moment.</a:t>
            </a:r>
            <a:endParaRPr lang="en-US" sz="1350" dirty="0"/>
          </a:p>
        </p:txBody>
      </p:sp>
      <p:sp>
        <p:nvSpPr>
          <p:cNvPr id="12" name="Text 10"/>
          <p:cNvSpPr/>
          <p:nvPr/>
        </p:nvSpPr>
        <p:spPr>
          <a:xfrm>
            <a:off x="4645152" y="5074920"/>
            <a:ext cx="2962656" cy="219456"/>
          </a:xfrm>
          <a:prstGeom prst="rect">
            <a:avLst/>
          </a:prstGeom>
          <a:noFill/>
          <a:ln/>
        </p:spPr>
        <p:txBody>
          <a:bodyPr wrap="square" lIns="0" tIns="0" rIns="0" bIns="0" rtlCol="0" anchor="ctr">
            <a:normAutofit/>
          </a:bodyPr>
          <a:lstStyle/>
          <a:p>
            <a:pPr algn="l" indent="0" marL="0">
              <a:buNone/>
            </a:pPr>
            <a:r>
              <a:rPr lang="en-US" sz="1100" b="1" dirty="0">
                <a:solidFill>
                  <a:srgbClr val="D9776A"/>
                </a:solidFill>
                <a:latin typeface="Arial" pitchFamily="34" charset="0"/>
                <a:ea typeface="Arial" pitchFamily="34" charset="-122"/>
                <a:cs typeface="Arial" pitchFamily="34" charset="-120"/>
              </a:rPr>
              <a:t>Personalised next step</a:t>
            </a:r>
            <a:endParaRPr lang="en-US" sz="1100" dirty="0"/>
          </a:p>
        </p:txBody>
      </p:sp>
      <p:sp>
        <p:nvSpPr>
          <p:cNvPr id="13" name="Shape 11"/>
          <p:cNvSpPr/>
          <p:nvPr/>
        </p:nvSpPr>
        <p:spPr>
          <a:xfrm>
            <a:off x="8193024" y="2057400"/>
            <a:ext cx="3401568" cy="3401568"/>
          </a:xfrm>
          <a:prstGeom prst="roundRect">
            <a:avLst>
              <a:gd name="adj" fmla="val 2151"/>
            </a:avLst>
          </a:prstGeom>
          <a:solidFill>
            <a:srgbClr val="D9776A"/>
          </a:solidFill>
          <a:ln w="12700">
            <a:solidFill>
              <a:srgbClr val="D9776A">
                <a:alpha val="0"/>
              </a:srgbClr>
            </a:solidFill>
            <a:prstDash val="solid"/>
          </a:ln>
        </p:spPr>
      </p:sp>
      <p:sp>
        <p:nvSpPr>
          <p:cNvPr id="14" name="Text 12"/>
          <p:cNvSpPr/>
          <p:nvPr/>
        </p:nvSpPr>
        <p:spPr>
          <a:xfrm>
            <a:off x="8412480" y="2258568"/>
            <a:ext cx="2962656" cy="310896"/>
          </a:xfrm>
          <a:prstGeom prst="rect">
            <a:avLst/>
          </a:prstGeom>
          <a:noFill/>
          <a:ln/>
        </p:spPr>
        <p:txBody>
          <a:bodyPr wrap="square" lIns="0" tIns="0" rIns="0" bIns="0" rtlCol="0" anchor="ctr">
            <a:normAutofit/>
          </a:bodyPr>
          <a:lstStyle/>
          <a:p>
            <a:pPr algn="l" indent="0" marL="0">
              <a:buNone/>
            </a:pPr>
            <a:r>
              <a:rPr lang="en-US" sz="1400" b="1" spc="80" kern="0" dirty="0">
                <a:solidFill>
                  <a:srgbClr val="78AFA2"/>
                </a:solidFill>
                <a:latin typeface="Arial" pitchFamily="34" charset="0"/>
                <a:ea typeface="Arial" pitchFamily="34" charset="-122"/>
                <a:cs typeface="Arial" pitchFamily="34" charset="-120"/>
              </a:rPr>
              <a:t>DIFFICULTY FINDING THE RIGHT SUPPORT</a:t>
            </a:r>
            <a:endParaRPr lang="en-US" sz="1400" dirty="0"/>
          </a:p>
        </p:txBody>
      </p:sp>
      <p:sp>
        <p:nvSpPr>
          <p:cNvPr id="15" name="Text 13"/>
          <p:cNvSpPr/>
          <p:nvPr/>
        </p:nvSpPr>
        <p:spPr>
          <a:xfrm>
            <a:off x="8412480" y="2697480"/>
            <a:ext cx="2962656" cy="2322576"/>
          </a:xfrm>
          <a:prstGeom prst="rect">
            <a:avLst/>
          </a:prstGeom>
          <a:noFill/>
          <a:ln/>
        </p:spPr>
        <p:txBody>
          <a:bodyPr wrap="square" lIns="0" tIns="0" rIns="0" bIns="0" rtlCol="0" anchor="ctr">
            <a:normAutofit/>
          </a:bodyPr>
          <a:lstStyle/>
          <a:p>
            <a:pPr algn="l" indent="0" marL="0">
              <a:buNone/>
            </a:pPr>
            <a:r>
              <a:rPr lang="en-US" sz="1350" dirty="0">
                <a:solidFill>
                  <a:srgbClr val="FFFFFF"/>
                </a:solidFill>
                <a:latin typeface="Arial" pitchFamily="34" charset="0"/>
                <a:ea typeface="Arial" pitchFamily="34" charset="-122"/>
                <a:cs typeface="Arial" pitchFamily="34" charset="-120"/>
              </a:rPr>
              <a:t>When self-guided support is not enough, people may need a trusted person, professional, or emergency resource. Knowing who to contact and what support is appropriate can be difficult in the moment.</a:t>
            </a:r>
            <a:endParaRPr lang="en-US" sz="1350" dirty="0"/>
          </a:p>
        </p:txBody>
      </p:sp>
      <p:sp>
        <p:nvSpPr>
          <p:cNvPr id="16" name="Text 14"/>
          <p:cNvSpPr/>
          <p:nvPr/>
        </p:nvSpPr>
        <p:spPr>
          <a:xfrm>
            <a:off x="8412480" y="5074920"/>
            <a:ext cx="2962656" cy="219456"/>
          </a:xfrm>
          <a:prstGeom prst="rect">
            <a:avLst/>
          </a:prstGeom>
          <a:noFill/>
          <a:ln/>
        </p:spPr>
        <p:txBody>
          <a:bodyPr wrap="square" lIns="0" tIns="0" rIns="0" bIns="0" rtlCol="0" anchor="ctr">
            <a:normAutofit/>
          </a:bodyPr>
          <a:lstStyle/>
          <a:p>
            <a:pPr algn="l" indent="0" marL="0">
              <a:buNone/>
            </a:pPr>
            <a:r>
              <a:rPr lang="en-US" sz="1100" b="1" dirty="0">
                <a:solidFill>
                  <a:srgbClr val="F4E7D4"/>
                </a:solidFill>
                <a:latin typeface="Arial" pitchFamily="34" charset="0"/>
                <a:ea typeface="Arial" pitchFamily="34" charset="-122"/>
                <a:cs typeface="Arial" pitchFamily="34" charset="-120"/>
              </a:rPr>
              <a:t>Connect to human support</a:t>
            </a:r>
            <a:endParaRPr lang="en-US" sz="1100" dirty="0"/>
          </a:p>
        </p:txBody>
      </p:sp>
      <p:sp>
        <p:nvSpPr>
          <p:cNvPr id="17" name="Shape 15"/>
          <p:cNvSpPr/>
          <p:nvPr/>
        </p:nvSpPr>
        <p:spPr>
          <a:xfrm>
            <a:off x="1097280" y="5687568"/>
            <a:ext cx="10012680" cy="411480"/>
          </a:xfrm>
          <a:prstGeom prst="roundRect">
            <a:avLst>
              <a:gd name="adj" fmla="val 17778"/>
            </a:avLst>
          </a:prstGeom>
          <a:solidFill>
            <a:srgbClr val="12232B"/>
          </a:solidFill>
          <a:ln w="12700">
            <a:solidFill>
              <a:srgbClr val="12232B">
                <a:alpha val="0"/>
              </a:srgbClr>
            </a:solidFill>
            <a:prstDash val="solid"/>
          </a:ln>
        </p:spPr>
      </p:sp>
      <p:sp>
        <p:nvSpPr>
          <p:cNvPr id="18" name="Text 16"/>
          <p:cNvSpPr/>
          <p:nvPr/>
        </p:nvSpPr>
        <p:spPr>
          <a:xfrm>
            <a:off x="1325880" y="5769864"/>
            <a:ext cx="9555480" cy="201168"/>
          </a:xfrm>
          <a:prstGeom prst="rect">
            <a:avLst/>
          </a:prstGeom>
          <a:noFill/>
          <a:ln/>
        </p:spPr>
        <p:txBody>
          <a:bodyPr wrap="square" lIns="0" tIns="0" rIns="0" bIns="0" rtlCol="0" anchor="ctr">
            <a:normAutofit/>
          </a:bodyPr>
          <a:lstStyle/>
          <a:p>
            <a:pPr algn="ctr" indent="0" marL="0">
              <a:buNone/>
            </a:pPr>
            <a:r>
              <a:rPr lang="en-US" sz="1250" b="1" dirty="0">
                <a:solidFill>
                  <a:srgbClr val="FFFFFF"/>
                </a:solidFill>
                <a:latin typeface="Arial" pitchFamily="34" charset="0"/>
                <a:ea typeface="Arial" pitchFamily="34" charset="-122"/>
                <a:cs typeface="Arial" pitchFamily="34" charset="-120"/>
              </a:rPr>
              <a:t>The problem is not a lack of information. It is the gap between “I need help” and “I know what to do next.”</a:t>
            </a:r>
            <a:endParaRPr lang="en-US" sz="1250" dirty="0"/>
          </a:p>
        </p:txBody>
      </p:sp>
      <p:sp>
        <p:nvSpPr>
          <p:cNvPr id="19" name="Text 17"/>
          <p:cNvSpPr/>
          <p:nvPr/>
        </p:nvSpPr>
        <p:spPr>
          <a:xfrm>
            <a:off x="621792" y="6437376"/>
            <a:ext cx="1828800"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78908A"/>
                </a:solidFill>
                <a:latin typeface="Arial" pitchFamily="34" charset="0"/>
                <a:ea typeface="Arial" pitchFamily="34" charset="-122"/>
                <a:cs typeface="Arial" pitchFamily="34" charset="-120"/>
              </a:rPr>
              <a:t>MINDMATE</a:t>
            </a:r>
            <a:endParaRPr lang="en-US" sz="800" dirty="0"/>
          </a:p>
        </p:txBody>
      </p:sp>
      <p:sp>
        <p:nvSpPr>
          <p:cNvPr id="25" name="Slide Number Placeholder 0"/>
          <p:cNvSpPr>
            <a:spLocks noGrp="1"/>
          </p:cNvSpPr>
          <p:nvPr>
            <p:ph type="sldNum" sz="quarter" idx="4294967295"/>
          </p:nvPr>
        </p:nvSpPr>
        <p:spPr>
          <a:xfrm>
            <a:off x="11475720" y="647395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8908A"/>
                </a:solidFill>
                <a:latin typeface="Arial"/>
                <a:ea typeface="Arial"/>
                <a:cs typeface="Aria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21792" y="384048"/>
            <a:ext cx="5303520" cy="219456"/>
          </a:xfrm>
          <a:prstGeom prst="rect">
            <a:avLst/>
          </a:prstGeom>
          <a:noFill/>
          <a:ln/>
        </p:spPr>
        <p:txBody>
          <a:bodyPr wrap="square" lIns="0" tIns="0" rIns="0" bIns="0" rtlCol="0" anchor="ctr">
            <a:normAutofit/>
          </a:bodyPr>
          <a:lstStyle/>
          <a:p>
            <a:pPr algn="l" indent="0" marL="0">
              <a:buNone/>
            </a:pPr>
            <a:r>
              <a:rPr lang="en-US" sz="1000" b="1" spc="140" kern="0" dirty="0">
                <a:solidFill>
                  <a:srgbClr val="2E7D73"/>
                </a:solidFill>
                <a:latin typeface="Arial" pitchFamily="34" charset="0"/>
                <a:ea typeface="Arial" pitchFamily="34" charset="-122"/>
                <a:cs typeface="Arial" pitchFamily="34" charset="-120"/>
              </a:rPr>
              <a:t>02 / THE SOLUTION</a:t>
            </a:r>
            <a:endParaRPr lang="en-US" sz="1000" dirty="0"/>
          </a:p>
        </p:txBody>
      </p:sp>
      <p:sp>
        <p:nvSpPr>
          <p:cNvPr id="3" name="Text 1"/>
          <p:cNvSpPr/>
          <p:nvPr/>
        </p:nvSpPr>
        <p:spPr>
          <a:xfrm>
            <a:off x="621792" y="658368"/>
            <a:ext cx="10972800" cy="676656"/>
          </a:xfrm>
          <a:prstGeom prst="rect">
            <a:avLst/>
          </a:prstGeom>
          <a:noFill/>
          <a:ln/>
        </p:spPr>
        <p:txBody>
          <a:bodyPr wrap="square" lIns="0" tIns="0" rIns="0" bIns="0" rtlCol="0" anchor="ctr">
            <a:normAutofit/>
          </a:bodyPr>
          <a:lstStyle/>
          <a:p>
            <a:pPr algn="l" indent="0" marL="0">
              <a:buNone/>
            </a:pPr>
            <a:r>
              <a:rPr lang="en-US" sz="2800" b="1" dirty="0">
                <a:solidFill>
                  <a:srgbClr val="12232B"/>
                </a:solidFill>
                <a:latin typeface="Arial" pitchFamily="34" charset="0"/>
                <a:ea typeface="Arial" pitchFamily="34" charset="-122"/>
                <a:cs typeface="Arial" pitchFamily="34" charset="-120"/>
              </a:rPr>
              <a:t>MindMate turns an overwhelming moment into one clear next step</a:t>
            </a:r>
            <a:endParaRPr lang="en-US" sz="2800" dirty="0"/>
          </a:p>
        </p:txBody>
      </p:sp>
      <p:sp>
        <p:nvSpPr>
          <p:cNvPr id="4" name="Text 2"/>
          <p:cNvSpPr/>
          <p:nvPr/>
        </p:nvSpPr>
        <p:spPr>
          <a:xfrm>
            <a:off x="640080" y="1399032"/>
            <a:ext cx="10607040" cy="347472"/>
          </a:xfrm>
          <a:prstGeom prst="rect">
            <a:avLst/>
          </a:prstGeom>
          <a:noFill/>
          <a:ln/>
        </p:spPr>
        <p:txBody>
          <a:bodyPr wrap="square" lIns="0" tIns="0" rIns="0" bIns="0" rtlCol="0" anchor="ctr">
            <a:normAutofit/>
          </a:bodyPr>
          <a:lstStyle/>
          <a:p>
            <a:pPr algn="l" indent="0" marL="0">
              <a:buNone/>
            </a:pPr>
            <a:r>
              <a:rPr lang="en-US" sz="1300" dirty="0">
                <a:solidFill>
                  <a:srgbClr val="68767C"/>
                </a:solidFill>
                <a:latin typeface="Arial" pitchFamily="34" charset="0"/>
                <a:ea typeface="Arial" pitchFamily="34" charset="-122"/>
                <a:cs typeface="Arial" pitchFamily="34" charset="-120"/>
              </a:rPr>
              <a:t>It connects emotional awareness, practical action, supportive conversation, and human support in one guided pathway.</a:t>
            </a:r>
            <a:endParaRPr lang="en-US" sz="1300" dirty="0"/>
          </a:p>
        </p:txBody>
      </p:sp>
      <p:sp>
        <p:nvSpPr>
          <p:cNvPr id="5" name="Shape 3"/>
          <p:cNvSpPr/>
          <p:nvPr/>
        </p:nvSpPr>
        <p:spPr>
          <a:xfrm>
            <a:off x="658368" y="2011680"/>
            <a:ext cx="5257800" cy="1554480"/>
          </a:xfrm>
          <a:prstGeom prst="roundRect">
            <a:avLst>
              <a:gd name="adj" fmla="val 4706"/>
            </a:avLst>
          </a:prstGeom>
          <a:solidFill>
            <a:srgbClr val="DDEEE9"/>
          </a:solidFill>
          <a:ln w="12700">
            <a:solidFill>
              <a:srgbClr val="DDEEE9">
                <a:alpha val="0"/>
              </a:srgbClr>
            </a:solidFill>
            <a:prstDash val="solid"/>
          </a:ln>
        </p:spPr>
      </p:sp>
      <p:sp>
        <p:nvSpPr>
          <p:cNvPr id="6" name="Text 4"/>
          <p:cNvSpPr/>
          <p:nvPr/>
        </p:nvSpPr>
        <p:spPr>
          <a:xfrm>
            <a:off x="877824" y="2212848"/>
            <a:ext cx="4818888" cy="310896"/>
          </a:xfrm>
          <a:prstGeom prst="rect">
            <a:avLst/>
          </a:prstGeom>
          <a:noFill/>
          <a:ln/>
        </p:spPr>
        <p:txBody>
          <a:bodyPr wrap="square" lIns="0" tIns="0" rIns="0" bIns="0" rtlCol="0" anchor="ctr">
            <a:normAutofit/>
          </a:bodyPr>
          <a:lstStyle/>
          <a:p>
            <a:pPr algn="l" indent="0" marL="0">
              <a:buNone/>
            </a:pPr>
            <a:r>
              <a:rPr lang="en-US" sz="1400" b="1" spc="80" kern="0" dirty="0">
                <a:solidFill>
                  <a:srgbClr val="2E7D73"/>
                </a:solidFill>
                <a:latin typeface="Arial" pitchFamily="34" charset="0"/>
                <a:ea typeface="Arial" pitchFamily="34" charset="-122"/>
                <a:cs typeface="Arial" pitchFamily="34" charset="-120"/>
              </a:rPr>
              <a:t>NOTICE</a:t>
            </a:r>
            <a:endParaRPr lang="en-US" sz="1400" dirty="0"/>
          </a:p>
        </p:txBody>
      </p:sp>
      <p:sp>
        <p:nvSpPr>
          <p:cNvPr id="7" name="Text 5"/>
          <p:cNvSpPr/>
          <p:nvPr/>
        </p:nvSpPr>
        <p:spPr>
          <a:xfrm>
            <a:off x="877824" y="2651760"/>
            <a:ext cx="4818888" cy="475488"/>
          </a:xfrm>
          <a:prstGeom prst="rect">
            <a:avLst/>
          </a:prstGeom>
          <a:noFill/>
          <a:ln/>
        </p:spPr>
        <p:txBody>
          <a:bodyPr wrap="square" lIns="0" tIns="0" rIns="0" bIns="0" rtlCol="0" anchor="ctr">
            <a:normAutofit/>
          </a:bodyPr>
          <a:lstStyle/>
          <a:p>
            <a:pPr algn="l" indent="0" marL="0">
              <a:buNone/>
            </a:pPr>
            <a:r>
              <a:rPr lang="en-US" sz="1350" dirty="0">
                <a:solidFill>
                  <a:srgbClr val="12232B"/>
                </a:solidFill>
                <a:latin typeface="Arial" pitchFamily="34" charset="0"/>
                <a:ea typeface="Arial" pitchFamily="34" charset="-122"/>
                <a:cs typeface="Arial" pitchFamily="34" charset="-120"/>
              </a:rPr>
              <a:t>MindMate starts by helping the user pause and understand what they are experiencing before suggesting what to do next.</a:t>
            </a:r>
            <a:endParaRPr lang="en-US" sz="1350" dirty="0"/>
          </a:p>
        </p:txBody>
      </p:sp>
      <p:sp>
        <p:nvSpPr>
          <p:cNvPr id="8" name="Text 6"/>
          <p:cNvSpPr/>
          <p:nvPr/>
        </p:nvSpPr>
        <p:spPr>
          <a:xfrm>
            <a:off x="877824" y="3182112"/>
            <a:ext cx="4818888" cy="219456"/>
          </a:xfrm>
          <a:prstGeom prst="rect">
            <a:avLst/>
          </a:prstGeom>
          <a:noFill/>
          <a:ln/>
        </p:spPr>
        <p:txBody>
          <a:bodyPr wrap="square" lIns="0" tIns="0" rIns="0" bIns="0" rtlCol="0" anchor="ctr">
            <a:normAutofit/>
          </a:bodyPr>
          <a:lstStyle/>
          <a:p>
            <a:pPr algn="l" indent="0" marL="0">
              <a:buNone/>
            </a:pPr>
            <a:r>
              <a:rPr lang="en-US" sz="1100" b="1" dirty="0">
                <a:solidFill>
                  <a:srgbClr val="D9776A"/>
                </a:solidFill>
                <a:latin typeface="Arial" pitchFamily="34" charset="0"/>
                <a:ea typeface="Arial" pitchFamily="34" charset="-122"/>
                <a:cs typeface="Arial" pitchFamily="34" charset="-120"/>
              </a:rPr>
              <a:t>Start with awareness</a:t>
            </a:r>
            <a:endParaRPr lang="en-US" sz="1100" dirty="0"/>
          </a:p>
        </p:txBody>
      </p:sp>
      <p:sp>
        <p:nvSpPr>
          <p:cNvPr id="9" name="Shape 7"/>
          <p:cNvSpPr/>
          <p:nvPr/>
        </p:nvSpPr>
        <p:spPr>
          <a:xfrm>
            <a:off x="6272784" y="2011680"/>
            <a:ext cx="5257800" cy="1554480"/>
          </a:xfrm>
          <a:prstGeom prst="roundRect">
            <a:avLst>
              <a:gd name="adj" fmla="val 4706"/>
            </a:avLst>
          </a:prstGeom>
          <a:solidFill>
            <a:srgbClr val="F4E7D4"/>
          </a:solidFill>
          <a:ln w="12700">
            <a:solidFill>
              <a:srgbClr val="F4E7D4">
                <a:alpha val="0"/>
              </a:srgbClr>
            </a:solidFill>
            <a:prstDash val="solid"/>
          </a:ln>
        </p:spPr>
      </p:sp>
      <p:sp>
        <p:nvSpPr>
          <p:cNvPr id="10" name="Text 8"/>
          <p:cNvSpPr/>
          <p:nvPr/>
        </p:nvSpPr>
        <p:spPr>
          <a:xfrm>
            <a:off x="6492240" y="2212848"/>
            <a:ext cx="4818888" cy="310896"/>
          </a:xfrm>
          <a:prstGeom prst="rect">
            <a:avLst/>
          </a:prstGeom>
          <a:noFill/>
          <a:ln/>
        </p:spPr>
        <p:txBody>
          <a:bodyPr wrap="square" lIns="0" tIns="0" rIns="0" bIns="0" rtlCol="0" anchor="ctr">
            <a:normAutofit/>
          </a:bodyPr>
          <a:lstStyle/>
          <a:p>
            <a:pPr algn="l" indent="0" marL="0">
              <a:buNone/>
            </a:pPr>
            <a:r>
              <a:rPr lang="en-US" sz="1400" b="1" spc="80" kern="0" dirty="0">
                <a:solidFill>
                  <a:srgbClr val="2E7D73"/>
                </a:solidFill>
                <a:latin typeface="Arial" pitchFamily="34" charset="0"/>
                <a:ea typeface="Arial" pitchFamily="34" charset="-122"/>
                <a:cs typeface="Arial" pitchFamily="34" charset="-120"/>
              </a:rPr>
              <a:t>ACT</a:t>
            </a:r>
            <a:endParaRPr lang="en-US" sz="1400" dirty="0"/>
          </a:p>
        </p:txBody>
      </p:sp>
      <p:sp>
        <p:nvSpPr>
          <p:cNvPr id="11" name="Text 9"/>
          <p:cNvSpPr/>
          <p:nvPr/>
        </p:nvSpPr>
        <p:spPr>
          <a:xfrm>
            <a:off x="6492240" y="2651760"/>
            <a:ext cx="4818888" cy="475488"/>
          </a:xfrm>
          <a:prstGeom prst="rect">
            <a:avLst/>
          </a:prstGeom>
          <a:noFill/>
          <a:ln/>
        </p:spPr>
        <p:txBody>
          <a:bodyPr wrap="square" lIns="0" tIns="0" rIns="0" bIns="0" rtlCol="0" anchor="ctr">
            <a:normAutofit/>
          </a:bodyPr>
          <a:lstStyle/>
          <a:p>
            <a:pPr algn="l" indent="0" marL="0">
              <a:buNone/>
            </a:pPr>
            <a:r>
              <a:rPr lang="en-US" sz="1350" dirty="0">
                <a:solidFill>
                  <a:srgbClr val="12232B"/>
                </a:solidFill>
                <a:latin typeface="Arial" pitchFamily="34" charset="0"/>
                <a:ea typeface="Arial" pitchFamily="34" charset="-122"/>
                <a:cs typeface="Arial" pitchFamily="34" charset="-120"/>
              </a:rPr>
              <a:t>When someone feels overwhelmed, a long list of advice can make it harder to begin. MindMate offers a small, practical action that feels possible, with alternatives if the first option does not help.</a:t>
            </a:r>
            <a:endParaRPr lang="en-US" sz="1350" dirty="0"/>
          </a:p>
        </p:txBody>
      </p:sp>
      <p:sp>
        <p:nvSpPr>
          <p:cNvPr id="12" name="Text 10"/>
          <p:cNvSpPr/>
          <p:nvPr/>
        </p:nvSpPr>
        <p:spPr>
          <a:xfrm>
            <a:off x="6492240" y="3182112"/>
            <a:ext cx="4818888" cy="219456"/>
          </a:xfrm>
          <a:prstGeom prst="rect">
            <a:avLst/>
          </a:prstGeom>
          <a:noFill/>
          <a:ln/>
        </p:spPr>
        <p:txBody>
          <a:bodyPr wrap="square" lIns="0" tIns="0" rIns="0" bIns="0" rtlCol="0" anchor="ctr">
            <a:normAutofit/>
          </a:bodyPr>
          <a:lstStyle/>
          <a:p>
            <a:pPr algn="l" indent="0" marL="0">
              <a:buNone/>
            </a:pPr>
            <a:r>
              <a:rPr lang="en-US" sz="1100" b="1" dirty="0">
                <a:solidFill>
                  <a:srgbClr val="D9776A"/>
                </a:solidFill>
                <a:latin typeface="Arial" pitchFamily="34" charset="0"/>
                <a:ea typeface="Arial" pitchFamily="34" charset="-122"/>
                <a:cs typeface="Arial" pitchFamily="34" charset="-120"/>
              </a:rPr>
              <a:t>Start small. Try another way.</a:t>
            </a:r>
            <a:endParaRPr lang="en-US" sz="1100" dirty="0"/>
          </a:p>
        </p:txBody>
      </p:sp>
      <p:sp>
        <p:nvSpPr>
          <p:cNvPr id="13" name="Shape 11"/>
          <p:cNvSpPr/>
          <p:nvPr/>
        </p:nvSpPr>
        <p:spPr>
          <a:xfrm>
            <a:off x="658368" y="3895344"/>
            <a:ext cx="5257800" cy="1554480"/>
          </a:xfrm>
          <a:prstGeom prst="roundRect">
            <a:avLst>
              <a:gd name="adj" fmla="val 4706"/>
            </a:avLst>
          </a:prstGeom>
          <a:solidFill>
            <a:srgbClr val="DDEEE9"/>
          </a:solidFill>
          <a:ln w="12700">
            <a:solidFill>
              <a:srgbClr val="DDEEE9">
                <a:alpha val="0"/>
              </a:srgbClr>
            </a:solidFill>
            <a:prstDash val="solid"/>
          </a:ln>
        </p:spPr>
      </p:sp>
      <p:sp>
        <p:nvSpPr>
          <p:cNvPr id="14" name="Text 12"/>
          <p:cNvSpPr/>
          <p:nvPr/>
        </p:nvSpPr>
        <p:spPr>
          <a:xfrm>
            <a:off x="877824" y="4096512"/>
            <a:ext cx="4818888" cy="310896"/>
          </a:xfrm>
          <a:prstGeom prst="rect">
            <a:avLst/>
          </a:prstGeom>
          <a:noFill/>
          <a:ln/>
        </p:spPr>
        <p:txBody>
          <a:bodyPr wrap="square" lIns="0" tIns="0" rIns="0" bIns="0" rtlCol="0" anchor="ctr">
            <a:normAutofit/>
          </a:bodyPr>
          <a:lstStyle/>
          <a:p>
            <a:pPr algn="l" indent="0" marL="0">
              <a:buNone/>
            </a:pPr>
            <a:r>
              <a:rPr lang="en-US" sz="1400" b="1" spc="80" kern="0" dirty="0">
                <a:solidFill>
                  <a:srgbClr val="2E7D73"/>
                </a:solidFill>
                <a:latin typeface="Arial" pitchFamily="34" charset="0"/>
                <a:ea typeface="Arial" pitchFamily="34" charset="-122"/>
                <a:cs typeface="Arial" pitchFamily="34" charset="-120"/>
              </a:rPr>
              <a:t>TALK</a:t>
            </a:r>
            <a:endParaRPr lang="en-US" sz="1400" dirty="0"/>
          </a:p>
        </p:txBody>
      </p:sp>
      <p:sp>
        <p:nvSpPr>
          <p:cNvPr id="15" name="Text 13"/>
          <p:cNvSpPr/>
          <p:nvPr/>
        </p:nvSpPr>
        <p:spPr>
          <a:xfrm>
            <a:off x="877824" y="4535424"/>
            <a:ext cx="4818888" cy="475488"/>
          </a:xfrm>
          <a:prstGeom prst="rect">
            <a:avLst/>
          </a:prstGeom>
          <a:noFill/>
          <a:ln/>
        </p:spPr>
        <p:txBody>
          <a:bodyPr wrap="square" lIns="0" tIns="0" rIns="0" bIns="0" rtlCol="0" anchor="ctr">
            <a:normAutofit/>
          </a:bodyPr>
          <a:lstStyle/>
          <a:p>
            <a:pPr algn="l" indent="0" marL="0">
              <a:buNone/>
            </a:pPr>
            <a:r>
              <a:rPr lang="en-US" sz="1350" dirty="0">
                <a:solidFill>
                  <a:srgbClr val="12232B"/>
                </a:solidFill>
                <a:latin typeface="Arial" pitchFamily="34" charset="0"/>
                <a:ea typeface="Arial" pitchFamily="34" charset="-122"/>
                <a:cs typeface="Arial" pitchFamily="34" charset="-120"/>
              </a:rPr>
              <a:t>A person may need to put their thoughts into words before deciding what to do. MindMate provides supportive reflection and context-aware guidance while making clear that AI is not professional care.</a:t>
            </a:r>
            <a:endParaRPr lang="en-US" sz="1350" dirty="0"/>
          </a:p>
        </p:txBody>
      </p:sp>
      <p:sp>
        <p:nvSpPr>
          <p:cNvPr id="16" name="Text 14"/>
          <p:cNvSpPr/>
          <p:nvPr/>
        </p:nvSpPr>
        <p:spPr>
          <a:xfrm>
            <a:off x="877824" y="5065776"/>
            <a:ext cx="4818888" cy="219456"/>
          </a:xfrm>
          <a:prstGeom prst="rect">
            <a:avLst/>
          </a:prstGeom>
          <a:noFill/>
          <a:ln/>
        </p:spPr>
        <p:txBody>
          <a:bodyPr wrap="square" lIns="0" tIns="0" rIns="0" bIns="0" rtlCol="0" anchor="ctr">
            <a:normAutofit/>
          </a:bodyPr>
          <a:lstStyle/>
          <a:p>
            <a:pPr algn="l" indent="0" marL="0">
              <a:buNone/>
            </a:pPr>
            <a:r>
              <a:rPr lang="en-US" sz="1100" b="1" dirty="0">
                <a:solidFill>
                  <a:srgbClr val="D9776A"/>
                </a:solidFill>
                <a:latin typeface="Arial" pitchFamily="34" charset="0"/>
                <a:ea typeface="Arial" pitchFamily="34" charset="-122"/>
                <a:cs typeface="Arial" pitchFamily="34" charset="-120"/>
              </a:rPr>
              <a:t>Talk it through safely.</a:t>
            </a:r>
            <a:endParaRPr lang="en-US" sz="1100" dirty="0"/>
          </a:p>
        </p:txBody>
      </p:sp>
      <p:sp>
        <p:nvSpPr>
          <p:cNvPr id="17" name="Shape 15"/>
          <p:cNvSpPr/>
          <p:nvPr/>
        </p:nvSpPr>
        <p:spPr>
          <a:xfrm>
            <a:off x="6272784" y="3895344"/>
            <a:ext cx="5257800" cy="1554480"/>
          </a:xfrm>
          <a:prstGeom prst="roundRect">
            <a:avLst>
              <a:gd name="adj" fmla="val 4706"/>
            </a:avLst>
          </a:prstGeom>
          <a:solidFill>
            <a:srgbClr val="12232B"/>
          </a:solidFill>
          <a:ln w="12700">
            <a:solidFill>
              <a:srgbClr val="12232B">
                <a:alpha val="0"/>
              </a:srgbClr>
            </a:solidFill>
            <a:prstDash val="solid"/>
          </a:ln>
        </p:spPr>
      </p:sp>
      <p:sp>
        <p:nvSpPr>
          <p:cNvPr id="18" name="Text 16"/>
          <p:cNvSpPr/>
          <p:nvPr/>
        </p:nvSpPr>
        <p:spPr>
          <a:xfrm>
            <a:off x="6492240" y="4096512"/>
            <a:ext cx="4818888" cy="310896"/>
          </a:xfrm>
          <a:prstGeom prst="rect">
            <a:avLst/>
          </a:prstGeom>
          <a:noFill/>
          <a:ln/>
        </p:spPr>
        <p:txBody>
          <a:bodyPr wrap="square" lIns="0" tIns="0" rIns="0" bIns="0" rtlCol="0" anchor="ctr">
            <a:normAutofit/>
          </a:bodyPr>
          <a:lstStyle/>
          <a:p>
            <a:pPr algn="l" indent="0" marL="0">
              <a:buNone/>
            </a:pPr>
            <a:r>
              <a:rPr lang="en-US" sz="1400" b="1" spc="80" kern="0" dirty="0">
                <a:solidFill>
                  <a:srgbClr val="78AFA2"/>
                </a:solidFill>
                <a:latin typeface="Arial" pitchFamily="34" charset="0"/>
                <a:ea typeface="Arial" pitchFamily="34" charset="-122"/>
                <a:cs typeface="Arial" pitchFamily="34" charset="-120"/>
              </a:rPr>
              <a:t>CONNECT</a:t>
            </a:r>
            <a:endParaRPr lang="en-US" sz="1400" dirty="0"/>
          </a:p>
        </p:txBody>
      </p:sp>
      <p:sp>
        <p:nvSpPr>
          <p:cNvPr id="19" name="Text 17"/>
          <p:cNvSpPr/>
          <p:nvPr/>
        </p:nvSpPr>
        <p:spPr>
          <a:xfrm>
            <a:off x="6492240" y="4535424"/>
            <a:ext cx="4818888" cy="475488"/>
          </a:xfrm>
          <a:prstGeom prst="rect">
            <a:avLst/>
          </a:prstGeom>
          <a:noFill/>
          <a:ln/>
        </p:spPr>
        <p:txBody>
          <a:bodyPr wrap="square" lIns="0" tIns="0" rIns="0" bIns="0" rtlCol="0" anchor="ctr">
            <a:normAutofit/>
          </a:bodyPr>
          <a:lstStyle/>
          <a:p>
            <a:pPr algn="l" indent="0" marL="0">
              <a:buNone/>
            </a:pPr>
            <a:r>
              <a:rPr lang="en-US" sz="1350" dirty="0">
                <a:solidFill>
                  <a:srgbClr val="FFFFFF"/>
                </a:solidFill>
                <a:latin typeface="Arial" pitchFamily="34" charset="0"/>
                <a:ea typeface="Arial" pitchFamily="34" charset="-122"/>
                <a:cs typeface="Arial" pitchFamily="34" charset="-120"/>
              </a:rPr>
              <a:t>A wellbeing app should not leave someone alone when more help is needed. MindMate provides routes to trusted people, professional support, and emergency resources while keeping the user in control.</a:t>
            </a:r>
            <a:endParaRPr lang="en-US" sz="1350" dirty="0"/>
          </a:p>
        </p:txBody>
      </p:sp>
      <p:sp>
        <p:nvSpPr>
          <p:cNvPr id="20" name="Text 18"/>
          <p:cNvSpPr/>
          <p:nvPr/>
        </p:nvSpPr>
        <p:spPr>
          <a:xfrm>
            <a:off x="6492240" y="5065776"/>
            <a:ext cx="4818888" cy="219456"/>
          </a:xfrm>
          <a:prstGeom prst="rect">
            <a:avLst/>
          </a:prstGeom>
          <a:noFill/>
          <a:ln/>
        </p:spPr>
        <p:txBody>
          <a:bodyPr wrap="square" lIns="0" tIns="0" rIns="0" bIns="0" rtlCol="0" anchor="ctr">
            <a:normAutofit/>
          </a:bodyPr>
          <a:lstStyle/>
          <a:p>
            <a:pPr algn="l" indent="0" marL="0">
              <a:buNone/>
            </a:pPr>
            <a:r>
              <a:rPr lang="en-US" sz="1100" b="1" dirty="0">
                <a:solidFill>
                  <a:srgbClr val="F4E7D4"/>
                </a:solidFill>
                <a:latin typeface="Arial" pitchFamily="34" charset="0"/>
                <a:ea typeface="Arial" pitchFamily="34" charset="-122"/>
                <a:cs typeface="Arial" pitchFamily="34" charset="-120"/>
              </a:rPr>
              <a:t>Human support stays within reach.</a:t>
            </a:r>
            <a:endParaRPr lang="en-US" sz="1100" dirty="0"/>
          </a:p>
        </p:txBody>
      </p:sp>
      <p:sp>
        <p:nvSpPr>
          <p:cNvPr id="21" name="Shape 19"/>
          <p:cNvSpPr/>
          <p:nvPr/>
        </p:nvSpPr>
        <p:spPr>
          <a:xfrm>
            <a:off x="1938528" y="5715000"/>
            <a:ext cx="8366760" cy="384048"/>
          </a:xfrm>
          <a:prstGeom prst="roundRect">
            <a:avLst>
              <a:gd name="adj" fmla="val 19048"/>
            </a:avLst>
          </a:prstGeom>
          <a:solidFill>
            <a:srgbClr val="D9776A"/>
          </a:solidFill>
          <a:ln w="12700">
            <a:solidFill>
              <a:srgbClr val="D9776A">
                <a:alpha val="0"/>
              </a:srgbClr>
            </a:solidFill>
            <a:prstDash val="solid"/>
          </a:ln>
        </p:spPr>
      </p:sp>
      <p:sp>
        <p:nvSpPr>
          <p:cNvPr id="22" name="Text 20"/>
          <p:cNvSpPr/>
          <p:nvPr/>
        </p:nvSpPr>
        <p:spPr>
          <a:xfrm>
            <a:off x="2121408" y="5788152"/>
            <a:ext cx="8001000" cy="201168"/>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Arial" pitchFamily="34" charset="0"/>
                <a:ea typeface="Arial" pitchFamily="34" charset="-122"/>
                <a:cs typeface="Arial" pitchFamily="34" charset="-120"/>
              </a:rPr>
              <a:t>Not a feature pile: a safe pathway from “I feel stuck” to “I have a next step.”</a:t>
            </a:r>
            <a:endParaRPr lang="en-US" sz="1200" dirty="0"/>
          </a:p>
        </p:txBody>
      </p:sp>
      <p:sp>
        <p:nvSpPr>
          <p:cNvPr id="23" name="Text 21"/>
          <p:cNvSpPr/>
          <p:nvPr/>
        </p:nvSpPr>
        <p:spPr>
          <a:xfrm>
            <a:off x="621792" y="6437376"/>
            <a:ext cx="1828800"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78908A"/>
                </a:solidFill>
                <a:latin typeface="Arial" pitchFamily="34" charset="0"/>
                <a:ea typeface="Arial" pitchFamily="34" charset="-122"/>
                <a:cs typeface="Arial" pitchFamily="34" charset="-120"/>
              </a:rPr>
              <a:t>MINDMATE</a:t>
            </a:r>
            <a:endParaRPr lang="en-US" sz="800" dirty="0"/>
          </a:p>
        </p:txBody>
      </p:sp>
      <p:sp>
        <p:nvSpPr>
          <p:cNvPr id="25" name="Slide Number Placeholder 0"/>
          <p:cNvSpPr>
            <a:spLocks noGrp="1"/>
          </p:cNvSpPr>
          <p:nvPr>
            <p:ph type="sldNum" sz="quarter" idx="4294967295"/>
          </p:nvPr>
        </p:nvSpPr>
        <p:spPr>
          <a:xfrm>
            <a:off x="11475720" y="647395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8908A"/>
                </a:solidFill>
                <a:latin typeface="Arial"/>
                <a:ea typeface="Arial"/>
                <a:cs typeface="Aria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21792" y="384048"/>
            <a:ext cx="5303520" cy="219456"/>
          </a:xfrm>
          <a:prstGeom prst="rect">
            <a:avLst/>
          </a:prstGeom>
          <a:noFill/>
          <a:ln/>
        </p:spPr>
        <p:txBody>
          <a:bodyPr wrap="square" lIns="0" tIns="0" rIns="0" bIns="0" rtlCol="0" anchor="ctr">
            <a:normAutofit/>
          </a:bodyPr>
          <a:lstStyle/>
          <a:p>
            <a:pPr algn="l" indent="0" marL="0">
              <a:buNone/>
            </a:pPr>
            <a:r>
              <a:rPr lang="en-US" sz="1000" b="1" spc="140" kern="0" dirty="0">
                <a:solidFill>
                  <a:srgbClr val="2E7D73"/>
                </a:solidFill>
                <a:latin typeface="Arial" pitchFamily="34" charset="0"/>
                <a:ea typeface="Arial" pitchFamily="34" charset="-122"/>
                <a:cs typeface="Arial" pitchFamily="34" charset="-120"/>
              </a:rPr>
              <a:t>03 / HOW IT WORKS</a:t>
            </a:r>
            <a:endParaRPr lang="en-US" sz="1000" dirty="0"/>
          </a:p>
        </p:txBody>
      </p:sp>
      <p:sp>
        <p:nvSpPr>
          <p:cNvPr id="3" name="Text 1"/>
          <p:cNvSpPr/>
          <p:nvPr/>
        </p:nvSpPr>
        <p:spPr>
          <a:xfrm>
            <a:off x="621792" y="658368"/>
            <a:ext cx="10972800" cy="676656"/>
          </a:xfrm>
          <a:prstGeom prst="rect">
            <a:avLst/>
          </a:prstGeom>
          <a:noFill/>
          <a:ln/>
        </p:spPr>
        <p:txBody>
          <a:bodyPr wrap="square" lIns="0" tIns="0" rIns="0" bIns="0" rtlCol="0" anchor="ctr">
            <a:normAutofit/>
          </a:bodyPr>
          <a:lstStyle/>
          <a:p>
            <a:pPr algn="l" indent="0" marL="0">
              <a:buNone/>
            </a:pPr>
            <a:r>
              <a:rPr lang="en-US" sz="2800" b="1" dirty="0">
                <a:solidFill>
                  <a:srgbClr val="12232B"/>
                </a:solidFill>
                <a:latin typeface="Arial" pitchFamily="34" charset="0"/>
                <a:ea typeface="Arial" pitchFamily="34" charset="-122"/>
                <a:cs typeface="Arial" pitchFamily="34" charset="-120"/>
              </a:rPr>
              <a:t>One session can move from feeling stuck to taking action</a:t>
            </a:r>
            <a:endParaRPr lang="en-US" sz="2800" dirty="0"/>
          </a:p>
        </p:txBody>
      </p:sp>
      <p:sp>
        <p:nvSpPr>
          <p:cNvPr id="4" name="Text 2"/>
          <p:cNvSpPr/>
          <p:nvPr/>
        </p:nvSpPr>
        <p:spPr>
          <a:xfrm>
            <a:off x="640080" y="1399032"/>
            <a:ext cx="10607040" cy="347472"/>
          </a:xfrm>
          <a:prstGeom prst="rect">
            <a:avLst/>
          </a:prstGeom>
          <a:noFill/>
          <a:ln/>
        </p:spPr>
        <p:txBody>
          <a:bodyPr wrap="square" lIns="0" tIns="0" rIns="0" bIns="0" rtlCol="0" anchor="ctr">
            <a:normAutofit/>
          </a:bodyPr>
          <a:lstStyle/>
          <a:p>
            <a:pPr algn="l" indent="0" marL="0">
              <a:buNone/>
            </a:pPr>
            <a:r>
              <a:rPr lang="en-US" sz="1300" dirty="0">
                <a:solidFill>
                  <a:srgbClr val="68767C"/>
                </a:solidFill>
                <a:latin typeface="Arial" pitchFamily="34" charset="0"/>
                <a:ea typeface="Arial" pitchFamily="34" charset="-122"/>
                <a:cs typeface="Arial" pitchFamily="34" charset="-120"/>
              </a:rPr>
              <a:t>Replace the three portrait frames with real screenshots from the release APK or Web app.</a:t>
            </a:r>
            <a:endParaRPr lang="en-US" sz="1300" dirty="0"/>
          </a:p>
        </p:txBody>
      </p:sp>
      <p:sp>
        <p:nvSpPr>
          <p:cNvPr id="5" name="Shape 3"/>
          <p:cNvSpPr/>
          <p:nvPr/>
        </p:nvSpPr>
        <p:spPr>
          <a:xfrm>
            <a:off x="658368" y="1947672"/>
            <a:ext cx="1965960" cy="3931920"/>
          </a:xfrm>
          <a:prstGeom prst="roundRect">
            <a:avLst>
              <a:gd name="adj" fmla="val 3721"/>
            </a:avLst>
          </a:prstGeom>
          <a:solidFill>
            <a:srgbClr val="12232B"/>
          </a:solidFill>
          <a:ln w="12700">
            <a:solidFill>
              <a:srgbClr val="12232B">
                <a:alpha val="0"/>
              </a:srgbClr>
            </a:solidFill>
            <a:prstDash val="solid"/>
          </a:ln>
        </p:spPr>
      </p:sp>
      <p:sp>
        <p:nvSpPr>
          <p:cNvPr id="6" name="Shape 4"/>
          <p:cNvSpPr/>
          <p:nvPr/>
        </p:nvSpPr>
        <p:spPr>
          <a:xfrm>
            <a:off x="731520" y="2057400"/>
            <a:ext cx="1819656" cy="3712464"/>
          </a:xfrm>
          <a:prstGeom prst="roundRect">
            <a:avLst>
              <a:gd name="adj" fmla="val 4020"/>
            </a:avLst>
          </a:prstGeom>
          <a:solidFill>
            <a:srgbClr val="FFFFFF"/>
          </a:solidFill>
          <a:ln w="12700">
            <a:solidFill>
              <a:srgbClr val="FFFFFF">
                <a:alpha val="0"/>
              </a:srgbClr>
            </a:solidFill>
            <a:prstDash val="solid"/>
          </a:ln>
        </p:spPr>
      </p:sp>
      <p:sp>
        <p:nvSpPr>
          <p:cNvPr id="7" name="Shape 5"/>
          <p:cNvSpPr/>
          <p:nvPr/>
        </p:nvSpPr>
        <p:spPr>
          <a:xfrm>
            <a:off x="1440180" y="2112264"/>
            <a:ext cx="402336" cy="54864"/>
          </a:xfrm>
          <a:prstGeom prst="roundRect">
            <a:avLst>
              <a:gd name="adj" fmla="val 133333"/>
            </a:avLst>
          </a:prstGeom>
          <a:solidFill>
            <a:srgbClr val="12232B"/>
          </a:solidFill>
          <a:ln w="12700">
            <a:solidFill>
              <a:srgbClr val="12232B">
                <a:alpha val="0"/>
              </a:srgbClr>
            </a:solidFill>
            <a:prstDash val="solid"/>
          </a:ln>
        </p:spPr>
      </p:sp>
      <p:sp>
        <p:nvSpPr>
          <p:cNvPr id="8" name="Shape 6"/>
          <p:cNvSpPr/>
          <p:nvPr/>
        </p:nvSpPr>
        <p:spPr>
          <a:xfrm>
            <a:off x="804672" y="2276856"/>
            <a:ext cx="1673352" cy="3419856"/>
          </a:xfrm>
          <a:prstGeom prst="roundRect">
            <a:avLst>
              <a:gd name="adj" fmla="val 2732"/>
            </a:avLst>
          </a:prstGeom>
          <a:solidFill>
            <a:srgbClr val="FFFFFF"/>
          </a:solidFill>
          <a:ln w="12700">
            <a:solidFill>
              <a:srgbClr val="78AFA2"/>
            </a:solidFill>
            <a:prstDash val="dash"/>
          </a:ln>
        </p:spPr>
      </p:sp>
      <p:sp>
        <p:nvSpPr>
          <p:cNvPr id="9" name="Text 7"/>
          <p:cNvSpPr/>
          <p:nvPr/>
        </p:nvSpPr>
        <p:spPr>
          <a:xfrm>
            <a:off x="914400" y="3712464"/>
            <a:ext cx="1453896" cy="548640"/>
          </a:xfrm>
          <a:prstGeom prst="rect">
            <a:avLst/>
          </a:prstGeom>
          <a:noFill/>
          <a:ln/>
        </p:spPr>
        <p:txBody>
          <a:bodyPr wrap="square" lIns="0" tIns="0" rIns="0" bIns="0" rtlCol="0" anchor="ctr">
            <a:normAutofit/>
          </a:bodyPr>
          <a:lstStyle/>
          <a:p>
            <a:pPr algn="ctr" indent="0" marL="0">
              <a:buNone/>
            </a:pPr>
            <a:r>
              <a:rPr lang="en-US" sz="1000" b="1" dirty="0">
                <a:solidFill>
                  <a:srgbClr val="2E7D73"/>
                </a:solidFill>
                <a:latin typeface="Arial" pitchFamily="34" charset="0"/>
                <a:ea typeface="Arial" pitchFamily="34" charset="-122"/>
                <a:cs typeface="Arial" pitchFamily="34" charset="-120"/>
              </a:rPr>
              <a:t>ADD REAL SCREENSHOT</a:t>
            </a:r>
            <a:endParaRPr lang="en-US" sz="1000" dirty="0"/>
          </a:p>
          <a:p>
            <a:pPr algn="ctr" indent="0" marL="0">
              <a:buNone/>
            </a:pPr>
            <a:r>
              <a:rPr lang="en-US" sz="1000" b="1" dirty="0">
                <a:solidFill>
                  <a:srgbClr val="2E7D73"/>
                </a:solidFill>
                <a:latin typeface="Arial" pitchFamily="34" charset="0"/>
                <a:ea typeface="Arial" pitchFamily="34" charset="-122"/>
                <a:cs typeface="Arial" pitchFamily="34" charset="-120"/>
              </a:rPr>
              <a:t>HOME / CHECK-IN</a:t>
            </a:r>
            <a:endParaRPr lang="en-US" sz="1000" dirty="0"/>
          </a:p>
        </p:txBody>
      </p:sp>
      <p:sp>
        <p:nvSpPr>
          <p:cNvPr id="10" name="Shape 8"/>
          <p:cNvSpPr/>
          <p:nvPr/>
        </p:nvSpPr>
        <p:spPr>
          <a:xfrm>
            <a:off x="2990088" y="1947672"/>
            <a:ext cx="1965960" cy="3931920"/>
          </a:xfrm>
          <a:prstGeom prst="roundRect">
            <a:avLst>
              <a:gd name="adj" fmla="val 3721"/>
            </a:avLst>
          </a:prstGeom>
          <a:solidFill>
            <a:srgbClr val="12232B"/>
          </a:solidFill>
          <a:ln w="12700">
            <a:solidFill>
              <a:srgbClr val="12232B">
                <a:alpha val="0"/>
              </a:srgbClr>
            </a:solidFill>
            <a:prstDash val="solid"/>
          </a:ln>
        </p:spPr>
      </p:sp>
      <p:sp>
        <p:nvSpPr>
          <p:cNvPr id="11" name="Shape 9"/>
          <p:cNvSpPr/>
          <p:nvPr/>
        </p:nvSpPr>
        <p:spPr>
          <a:xfrm>
            <a:off x="3063240" y="2057400"/>
            <a:ext cx="1819656" cy="3712464"/>
          </a:xfrm>
          <a:prstGeom prst="roundRect">
            <a:avLst>
              <a:gd name="adj" fmla="val 4020"/>
            </a:avLst>
          </a:prstGeom>
          <a:solidFill>
            <a:srgbClr val="FFFFFF"/>
          </a:solidFill>
          <a:ln w="12700">
            <a:solidFill>
              <a:srgbClr val="FFFFFF">
                <a:alpha val="0"/>
              </a:srgbClr>
            </a:solidFill>
            <a:prstDash val="solid"/>
          </a:ln>
        </p:spPr>
      </p:sp>
      <p:sp>
        <p:nvSpPr>
          <p:cNvPr id="12" name="Shape 10"/>
          <p:cNvSpPr/>
          <p:nvPr/>
        </p:nvSpPr>
        <p:spPr>
          <a:xfrm>
            <a:off x="3771900" y="2112264"/>
            <a:ext cx="402336" cy="54864"/>
          </a:xfrm>
          <a:prstGeom prst="roundRect">
            <a:avLst>
              <a:gd name="adj" fmla="val 133333"/>
            </a:avLst>
          </a:prstGeom>
          <a:solidFill>
            <a:srgbClr val="12232B"/>
          </a:solidFill>
          <a:ln w="12700">
            <a:solidFill>
              <a:srgbClr val="12232B">
                <a:alpha val="0"/>
              </a:srgbClr>
            </a:solidFill>
            <a:prstDash val="solid"/>
          </a:ln>
        </p:spPr>
      </p:sp>
      <p:sp>
        <p:nvSpPr>
          <p:cNvPr id="13" name="Shape 11"/>
          <p:cNvSpPr/>
          <p:nvPr/>
        </p:nvSpPr>
        <p:spPr>
          <a:xfrm>
            <a:off x="3136392" y="2276856"/>
            <a:ext cx="1673352" cy="3419856"/>
          </a:xfrm>
          <a:prstGeom prst="roundRect">
            <a:avLst>
              <a:gd name="adj" fmla="val 2732"/>
            </a:avLst>
          </a:prstGeom>
          <a:solidFill>
            <a:srgbClr val="FFFFFF"/>
          </a:solidFill>
          <a:ln w="12700">
            <a:solidFill>
              <a:srgbClr val="78AFA2"/>
            </a:solidFill>
            <a:prstDash val="dash"/>
          </a:ln>
        </p:spPr>
      </p:sp>
      <p:sp>
        <p:nvSpPr>
          <p:cNvPr id="14" name="Text 12"/>
          <p:cNvSpPr/>
          <p:nvPr/>
        </p:nvSpPr>
        <p:spPr>
          <a:xfrm>
            <a:off x="3246120" y="3712464"/>
            <a:ext cx="1453896" cy="548640"/>
          </a:xfrm>
          <a:prstGeom prst="rect">
            <a:avLst/>
          </a:prstGeom>
          <a:noFill/>
          <a:ln/>
        </p:spPr>
        <p:txBody>
          <a:bodyPr wrap="square" lIns="0" tIns="0" rIns="0" bIns="0" rtlCol="0" anchor="ctr">
            <a:normAutofit/>
          </a:bodyPr>
          <a:lstStyle/>
          <a:p>
            <a:pPr algn="ctr" indent="0" marL="0">
              <a:buNone/>
            </a:pPr>
            <a:r>
              <a:rPr lang="en-US" sz="1000" b="1" dirty="0">
                <a:solidFill>
                  <a:srgbClr val="2E7D73"/>
                </a:solidFill>
                <a:latin typeface="Arial" pitchFamily="34" charset="0"/>
                <a:ea typeface="Arial" pitchFamily="34" charset="-122"/>
                <a:cs typeface="Arial" pitchFamily="34" charset="-120"/>
              </a:rPr>
              <a:t>ADD REAL SCREENSHOT</a:t>
            </a:r>
            <a:endParaRPr lang="en-US" sz="1000" dirty="0"/>
          </a:p>
          <a:p>
            <a:pPr algn="ctr" indent="0" marL="0">
              <a:buNone/>
            </a:pPr>
            <a:r>
              <a:rPr lang="en-US" sz="1000" b="1" dirty="0">
                <a:solidFill>
                  <a:srgbClr val="2E7D73"/>
                </a:solidFill>
                <a:latin typeface="Arial" pitchFamily="34" charset="0"/>
                <a:ea typeface="Arial" pitchFamily="34" charset="-122"/>
                <a:cs typeface="Arial" pitchFamily="34" charset="-120"/>
              </a:rPr>
              <a:t>LEARN / ONE SMALL STEP</a:t>
            </a:r>
            <a:endParaRPr lang="en-US" sz="1000" dirty="0"/>
          </a:p>
        </p:txBody>
      </p:sp>
      <p:sp>
        <p:nvSpPr>
          <p:cNvPr id="15" name="Shape 13"/>
          <p:cNvSpPr/>
          <p:nvPr/>
        </p:nvSpPr>
        <p:spPr>
          <a:xfrm>
            <a:off x="5321808" y="1947672"/>
            <a:ext cx="1965960" cy="3931920"/>
          </a:xfrm>
          <a:prstGeom prst="roundRect">
            <a:avLst>
              <a:gd name="adj" fmla="val 3721"/>
            </a:avLst>
          </a:prstGeom>
          <a:solidFill>
            <a:srgbClr val="12232B"/>
          </a:solidFill>
          <a:ln w="12700">
            <a:solidFill>
              <a:srgbClr val="12232B">
                <a:alpha val="0"/>
              </a:srgbClr>
            </a:solidFill>
            <a:prstDash val="solid"/>
          </a:ln>
        </p:spPr>
      </p:sp>
      <p:sp>
        <p:nvSpPr>
          <p:cNvPr id="16" name="Shape 14"/>
          <p:cNvSpPr/>
          <p:nvPr/>
        </p:nvSpPr>
        <p:spPr>
          <a:xfrm>
            <a:off x="5394960" y="2057400"/>
            <a:ext cx="1819656" cy="3712464"/>
          </a:xfrm>
          <a:prstGeom prst="roundRect">
            <a:avLst>
              <a:gd name="adj" fmla="val 4020"/>
            </a:avLst>
          </a:prstGeom>
          <a:solidFill>
            <a:srgbClr val="FFFFFF"/>
          </a:solidFill>
          <a:ln w="12700">
            <a:solidFill>
              <a:srgbClr val="FFFFFF">
                <a:alpha val="0"/>
              </a:srgbClr>
            </a:solidFill>
            <a:prstDash val="solid"/>
          </a:ln>
        </p:spPr>
      </p:sp>
      <p:sp>
        <p:nvSpPr>
          <p:cNvPr id="17" name="Shape 15"/>
          <p:cNvSpPr/>
          <p:nvPr/>
        </p:nvSpPr>
        <p:spPr>
          <a:xfrm>
            <a:off x="6103620" y="2112264"/>
            <a:ext cx="402336" cy="54864"/>
          </a:xfrm>
          <a:prstGeom prst="roundRect">
            <a:avLst>
              <a:gd name="adj" fmla="val 133333"/>
            </a:avLst>
          </a:prstGeom>
          <a:solidFill>
            <a:srgbClr val="12232B"/>
          </a:solidFill>
          <a:ln w="12700">
            <a:solidFill>
              <a:srgbClr val="12232B">
                <a:alpha val="0"/>
              </a:srgbClr>
            </a:solidFill>
            <a:prstDash val="solid"/>
          </a:ln>
        </p:spPr>
      </p:sp>
      <p:sp>
        <p:nvSpPr>
          <p:cNvPr id="18" name="Shape 16"/>
          <p:cNvSpPr/>
          <p:nvPr/>
        </p:nvSpPr>
        <p:spPr>
          <a:xfrm>
            <a:off x="5468112" y="2276856"/>
            <a:ext cx="1673352" cy="3419856"/>
          </a:xfrm>
          <a:prstGeom prst="roundRect">
            <a:avLst>
              <a:gd name="adj" fmla="val 2732"/>
            </a:avLst>
          </a:prstGeom>
          <a:solidFill>
            <a:srgbClr val="FFFFFF"/>
          </a:solidFill>
          <a:ln w="12700">
            <a:solidFill>
              <a:srgbClr val="78AFA2"/>
            </a:solidFill>
            <a:prstDash val="dash"/>
          </a:ln>
        </p:spPr>
      </p:sp>
      <p:sp>
        <p:nvSpPr>
          <p:cNvPr id="19" name="Text 17"/>
          <p:cNvSpPr/>
          <p:nvPr/>
        </p:nvSpPr>
        <p:spPr>
          <a:xfrm>
            <a:off x="5577840" y="3712464"/>
            <a:ext cx="1453896" cy="548640"/>
          </a:xfrm>
          <a:prstGeom prst="rect">
            <a:avLst/>
          </a:prstGeom>
          <a:noFill/>
          <a:ln/>
        </p:spPr>
        <p:txBody>
          <a:bodyPr wrap="square" lIns="0" tIns="0" rIns="0" bIns="0" rtlCol="0" anchor="ctr">
            <a:normAutofit/>
          </a:bodyPr>
          <a:lstStyle/>
          <a:p>
            <a:pPr algn="ctr" indent="0" marL="0">
              <a:buNone/>
            </a:pPr>
            <a:r>
              <a:rPr lang="en-US" sz="1000" b="1" dirty="0">
                <a:solidFill>
                  <a:srgbClr val="2E7D73"/>
                </a:solidFill>
                <a:latin typeface="Arial" pitchFamily="34" charset="0"/>
                <a:ea typeface="Arial" pitchFamily="34" charset="-122"/>
                <a:cs typeface="Arial" pitchFamily="34" charset="-120"/>
              </a:rPr>
              <a:t>ADD REAL SCREENSHOT</a:t>
            </a:r>
            <a:endParaRPr lang="en-US" sz="1000" dirty="0"/>
          </a:p>
          <a:p>
            <a:pPr algn="ctr" indent="0" marL="0">
              <a:buNone/>
            </a:pPr>
            <a:r>
              <a:rPr lang="en-US" sz="1000" b="1" dirty="0">
                <a:solidFill>
                  <a:srgbClr val="2E7D73"/>
                </a:solidFill>
                <a:latin typeface="Arial" pitchFamily="34" charset="0"/>
                <a:ea typeface="Arial" pitchFamily="34" charset="-122"/>
                <a:cs typeface="Arial" pitchFamily="34" charset="-120"/>
              </a:rPr>
              <a:t>CHAT / SUPPORT</a:t>
            </a:r>
            <a:endParaRPr lang="en-US" sz="1000" dirty="0"/>
          </a:p>
        </p:txBody>
      </p:sp>
      <p:sp>
        <p:nvSpPr>
          <p:cNvPr id="20" name="Shape 18"/>
          <p:cNvSpPr/>
          <p:nvPr/>
        </p:nvSpPr>
        <p:spPr>
          <a:xfrm>
            <a:off x="7754112" y="1947672"/>
            <a:ext cx="3749040" cy="3931920"/>
          </a:xfrm>
          <a:prstGeom prst="roundRect">
            <a:avLst>
              <a:gd name="adj" fmla="val 1951"/>
            </a:avLst>
          </a:prstGeom>
          <a:solidFill>
            <a:srgbClr val="12232B"/>
          </a:solidFill>
          <a:ln w="12700">
            <a:solidFill>
              <a:srgbClr val="12232B">
                <a:alpha val="0"/>
              </a:srgbClr>
            </a:solidFill>
            <a:prstDash val="solid"/>
          </a:ln>
        </p:spPr>
      </p:sp>
      <p:sp>
        <p:nvSpPr>
          <p:cNvPr id="21" name="Text 19"/>
          <p:cNvSpPr/>
          <p:nvPr/>
        </p:nvSpPr>
        <p:spPr>
          <a:xfrm>
            <a:off x="8065008" y="2304288"/>
            <a:ext cx="1828800" cy="228600"/>
          </a:xfrm>
          <a:prstGeom prst="rect">
            <a:avLst/>
          </a:prstGeom>
          <a:noFill/>
          <a:ln/>
        </p:spPr>
        <p:txBody>
          <a:bodyPr wrap="square" lIns="0" tIns="0" rIns="0" bIns="0" rtlCol="0" anchor="ctr">
            <a:normAutofit/>
          </a:bodyPr>
          <a:lstStyle/>
          <a:p>
            <a:pPr algn="l" indent="0" marL="0">
              <a:buNone/>
            </a:pPr>
            <a:r>
              <a:rPr lang="en-US" sz="1100" b="1" spc="130" kern="0" dirty="0">
                <a:solidFill>
                  <a:srgbClr val="78AFA2"/>
                </a:solidFill>
                <a:latin typeface="Arial" pitchFamily="34" charset="0"/>
                <a:ea typeface="Arial" pitchFamily="34" charset="-122"/>
                <a:cs typeface="Arial" pitchFamily="34" charset="-120"/>
              </a:rPr>
              <a:t>THE JOURNEY</a:t>
            </a:r>
            <a:endParaRPr lang="en-US" sz="1100" dirty="0"/>
          </a:p>
        </p:txBody>
      </p:sp>
      <p:sp>
        <p:nvSpPr>
          <p:cNvPr id="22" name="Text 20"/>
          <p:cNvSpPr/>
          <p:nvPr/>
        </p:nvSpPr>
        <p:spPr>
          <a:xfrm>
            <a:off x="8065008" y="2852928"/>
            <a:ext cx="320040" cy="256032"/>
          </a:xfrm>
          <a:prstGeom prst="rect">
            <a:avLst/>
          </a:prstGeom>
          <a:noFill/>
          <a:ln/>
        </p:spPr>
        <p:txBody>
          <a:bodyPr wrap="square" lIns="0" tIns="0" rIns="0" bIns="0" rtlCol="0" anchor="ctr">
            <a:normAutofit/>
          </a:bodyPr>
          <a:lstStyle/>
          <a:p>
            <a:pPr algn="l" indent="0" marL="0">
              <a:buNone/>
            </a:pPr>
            <a:r>
              <a:rPr lang="en-US" sz="1200" b="1" dirty="0">
                <a:solidFill>
                  <a:srgbClr val="D9776A"/>
                </a:solidFill>
                <a:latin typeface="Arial" pitchFamily="34" charset="0"/>
                <a:ea typeface="Arial" pitchFamily="34" charset="-122"/>
                <a:cs typeface="Arial" pitchFamily="34" charset="-120"/>
              </a:rPr>
              <a:t>01</a:t>
            </a:r>
            <a:endParaRPr lang="en-US" sz="1200" dirty="0"/>
          </a:p>
        </p:txBody>
      </p:sp>
      <p:sp>
        <p:nvSpPr>
          <p:cNvPr id="23" name="Text 21"/>
          <p:cNvSpPr/>
          <p:nvPr/>
        </p:nvSpPr>
        <p:spPr>
          <a:xfrm>
            <a:off x="8549640" y="2816352"/>
            <a:ext cx="2423160" cy="320040"/>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rial" pitchFamily="34" charset="0"/>
                <a:ea typeface="Arial" pitchFamily="34" charset="-122"/>
                <a:cs typeface="Arial" pitchFamily="34" charset="-120"/>
              </a:rPr>
              <a:t>Name what is happening</a:t>
            </a:r>
            <a:endParaRPr lang="en-US" sz="1600" dirty="0"/>
          </a:p>
        </p:txBody>
      </p:sp>
      <p:sp>
        <p:nvSpPr>
          <p:cNvPr id="24" name="Text 22"/>
          <p:cNvSpPr/>
          <p:nvPr/>
        </p:nvSpPr>
        <p:spPr>
          <a:xfrm>
            <a:off x="8065008" y="3456432"/>
            <a:ext cx="320040" cy="256032"/>
          </a:xfrm>
          <a:prstGeom prst="rect">
            <a:avLst/>
          </a:prstGeom>
          <a:noFill/>
          <a:ln/>
        </p:spPr>
        <p:txBody>
          <a:bodyPr wrap="square" lIns="0" tIns="0" rIns="0" bIns="0" rtlCol="0" anchor="ctr">
            <a:normAutofit/>
          </a:bodyPr>
          <a:lstStyle/>
          <a:p>
            <a:pPr algn="l" indent="0" marL="0">
              <a:buNone/>
            </a:pPr>
            <a:r>
              <a:rPr lang="en-US" sz="1200" b="1" dirty="0">
                <a:solidFill>
                  <a:srgbClr val="D9776A"/>
                </a:solidFill>
                <a:latin typeface="Arial" pitchFamily="34" charset="0"/>
                <a:ea typeface="Arial" pitchFamily="34" charset="-122"/>
                <a:cs typeface="Arial" pitchFamily="34" charset="-120"/>
              </a:rPr>
              <a:t>02</a:t>
            </a:r>
            <a:endParaRPr lang="en-US" sz="1200" dirty="0"/>
          </a:p>
        </p:txBody>
      </p:sp>
      <p:sp>
        <p:nvSpPr>
          <p:cNvPr id="25" name="Text 23"/>
          <p:cNvSpPr/>
          <p:nvPr/>
        </p:nvSpPr>
        <p:spPr>
          <a:xfrm>
            <a:off x="8549640" y="3419856"/>
            <a:ext cx="2423160" cy="320040"/>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rial" pitchFamily="34" charset="0"/>
                <a:ea typeface="Arial" pitchFamily="34" charset="-122"/>
                <a:cs typeface="Arial" pitchFamily="34" charset="-120"/>
              </a:rPr>
              <a:t>Try one small practice</a:t>
            </a:r>
            <a:endParaRPr lang="en-US" sz="1600" dirty="0"/>
          </a:p>
        </p:txBody>
      </p:sp>
      <p:sp>
        <p:nvSpPr>
          <p:cNvPr id="26" name="Text 24"/>
          <p:cNvSpPr/>
          <p:nvPr/>
        </p:nvSpPr>
        <p:spPr>
          <a:xfrm>
            <a:off x="8065008" y="4059936"/>
            <a:ext cx="320040" cy="256032"/>
          </a:xfrm>
          <a:prstGeom prst="rect">
            <a:avLst/>
          </a:prstGeom>
          <a:noFill/>
          <a:ln/>
        </p:spPr>
        <p:txBody>
          <a:bodyPr wrap="square" lIns="0" tIns="0" rIns="0" bIns="0" rtlCol="0" anchor="ctr">
            <a:normAutofit/>
          </a:bodyPr>
          <a:lstStyle/>
          <a:p>
            <a:pPr algn="l" indent="0" marL="0">
              <a:buNone/>
            </a:pPr>
            <a:r>
              <a:rPr lang="en-US" sz="1200" b="1" dirty="0">
                <a:solidFill>
                  <a:srgbClr val="D9776A"/>
                </a:solidFill>
                <a:latin typeface="Arial" pitchFamily="34" charset="0"/>
                <a:ea typeface="Arial" pitchFamily="34" charset="-122"/>
                <a:cs typeface="Arial" pitchFamily="34" charset="-120"/>
              </a:rPr>
              <a:t>03</a:t>
            </a:r>
            <a:endParaRPr lang="en-US" sz="1200" dirty="0"/>
          </a:p>
        </p:txBody>
      </p:sp>
      <p:sp>
        <p:nvSpPr>
          <p:cNvPr id="27" name="Text 25"/>
          <p:cNvSpPr/>
          <p:nvPr/>
        </p:nvSpPr>
        <p:spPr>
          <a:xfrm>
            <a:off x="8549640" y="4023360"/>
            <a:ext cx="2423160" cy="320040"/>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rial" pitchFamily="34" charset="0"/>
                <a:ea typeface="Arial" pitchFamily="34" charset="-122"/>
                <a:cs typeface="Arial" pitchFamily="34" charset="-120"/>
              </a:rPr>
              <a:t>Talk it through</a:t>
            </a:r>
            <a:endParaRPr lang="en-US" sz="1600" dirty="0"/>
          </a:p>
        </p:txBody>
      </p:sp>
      <p:sp>
        <p:nvSpPr>
          <p:cNvPr id="28" name="Text 26"/>
          <p:cNvSpPr/>
          <p:nvPr/>
        </p:nvSpPr>
        <p:spPr>
          <a:xfrm>
            <a:off x="8065008" y="4663440"/>
            <a:ext cx="320040" cy="256032"/>
          </a:xfrm>
          <a:prstGeom prst="rect">
            <a:avLst/>
          </a:prstGeom>
          <a:noFill/>
          <a:ln/>
        </p:spPr>
        <p:txBody>
          <a:bodyPr wrap="square" lIns="0" tIns="0" rIns="0" bIns="0" rtlCol="0" anchor="ctr">
            <a:normAutofit/>
          </a:bodyPr>
          <a:lstStyle/>
          <a:p>
            <a:pPr algn="l" indent="0" marL="0">
              <a:buNone/>
            </a:pPr>
            <a:r>
              <a:rPr lang="en-US" sz="1200" b="1" dirty="0">
                <a:solidFill>
                  <a:srgbClr val="D9776A"/>
                </a:solidFill>
                <a:latin typeface="Arial" pitchFamily="34" charset="0"/>
                <a:ea typeface="Arial" pitchFamily="34" charset="-122"/>
                <a:cs typeface="Arial" pitchFamily="34" charset="-120"/>
              </a:rPr>
              <a:t>04</a:t>
            </a:r>
            <a:endParaRPr lang="en-US" sz="1200" dirty="0"/>
          </a:p>
        </p:txBody>
      </p:sp>
      <p:sp>
        <p:nvSpPr>
          <p:cNvPr id="29" name="Text 27"/>
          <p:cNvSpPr/>
          <p:nvPr/>
        </p:nvSpPr>
        <p:spPr>
          <a:xfrm>
            <a:off x="8549640" y="4626864"/>
            <a:ext cx="2423160" cy="320040"/>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rial" pitchFamily="34" charset="0"/>
                <a:ea typeface="Arial" pitchFamily="34" charset="-122"/>
                <a:cs typeface="Arial" pitchFamily="34" charset="-120"/>
              </a:rPr>
              <a:t>Find support if needed</a:t>
            </a:r>
            <a:endParaRPr lang="en-US" sz="1600" dirty="0"/>
          </a:p>
        </p:txBody>
      </p:sp>
      <p:sp>
        <p:nvSpPr>
          <p:cNvPr id="30" name="Text 28"/>
          <p:cNvSpPr/>
          <p:nvPr/>
        </p:nvSpPr>
        <p:spPr>
          <a:xfrm>
            <a:off x="8065008" y="5404104"/>
            <a:ext cx="2852928" cy="292608"/>
          </a:xfrm>
          <a:prstGeom prst="rect">
            <a:avLst/>
          </a:prstGeom>
          <a:noFill/>
          <a:ln/>
        </p:spPr>
        <p:txBody>
          <a:bodyPr wrap="square" lIns="0" tIns="0" rIns="0" bIns="0" rtlCol="0" anchor="ctr">
            <a:normAutofit/>
          </a:bodyPr>
          <a:lstStyle/>
          <a:p>
            <a:pPr algn="l" indent="0" marL="0">
              <a:buNone/>
            </a:pPr>
            <a:r>
              <a:rPr lang="en-US" sz="1200" dirty="0">
                <a:solidFill>
                  <a:srgbClr val="78AFA2"/>
                </a:solidFill>
                <a:latin typeface="Arial" pitchFamily="34" charset="0"/>
                <a:ea typeface="Arial" pitchFamily="34" charset="-122"/>
                <a:cs typeface="Arial" pitchFamily="34" charset="-120"/>
              </a:rPr>
              <a:t>The user can change direction at any time.</a:t>
            </a:r>
            <a:endParaRPr lang="en-US" sz="1200" dirty="0"/>
          </a:p>
        </p:txBody>
      </p:sp>
      <p:sp>
        <p:nvSpPr>
          <p:cNvPr id="31" name="Text 29"/>
          <p:cNvSpPr/>
          <p:nvPr/>
        </p:nvSpPr>
        <p:spPr>
          <a:xfrm>
            <a:off x="621792" y="6437376"/>
            <a:ext cx="1828800"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78908A"/>
                </a:solidFill>
                <a:latin typeface="Arial" pitchFamily="34" charset="0"/>
                <a:ea typeface="Arial" pitchFamily="34" charset="-122"/>
                <a:cs typeface="Arial" pitchFamily="34" charset="-120"/>
              </a:rPr>
              <a:t>MINDMATE</a:t>
            </a:r>
            <a:endParaRPr lang="en-US" sz="800" dirty="0"/>
          </a:p>
        </p:txBody>
      </p:sp>
      <p:sp>
        <p:nvSpPr>
          <p:cNvPr id="25" name="Slide Number Placeholder 0"/>
          <p:cNvSpPr>
            <a:spLocks noGrp="1"/>
          </p:cNvSpPr>
          <p:nvPr>
            <p:ph type="sldNum" sz="quarter" idx="4294967295"/>
          </p:nvPr>
        </p:nvSpPr>
        <p:spPr>
          <a:xfrm>
            <a:off x="11475720" y="647395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8908A"/>
                </a:solidFill>
                <a:latin typeface="Arial"/>
                <a:ea typeface="Arial"/>
                <a:cs typeface="Aria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21792" y="384048"/>
            <a:ext cx="5303520" cy="219456"/>
          </a:xfrm>
          <a:prstGeom prst="rect">
            <a:avLst/>
          </a:prstGeom>
          <a:noFill/>
          <a:ln/>
        </p:spPr>
        <p:txBody>
          <a:bodyPr wrap="square" lIns="0" tIns="0" rIns="0" bIns="0" rtlCol="0" anchor="ctr">
            <a:normAutofit/>
          </a:bodyPr>
          <a:lstStyle/>
          <a:p>
            <a:pPr algn="l" indent="0" marL="0">
              <a:buNone/>
            </a:pPr>
            <a:r>
              <a:rPr lang="en-US" sz="1000" b="1" spc="140" kern="0" dirty="0">
                <a:solidFill>
                  <a:srgbClr val="2E7D73"/>
                </a:solidFill>
                <a:latin typeface="Arial" pitchFamily="34" charset="0"/>
                <a:ea typeface="Arial" pitchFamily="34" charset="-122"/>
                <a:cs typeface="Arial" pitchFamily="34" charset="-120"/>
              </a:rPr>
              <a:t>04 / SAFETY BY DESIGN</a:t>
            </a:r>
            <a:endParaRPr lang="en-US" sz="1000" dirty="0"/>
          </a:p>
        </p:txBody>
      </p:sp>
      <p:sp>
        <p:nvSpPr>
          <p:cNvPr id="3" name="Text 1"/>
          <p:cNvSpPr/>
          <p:nvPr/>
        </p:nvSpPr>
        <p:spPr>
          <a:xfrm>
            <a:off x="621792" y="658368"/>
            <a:ext cx="10972800" cy="676656"/>
          </a:xfrm>
          <a:prstGeom prst="rect">
            <a:avLst/>
          </a:prstGeom>
          <a:noFill/>
          <a:ln/>
        </p:spPr>
        <p:txBody>
          <a:bodyPr wrap="square" lIns="0" tIns="0" rIns="0" bIns="0" rtlCol="0" anchor="ctr">
            <a:normAutofit/>
          </a:bodyPr>
          <a:lstStyle/>
          <a:p>
            <a:pPr algn="l" indent="0" marL="0">
              <a:buNone/>
            </a:pPr>
            <a:r>
              <a:rPr lang="en-US" sz="2800" b="1" dirty="0">
                <a:solidFill>
                  <a:srgbClr val="12232B"/>
                </a:solidFill>
                <a:latin typeface="Arial" pitchFamily="34" charset="0"/>
                <a:ea typeface="Arial" pitchFamily="34" charset="-122"/>
                <a:cs typeface="Arial" pitchFamily="34" charset="-120"/>
              </a:rPr>
              <a:t>Safe support, with clear boundaries</a:t>
            </a:r>
            <a:endParaRPr lang="en-US" sz="2800" dirty="0"/>
          </a:p>
        </p:txBody>
      </p:sp>
      <p:sp>
        <p:nvSpPr>
          <p:cNvPr id="4" name="Text 2"/>
          <p:cNvSpPr/>
          <p:nvPr/>
        </p:nvSpPr>
        <p:spPr>
          <a:xfrm>
            <a:off x="640080" y="1399032"/>
            <a:ext cx="10607040" cy="347472"/>
          </a:xfrm>
          <a:prstGeom prst="rect">
            <a:avLst/>
          </a:prstGeom>
          <a:noFill/>
          <a:ln/>
        </p:spPr>
        <p:txBody>
          <a:bodyPr wrap="square" lIns="0" tIns="0" rIns="0" bIns="0" rtlCol="0" anchor="ctr">
            <a:normAutofit/>
          </a:bodyPr>
          <a:lstStyle/>
          <a:p>
            <a:pPr algn="l" indent="0" marL="0">
              <a:buNone/>
            </a:pPr>
            <a:r>
              <a:rPr lang="en-US" sz="1300" dirty="0">
                <a:solidFill>
                  <a:srgbClr val="68767C"/>
                </a:solidFill>
                <a:latin typeface="Arial" pitchFamily="34" charset="0"/>
                <a:ea typeface="Arial" pitchFamily="34" charset="-122"/>
                <a:cs typeface="Arial" pitchFamily="34" charset="-120"/>
              </a:rPr>
              <a:t>MindMate is helpful inside clear boundaries.</a:t>
            </a:r>
            <a:endParaRPr lang="en-US" sz="1300" dirty="0"/>
          </a:p>
        </p:txBody>
      </p:sp>
      <p:sp>
        <p:nvSpPr>
          <p:cNvPr id="5" name="Shape 3"/>
          <p:cNvSpPr/>
          <p:nvPr/>
        </p:nvSpPr>
        <p:spPr>
          <a:xfrm>
            <a:off x="658368" y="2057400"/>
            <a:ext cx="3401568" cy="3456432"/>
          </a:xfrm>
          <a:prstGeom prst="roundRect">
            <a:avLst>
              <a:gd name="adj" fmla="val 2151"/>
            </a:avLst>
          </a:prstGeom>
          <a:solidFill>
            <a:srgbClr val="DDEEE9"/>
          </a:solidFill>
          <a:ln w="12700">
            <a:solidFill>
              <a:srgbClr val="DDEEE9">
                <a:alpha val="0"/>
              </a:srgbClr>
            </a:solidFill>
            <a:prstDash val="solid"/>
          </a:ln>
        </p:spPr>
      </p:sp>
      <p:sp>
        <p:nvSpPr>
          <p:cNvPr id="6" name="Text 4"/>
          <p:cNvSpPr/>
          <p:nvPr/>
        </p:nvSpPr>
        <p:spPr>
          <a:xfrm>
            <a:off x="877824" y="2258568"/>
            <a:ext cx="2962656" cy="310896"/>
          </a:xfrm>
          <a:prstGeom prst="rect">
            <a:avLst/>
          </a:prstGeom>
          <a:noFill/>
          <a:ln/>
        </p:spPr>
        <p:txBody>
          <a:bodyPr wrap="square" lIns="0" tIns="0" rIns="0" bIns="0" rtlCol="0" anchor="ctr">
            <a:normAutofit/>
          </a:bodyPr>
          <a:lstStyle/>
          <a:p>
            <a:pPr algn="l" indent="0" marL="0">
              <a:buNone/>
            </a:pPr>
            <a:r>
              <a:rPr lang="en-US" sz="1400" b="1" spc="80" kern="0" dirty="0">
                <a:solidFill>
                  <a:srgbClr val="2E7D73"/>
                </a:solidFill>
                <a:latin typeface="Arial" pitchFamily="34" charset="0"/>
                <a:ea typeface="Arial" pitchFamily="34" charset="-122"/>
                <a:cs typeface="Arial" pitchFamily="34" charset="-120"/>
              </a:rPr>
              <a:t>01 / WHAT MINDMATE DOES</a:t>
            </a:r>
            <a:endParaRPr lang="en-US" sz="1400" dirty="0"/>
          </a:p>
        </p:txBody>
      </p:sp>
      <p:sp>
        <p:nvSpPr>
          <p:cNvPr id="7" name="Text 5"/>
          <p:cNvSpPr/>
          <p:nvPr/>
        </p:nvSpPr>
        <p:spPr>
          <a:xfrm>
            <a:off x="877824" y="2697480"/>
            <a:ext cx="2962656" cy="2377440"/>
          </a:xfrm>
          <a:prstGeom prst="rect">
            <a:avLst/>
          </a:prstGeom>
          <a:noFill/>
          <a:ln/>
        </p:spPr>
        <p:txBody>
          <a:bodyPr wrap="square" lIns="0" tIns="0" rIns="0" bIns="0" rtlCol="0" anchor="ctr">
            <a:normAutofit/>
          </a:bodyPr>
          <a:lstStyle/>
          <a:p>
            <a:pPr algn="l" indent="0" marL="0">
              <a:buNone/>
            </a:pPr>
            <a:r>
              <a:rPr lang="en-US" sz="1350" dirty="0">
                <a:solidFill>
                  <a:srgbClr val="12232B"/>
                </a:solidFill>
                <a:latin typeface="Arial" pitchFamily="34" charset="0"/>
                <a:ea typeface="Arial" pitchFamily="34" charset="-122"/>
                <a:cs typeface="Arial" pitchFamily="34" charset="-120"/>
              </a:rPr>
              <a:t>MindMate starts by acknowledging what the user is experiencing, then offers one practical next step and keeps human support visible throughout the journey.</a:t>
            </a:r>
            <a:endParaRPr lang="en-US" sz="1350" dirty="0"/>
          </a:p>
        </p:txBody>
      </p:sp>
      <p:sp>
        <p:nvSpPr>
          <p:cNvPr id="8" name="Text 6"/>
          <p:cNvSpPr/>
          <p:nvPr/>
        </p:nvSpPr>
        <p:spPr>
          <a:xfrm>
            <a:off x="877824" y="5129784"/>
            <a:ext cx="2962656" cy="219456"/>
          </a:xfrm>
          <a:prstGeom prst="rect">
            <a:avLst/>
          </a:prstGeom>
          <a:noFill/>
          <a:ln/>
        </p:spPr>
        <p:txBody>
          <a:bodyPr wrap="square" lIns="0" tIns="0" rIns="0" bIns="0" rtlCol="0" anchor="ctr">
            <a:normAutofit/>
          </a:bodyPr>
          <a:lstStyle/>
          <a:p>
            <a:pPr algn="l" indent="0" marL="0">
              <a:buNone/>
            </a:pPr>
            <a:r>
              <a:rPr lang="en-US" sz="1100" b="1" dirty="0">
                <a:solidFill>
                  <a:srgbClr val="D9776A"/>
                </a:solidFill>
                <a:latin typeface="Arial" pitchFamily="34" charset="0"/>
                <a:ea typeface="Arial" pitchFamily="34" charset="-122"/>
                <a:cs typeface="Arial" pitchFamily="34" charset="-120"/>
              </a:rPr>
              <a:t>Support first. Then guide.</a:t>
            </a:r>
            <a:endParaRPr lang="en-US" sz="1100" dirty="0"/>
          </a:p>
        </p:txBody>
      </p:sp>
      <p:sp>
        <p:nvSpPr>
          <p:cNvPr id="9" name="Shape 7"/>
          <p:cNvSpPr/>
          <p:nvPr/>
        </p:nvSpPr>
        <p:spPr>
          <a:xfrm>
            <a:off x="4425696" y="2057400"/>
            <a:ext cx="3401568" cy="3456432"/>
          </a:xfrm>
          <a:prstGeom prst="roundRect">
            <a:avLst>
              <a:gd name="adj" fmla="val 2151"/>
            </a:avLst>
          </a:prstGeom>
          <a:solidFill>
            <a:srgbClr val="F4E7D4"/>
          </a:solidFill>
          <a:ln w="12700">
            <a:solidFill>
              <a:srgbClr val="F4E7D4">
                <a:alpha val="0"/>
              </a:srgbClr>
            </a:solidFill>
            <a:prstDash val="solid"/>
          </a:ln>
        </p:spPr>
      </p:sp>
      <p:sp>
        <p:nvSpPr>
          <p:cNvPr id="10" name="Text 8"/>
          <p:cNvSpPr/>
          <p:nvPr/>
        </p:nvSpPr>
        <p:spPr>
          <a:xfrm>
            <a:off x="4645152" y="2258568"/>
            <a:ext cx="2962656" cy="310896"/>
          </a:xfrm>
          <a:prstGeom prst="rect">
            <a:avLst/>
          </a:prstGeom>
          <a:noFill/>
          <a:ln/>
        </p:spPr>
        <p:txBody>
          <a:bodyPr wrap="square" lIns="0" tIns="0" rIns="0" bIns="0" rtlCol="0" anchor="ctr">
            <a:normAutofit/>
          </a:bodyPr>
          <a:lstStyle/>
          <a:p>
            <a:pPr algn="l" indent="0" marL="0">
              <a:buNone/>
            </a:pPr>
            <a:r>
              <a:rPr lang="en-US" sz="1400" b="1" spc="80" kern="0" dirty="0">
                <a:solidFill>
                  <a:srgbClr val="2E7D73"/>
                </a:solidFill>
                <a:latin typeface="Arial" pitchFamily="34" charset="0"/>
                <a:ea typeface="Arial" pitchFamily="34" charset="-122"/>
                <a:cs typeface="Arial" pitchFamily="34" charset="-120"/>
              </a:rPr>
              <a:t>02 / WHEN RISK APPEARS</a:t>
            </a:r>
            <a:endParaRPr lang="en-US" sz="1400" dirty="0"/>
          </a:p>
        </p:txBody>
      </p:sp>
      <p:sp>
        <p:nvSpPr>
          <p:cNvPr id="11" name="Text 9"/>
          <p:cNvSpPr/>
          <p:nvPr/>
        </p:nvSpPr>
        <p:spPr>
          <a:xfrm>
            <a:off x="4645152" y="2697480"/>
            <a:ext cx="2962656" cy="2377440"/>
          </a:xfrm>
          <a:prstGeom prst="rect">
            <a:avLst/>
          </a:prstGeom>
          <a:noFill/>
          <a:ln/>
        </p:spPr>
        <p:txBody>
          <a:bodyPr wrap="square" lIns="0" tIns="0" rIns="0" bIns="0" rtlCol="0" anchor="ctr">
            <a:normAutofit/>
          </a:bodyPr>
          <a:lstStyle/>
          <a:p>
            <a:pPr algn="l" indent="0" marL="0">
              <a:buNone/>
            </a:pPr>
            <a:r>
              <a:rPr lang="en-US" sz="1350" dirty="0">
                <a:solidFill>
                  <a:srgbClr val="12232B"/>
                </a:solidFill>
                <a:latin typeface="Arial" pitchFamily="34" charset="0"/>
                <a:ea typeface="Arial" pitchFamily="34" charset="-122"/>
                <a:cs typeface="Arial" pitchFamily="34" charset="-120"/>
              </a:rPr>
              <a:t>When a conversation indicates that more immediate support may be needed, MindMate moves the user toward a clear Emergency Support option rather than trying to handle the situation alone.</a:t>
            </a:r>
            <a:endParaRPr lang="en-US" sz="1350" dirty="0"/>
          </a:p>
        </p:txBody>
      </p:sp>
      <p:sp>
        <p:nvSpPr>
          <p:cNvPr id="12" name="Text 10"/>
          <p:cNvSpPr/>
          <p:nvPr/>
        </p:nvSpPr>
        <p:spPr>
          <a:xfrm>
            <a:off x="4645152" y="5129784"/>
            <a:ext cx="2962656" cy="219456"/>
          </a:xfrm>
          <a:prstGeom prst="rect">
            <a:avLst/>
          </a:prstGeom>
          <a:noFill/>
          <a:ln/>
        </p:spPr>
        <p:txBody>
          <a:bodyPr wrap="square" lIns="0" tIns="0" rIns="0" bIns="0" rtlCol="0" anchor="ctr">
            <a:normAutofit/>
          </a:bodyPr>
          <a:lstStyle/>
          <a:p>
            <a:pPr algn="l" indent="0" marL="0">
              <a:buNone/>
            </a:pPr>
            <a:r>
              <a:rPr lang="en-US" sz="1100" b="1" dirty="0">
                <a:solidFill>
                  <a:srgbClr val="D9776A"/>
                </a:solidFill>
                <a:latin typeface="Arial" pitchFamily="34" charset="0"/>
                <a:ea typeface="Arial" pitchFamily="34" charset="-122"/>
                <a:cs typeface="Arial" pitchFamily="34" charset="-120"/>
              </a:rPr>
              <a:t>A clear route to immediate support</a:t>
            </a:r>
            <a:endParaRPr lang="en-US" sz="1100" dirty="0"/>
          </a:p>
        </p:txBody>
      </p:sp>
      <p:sp>
        <p:nvSpPr>
          <p:cNvPr id="13" name="Shape 11"/>
          <p:cNvSpPr/>
          <p:nvPr/>
        </p:nvSpPr>
        <p:spPr>
          <a:xfrm>
            <a:off x="8193024" y="2057400"/>
            <a:ext cx="3401568" cy="3456432"/>
          </a:xfrm>
          <a:prstGeom prst="roundRect">
            <a:avLst>
              <a:gd name="adj" fmla="val 2151"/>
            </a:avLst>
          </a:prstGeom>
          <a:solidFill>
            <a:srgbClr val="D9776A"/>
          </a:solidFill>
          <a:ln w="12700">
            <a:solidFill>
              <a:srgbClr val="D9776A">
                <a:alpha val="0"/>
              </a:srgbClr>
            </a:solidFill>
            <a:prstDash val="solid"/>
          </a:ln>
        </p:spPr>
      </p:sp>
      <p:sp>
        <p:nvSpPr>
          <p:cNvPr id="14" name="Text 12"/>
          <p:cNvSpPr/>
          <p:nvPr/>
        </p:nvSpPr>
        <p:spPr>
          <a:xfrm>
            <a:off x="8412480" y="2258568"/>
            <a:ext cx="2962656" cy="310896"/>
          </a:xfrm>
          <a:prstGeom prst="rect">
            <a:avLst/>
          </a:prstGeom>
          <a:noFill/>
          <a:ln/>
        </p:spPr>
        <p:txBody>
          <a:bodyPr wrap="square" lIns="0" tIns="0" rIns="0" bIns="0" rtlCol="0" anchor="ctr">
            <a:normAutofit/>
          </a:bodyPr>
          <a:lstStyle/>
          <a:p>
            <a:pPr algn="l" indent="0" marL="0">
              <a:buNone/>
            </a:pPr>
            <a:r>
              <a:rPr lang="en-US" sz="1400" b="1" spc="80" kern="0" dirty="0">
                <a:solidFill>
                  <a:srgbClr val="78AFA2"/>
                </a:solidFill>
                <a:latin typeface="Arial" pitchFamily="34" charset="0"/>
                <a:ea typeface="Arial" pitchFamily="34" charset="-122"/>
                <a:cs typeface="Arial" pitchFamily="34" charset="-120"/>
              </a:rPr>
              <a:t>03 / WHAT IT WILL NOT DO</a:t>
            </a:r>
            <a:endParaRPr lang="en-US" sz="1400" dirty="0"/>
          </a:p>
        </p:txBody>
      </p:sp>
      <p:sp>
        <p:nvSpPr>
          <p:cNvPr id="15" name="Text 13"/>
          <p:cNvSpPr/>
          <p:nvPr/>
        </p:nvSpPr>
        <p:spPr>
          <a:xfrm>
            <a:off x="8412480" y="2697480"/>
            <a:ext cx="2962656" cy="2377440"/>
          </a:xfrm>
          <a:prstGeom prst="rect">
            <a:avLst/>
          </a:prstGeom>
          <a:noFill/>
          <a:ln/>
        </p:spPr>
        <p:txBody>
          <a:bodyPr wrap="square" lIns="0" tIns="0" rIns="0" bIns="0" rtlCol="0" anchor="ctr">
            <a:normAutofit/>
          </a:bodyPr>
          <a:lstStyle/>
          <a:p>
            <a:pPr algn="l" indent="0" marL="0">
              <a:buNone/>
            </a:pPr>
            <a:r>
              <a:rPr lang="en-US" sz="1350" dirty="0">
                <a:solidFill>
                  <a:srgbClr val="FFFFFF"/>
                </a:solidFill>
                <a:latin typeface="Arial" pitchFamily="34" charset="0"/>
                <a:ea typeface="Arial" pitchFamily="34" charset="-122"/>
                <a:cs typeface="Arial" pitchFamily="34" charset="-120"/>
              </a:rPr>
              <a:t>MindMate does not replace professional care, make clinical decisions, or take action outside the user’s control.</a:t>
            </a:r>
            <a:endParaRPr lang="en-US" sz="1350" dirty="0"/>
          </a:p>
        </p:txBody>
      </p:sp>
      <p:sp>
        <p:nvSpPr>
          <p:cNvPr id="16" name="Text 14"/>
          <p:cNvSpPr/>
          <p:nvPr/>
        </p:nvSpPr>
        <p:spPr>
          <a:xfrm>
            <a:off x="8412480" y="5129784"/>
            <a:ext cx="2962656" cy="219456"/>
          </a:xfrm>
          <a:prstGeom prst="rect">
            <a:avLst/>
          </a:prstGeom>
          <a:noFill/>
          <a:ln/>
        </p:spPr>
        <p:txBody>
          <a:bodyPr wrap="square" lIns="0" tIns="0" rIns="0" bIns="0" rtlCol="0" anchor="ctr">
            <a:normAutofit/>
          </a:bodyPr>
          <a:lstStyle/>
          <a:p>
            <a:pPr algn="l" indent="0" marL="0">
              <a:buNone/>
            </a:pPr>
            <a:r>
              <a:rPr lang="en-US" sz="1100" b="1" dirty="0">
                <a:solidFill>
                  <a:srgbClr val="F4E7D4"/>
                </a:solidFill>
                <a:latin typeface="Arial" pitchFamily="34" charset="0"/>
                <a:ea typeface="Arial" pitchFamily="34" charset="-122"/>
                <a:cs typeface="Arial" pitchFamily="34" charset="-120"/>
              </a:rPr>
              <a:t>Clear boundaries. User control.</a:t>
            </a:r>
            <a:endParaRPr lang="en-US" sz="1100" dirty="0"/>
          </a:p>
        </p:txBody>
      </p:sp>
      <p:sp>
        <p:nvSpPr>
          <p:cNvPr id="17" name="Shape 15"/>
          <p:cNvSpPr/>
          <p:nvPr/>
        </p:nvSpPr>
        <p:spPr>
          <a:xfrm>
            <a:off x="2103120" y="5715000"/>
            <a:ext cx="8001000" cy="384048"/>
          </a:xfrm>
          <a:prstGeom prst="roundRect">
            <a:avLst>
              <a:gd name="adj" fmla="val 19048"/>
            </a:avLst>
          </a:prstGeom>
          <a:solidFill>
            <a:srgbClr val="12232B"/>
          </a:solidFill>
          <a:ln w="12700">
            <a:solidFill>
              <a:srgbClr val="12232B">
                <a:alpha val="0"/>
              </a:srgbClr>
            </a:solidFill>
            <a:prstDash val="solid"/>
          </a:ln>
        </p:spPr>
      </p:sp>
      <p:sp>
        <p:nvSpPr>
          <p:cNvPr id="18" name="Text 16"/>
          <p:cNvSpPr/>
          <p:nvPr/>
        </p:nvSpPr>
        <p:spPr>
          <a:xfrm>
            <a:off x="2304288" y="5788152"/>
            <a:ext cx="7589520" cy="201168"/>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Arial" pitchFamily="34" charset="0"/>
                <a:ea typeface="Arial" pitchFamily="34" charset="-122"/>
                <a:cs typeface="Arial" pitchFamily="34" charset="-120"/>
              </a:rPr>
              <a:t>Supportive by design. Honest about its limits.</a:t>
            </a:r>
            <a:endParaRPr lang="en-US" sz="1200" dirty="0"/>
          </a:p>
        </p:txBody>
      </p:sp>
      <p:sp>
        <p:nvSpPr>
          <p:cNvPr id="19" name="Text 17"/>
          <p:cNvSpPr/>
          <p:nvPr/>
        </p:nvSpPr>
        <p:spPr>
          <a:xfrm>
            <a:off x="621792" y="6437376"/>
            <a:ext cx="1828800"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78908A"/>
                </a:solidFill>
                <a:latin typeface="Arial" pitchFamily="34" charset="0"/>
                <a:ea typeface="Arial" pitchFamily="34" charset="-122"/>
                <a:cs typeface="Arial" pitchFamily="34" charset="-120"/>
              </a:rPr>
              <a:t>MINDMATE</a:t>
            </a:r>
            <a:endParaRPr lang="en-US" sz="800" dirty="0"/>
          </a:p>
        </p:txBody>
      </p:sp>
      <p:sp>
        <p:nvSpPr>
          <p:cNvPr id="25" name="Slide Number Placeholder 0"/>
          <p:cNvSpPr>
            <a:spLocks noGrp="1"/>
          </p:cNvSpPr>
          <p:nvPr>
            <p:ph type="sldNum" sz="quarter" idx="4294967295"/>
          </p:nvPr>
        </p:nvSpPr>
        <p:spPr>
          <a:xfrm>
            <a:off x="11475720" y="647395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8908A"/>
                </a:solidFill>
                <a:latin typeface="Arial"/>
                <a:ea typeface="Arial"/>
                <a:cs typeface="Aria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21792" y="384048"/>
            <a:ext cx="5303520" cy="219456"/>
          </a:xfrm>
          <a:prstGeom prst="rect">
            <a:avLst/>
          </a:prstGeom>
          <a:noFill/>
          <a:ln/>
        </p:spPr>
        <p:txBody>
          <a:bodyPr wrap="square" lIns="0" tIns="0" rIns="0" bIns="0" rtlCol="0" anchor="ctr">
            <a:normAutofit/>
          </a:bodyPr>
          <a:lstStyle/>
          <a:p>
            <a:pPr algn="l" indent="0" marL="0">
              <a:buNone/>
            </a:pPr>
            <a:r>
              <a:rPr lang="en-US" sz="1000" b="1" spc="140" kern="0" dirty="0">
                <a:solidFill>
                  <a:srgbClr val="2E7D73"/>
                </a:solidFill>
                <a:latin typeface="Arial" pitchFamily="34" charset="0"/>
                <a:ea typeface="Arial" pitchFamily="34" charset="-122"/>
                <a:cs typeface="Arial" pitchFamily="34" charset="-120"/>
              </a:rPr>
              <a:t>05 / THE DIFFERENCE</a:t>
            </a:r>
            <a:endParaRPr lang="en-US" sz="1000" dirty="0"/>
          </a:p>
        </p:txBody>
      </p:sp>
      <p:sp>
        <p:nvSpPr>
          <p:cNvPr id="3" name="Text 1"/>
          <p:cNvSpPr/>
          <p:nvPr/>
        </p:nvSpPr>
        <p:spPr>
          <a:xfrm>
            <a:off x="621792" y="658368"/>
            <a:ext cx="10972800" cy="676656"/>
          </a:xfrm>
          <a:prstGeom prst="rect">
            <a:avLst/>
          </a:prstGeom>
          <a:noFill/>
          <a:ln/>
        </p:spPr>
        <p:txBody>
          <a:bodyPr wrap="square" lIns="0" tIns="0" rIns="0" bIns="0" rtlCol="0" anchor="ctr">
            <a:normAutofit/>
          </a:bodyPr>
          <a:lstStyle/>
          <a:p>
            <a:pPr algn="l" indent="0" marL="0">
              <a:buNone/>
            </a:pPr>
            <a:r>
              <a:rPr lang="en-US" sz="2800" b="1" dirty="0">
                <a:solidFill>
                  <a:srgbClr val="12232B"/>
                </a:solidFill>
                <a:latin typeface="Arial" pitchFamily="34" charset="0"/>
                <a:ea typeface="Arial" pitchFamily="34" charset="-122"/>
                <a:cs typeface="Arial" pitchFamily="34" charset="-120"/>
              </a:rPr>
              <a:t>MindMate brings the whole support journey together</a:t>
            </a:r>
            <a:endParaRPr lang="en-US" sz="2800" dirty="0"/>
          </a:p>
        </p:txBody>
      </p:sp>
      <p:sp>
        <p:nvSpPr>
          <p:cNvPr id="4" name="Text 2"/>
          <p:cNvSpPr/>
          <p:nvPr/>
        </p:nvSpPr>
        <p:spPr>
          <a:xfrm>
            <a:off x="640080" y="1399032"/>
            <a:ext cx="10607040" cy="347472"/>
          </a:xfrm>
          <a:prstGeom prst="rect">
            <a:avLst/>
          </a:prstGeom>
          <a:noFill/>
          <a:ln/>
        </p:spPr>
        <p:txBody>
          <a:bodyPr wrap="square" lIns="0" tIns="0" rIns="0" bIns="0" rtlCol="0" anchor="ctr">
            <a:normAutofit/>
          </a:bodyPr>
          <a:lstStyle/>
          <a:p>
            <a:pPr algn="l" indent="0" marL="0">
              <a:buNone/>
            </a:pPr>
            <a:r>
              <a:rPr lang="en-US" sz="1300" dirty="0">
                <a:solidFill>
                  <a:srgbClr val="68767C"/>
                </a:solidFill>
                <a:latin typeface="Arial" pitchFamily="34" charset="0"/>
                <a:ea typeface="Arial" pitchFamily="34" charset="-122"/>
                <a:cs typeface="Arial" pitchFamily="34" charset="-120"/>
              </a:rPr>
              <a:t>Many wellbeing tools focus on one part of the experience. MindMate connects awareness, action, conversation, and human support.</a:t>
            </a:r>
            <a:endParaRPr lang="en-US" sz="1300" dirty="0"/>
          </a:p>
        </p:txBody>
      </p:sp>
      <p:sp>
        <p:nvSpPr>
          <p:cNvPr id="5" name="Shape 3"/>
          <p:cNvSpPr/>
          <p:nvPr/>
        </p:nvSpPr>
        <p:spPr>
          <a:xfrm>
            <a:off x="658368" y="1993392"/>
            <a:ext cx="1417320" cy="987552"/>
          </a:xfrm>
          <a:prstGeom prst="roundRect">
            <a:avLst>
              <a:gd name="adj" fmla="val 7407"/>
            </a:avLst>
          </a:prstGeom>
          <a:solidFill>
            <a:srgbClr val="12232B"/>
          </a:solidFill>
          <a:ln w="12700">
            <a:solidFill>
              <a:srgbClr val="12232B">
                <a:alpha val="0"/>
              </a:srgbClr>
            </a:solidFill>
            <a:prstDash val="solid"/>
          </a:ln>
        </p:spPr>
      </p:sp>
      <p:sp>
        <p:nvSpPr>
          <p:cNvPr id="6" name="Text 4"/>
          <p:cNvSpPr/>
          <p:nvPr/>
        </p:nvSpPr>
        <p:spPr>
          <a:xfrm>
            <a:off x="822960" y="2194560"/>
            <a:ext cx="1078992" cy="256032"/>
          </a:xfrm>
          <a:prstGeom prst="rect">
            <a:avLst/>
          </a:prstGeom>
          <a:noFill/>
          <a:ln/>
        </p:spPr>
        <p:txBody>
          <a:bodyPr wrap="square" lIns="0" tIns="0" rIns="0" bIns="0" rtlCol="0" anchor="ctr">
            <a:normAutofit/>
          </a:bodyPr>
          <a:lstStyle/>
          <a:p>
            <a:pPr algn="l" indent="0" marL="0">
              <a:buNone/>
            </a:pPr>
            <a:r>
              <a:rPr lang="en-US" sz="1100" b="1" dirty="0">
                <a:solidFill>
                  <a:srgbClr val="78AFA2"/>
                </a:solidFill>
                <a:latin typeface="Arial" pitchFamily="34" charset="0"/>
                <a:ea typeface="Arial" pitchFamily="34" charset="-122"/>
                <a:cs typeface="Arial" pitchFamily="34" charset="-120"/>
              </a:rPr>
              <a:t>CHECK-IN</a:t>
            </a:r>
            <a:endParaRPr lang="en-US" sz="1100" dirty="0"/>
          </a:p>
        </p:txBody>
      </p:sp>
      <p:sp>
        <p:nvSpPr>
          <p:cNvPr id="7" name="Shape 5"/>
          <p:cNvSpPr/>
          <p:nvPr/>
        </p:nvSpPr>
        <p:spPr>
          <a:xfrm>
            <a:off x="2267712" y="1993392"/>
            <a:ext cx="2953512" cy="987552"/>
          </a:xfrm>
          <a:prstGeom prst="roundRect">
            <a:avLst>
              <a:gd name="adj" fmla="val 7407"/>
            </a:avLst>
          </a:prstGeom>
          <a:solidFill>
            <a:srgbClr val="F4E7D4"/>
          </a:solidFill>
          <a:ln w="12700">
            <a:solidFill>
              <a:srgbClr val="F4E7D4">
                <a:alpha val="0"/>
              </a:srgbClr>
            </a:solidFill>
            <a:prstDash val="solid"/>
          </a:ln>
        </p:spPr>
      </p:sp>
      <p:sp>
        <p:nvSpPr>
          <p:cNvPr id="8" name="Text 6"/>
          <p:cNvSpPr/>
          <p:nvPr/>
        </p:nvSpPr>
        <p:spPr>
          <a:xfrm>
            <a:off x="2487168" y="2112264"/>
            <a:ext cx="2468880" cy="182880"/>
          </a:xfrm>
          <a:prstGeom prst="rect">
            <a:avLst/>
          </a:prstGeom>
          <a:noFill/>
          <a:ln/>
        </p:spPr>
        <p:txBody>
          <a:bodyPr wrap="square" lIns="0" tIns="0" rIns="0" bIns="0" rtlCol="0" anchor="ctr">
            <a:normAutofit/>
          </a:bodyPr>
          <a:lstStyle/>
          <a:p>
            <a:pPr algn="l" indent="0" marL="0">
              <a:buNone/>
            </a:pPr>
            <a:r>
              <a:rPr lang="en-US" sz="900" b="1" spc="80" kern="0" dirty="0">
                <a:solidFill>
                  <a:srgbClr val="2E7D73"/>
                </a:solidFill>
                <a:latin typeface="Arial" pitchFamily="34" charset="0"/>
                <a:ea typeface="Arial" pitchFamily="34" charset="-122"/>
                <a:cs typeface="Arial" pitchFamily="34" charset="-120"/>
              </a:rPr>
              <a:t>OTHER APPROACHES</a:t>
            </a:r>
            <a:endParaRPr lang="en-US" sz="900" dirty="0"/>
          </a:p>
        </p:txBody>
      </p:sp>
      <p:sp>
        <p:nvSpPr>
          <p:cNvPr id="9" name="Text 7"/>
          <p:cNvSpPr/>
          <p:nvPr/>
        </p:nvSpPr>
        <p:spPr>
          <a:xfrm>
            <a:off x="2487168" y="2359152"/>
            <a:ext cx="2432304" cy="457200"/>
          </a:xfrm>
          <a:prstGeom prst="rect">
            <a:avLst/>
          </a:prstGeom>
          <a:noFill/>
          <a:ln/>
        </p:spPr>
        <p:txBody>
          <a:bodyPr wrap="square" lIns="0" tIns="0" rIns="0" bIns="0" rtlCol="0" anchor="ctr">
            <a:normAutofit/>
          </a:bodyPr>
          <a:lstStyle/>
          <a:p>
            <a:pPr algn="l" indent="0" marL="0">
              <a:buNone/>
            </a:pPr>
            <a:r>
              <a:rPr lang="en-US" sz="1150" dirty="0">
                <a:solidFill>
                  <a:srgbClr val="12232B"/>
                </a:solidFill>
                <a:latin typeface="Arial" pitchFamily="34" charset="0"/>
                <a:ea typeface="Arial" pitchFamily="34" charset="-122"/>
                <a:cs typeface="Arial" pitchFamily="34" charset="-120"/>
              </a:rPr>
              <a:t>People may receive a mood score or a general reflection space, but what to do next can remain unclear.</a:t>
            </a:r>
            <a:endParaRPr lang="en-US" sz="1150" dirty="0"/>
          </a:p>
        </p:txBody>
      </p:sp>
      <p:sp>
        <p:nvSpPr>
          <p:cNvPr id="10" name="Shape 8"/>
          <p:cNvSpPr/>
          <p:nvPr/>
        </p:nvSpPr>
        <p:spPr>
          <a:xfrm>
            <a:off x="5404104" y="1993392"/>
            <a:ext cx="3346704" cy="987552"/>
          </a:xfrm>
          <a:prstGeom prst="roundRect">
            <a:avLst>
              <a:gd name="adj" fmla="val 7407"/>
            </a:avLst>
          </a:prstGeom>
          <a:solidFill>
            <a:srgbClr val="DDEEE9"/>
          </a:solidFill>
          <a:ln w="12700">
            <a:solidFill>
              <a:srgbClr val="DDEEE9">
                <a:alpha val="0"/>
              </a:srgbClr>
            </a:solidFill>
            <a:prstDash val="solid"/>
          </a:ln>
        </p:spPr>
      </p:sp>
      <p:sp>
        <p:nvSpPr>
          <p:cNvPr id="11" name="Text 9"/>
          <p:cNvSpPr/>
          <p:nvPr/>
        </p:nvSpPr>
        <p:spPr>
          <a:xfrm>
            <a:off x="5641848" y="2112264"/>
            <a:ext cx="2331720" cy="182880"/>
          </a:xfrm>
          <a:prstGeom prst="rect">
            <a:avLst/>
          </a:prstGeom>
          <a:noFill/>
          <a:ln/>
        </p:spPr>
        <p:txBody>
          <a:bodyPr wrap="square" lIns="0" tIns="0" rIns="0" bIns="0" rtlCol="0" anchor="ctr">
            <a:normAutofit/>
          </a:bodyPr>
          <a:lstStyle/>
          <a:p>
            <a:pPr algn="l" indent="0" marL="0">
              <a:buNone/>
            </a:pPr>
            <a:r>
              <a:rPr lang="en-US" sz="900" b="1" spc="80" kern="0" dirty="0">
                <a:solidFill>
                  <a:srgbClr val="2E7D73"/>
                </a:solidFill>
                <a:latin typeface="Arial" pitchFamily="34" charset="0"/>
                <a:ea typeface="Arial" pitchFamily="34" charset="-122"/>
                <a:cs typeface="Arial" pitchFamily="34" charset="-120"/>
              </a:rPr>
              <a:t>MINDMATE</a:t>
            </a:r>
            <a:endParaRPr lang="en-US" sz="900" dirty="0"/>
          </a:p>
        </p:txBody>
      </p:sp>
      <p:sp>
        <p:nvSpPr>
          <p:cNvPr id="12" name="Text 10"/>
          <p:cNvSpPr/>
          <p:nvPr/>
        </p:nvSpPr>
        <p:spPr>
          <a:xfrm>
            <a:off x="5641848" y="2359152"/>
            <a:ext cx="2761488" cy="457200"/>
          </a:xfrm>
          <a:prstGeom prst="rect">
            <a:avLst/>
          </a:prstGeom>
          <a:noFill/>
          <a:ln/>
        </p:spPr>
        <p:txBody>
          <a:bodyPr wrap="square" lIns="0" tIns="0" rIns="0" bIns="0" rtlCol="0" anchor="ctr">
            <a:normAutofit/>
          </a:bodyPr>
          <a:lstStyle/>
          <a:p>
            <a:pPr algn="l" indent="0" marL="0">
              <a:buNone/>
            </a:pPr>
            <a:r>
              <a:rPr lang="en-US" sz="1150" dirty="0">
                <a:solidFill>
                  <a:srgbClr val="12232B"/>
                </a:solidFill>
                <a:latin typeface="Arial" pitchFamily="34" charset="0"/>
                <a:ea typeface="Arial" pitchFamily="34" charset="-122"/>
                <a:cs typeface="Arial" pitchFamily="34" charset="-120"/>
              </a:rPr>
              <a:t>Turns the check-in into a starting point for a personalised next step.</a:t>
            </a:r>
            <a:endParaRPr lang="en-US" sz="1150" dirty="0"/>
          </a:p>
        </p:txBody>
      </p:sp>
      <p:sp>
        <p:nvSpPr>
          <p:cNvPr id="13" name="Shape 11"/>
          <p:cNvSpPr/>
          <p:nvPr/>
        </p:nvSpPr>
        <p:spPr>
          <a:xfrm>
            <a:off x="8961120" y="1993392"/>
            <a:ext cx="2578608" cy="987552"/>
          </a:xfrm>
          <a:prstGeom prst="roundRect">
            <a:avLst>
              <a:gd name="adj" fmla="val 7407"/>
            </a:avLst>
          </a:prstGeom>
          <a:solidFill>
            <a:srgbClr val="D9776A"/>
          </a:solidFill>
          <a:ln w="12700">
            <a:solidFill>
              <a:srgbClr val="D9776A">
                <a:alpha val="0"/>
              </a:srgbClr>
            </a:solidFill>
            <a:prstDash val="solid"/>
          </a:ln>
        </p:spPr>
      </p:sp>
      <p:sp>
        <p:nvSpPr>
          <p:cNvPr id="14" name="Text 12"/>
          <p:cNvSpPr/>
          <p:nvPr/>
        </p:nvSpPr>
        <p:spPr>
          <a:xfrm>
            <a:off x="9180576" y="2267712"/>
            <a:ext cx="2139696" cy="438912"/>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Arial" pitchFamily="34" charset="0"/>
                <a:ea typeface="Arial" pitchFamily="34" charset="-122"/>
                <a:cs typeface="Arial" pitchFamily="34" charset="-120"/>
              </a:rPr>
              <a:t>Check in → know what to try</a:t>
            </a:r>
            <a:endParaRPr lang="en-US" sz="1200" dirty="0"/>
          </a:p>
        </p:txBody>
      </p:sp>
      <p:sp>
        <p:nvSpPr>
          <p:cNvPr id="15" name="Shape 13"/>
          <p:cNvSpPr/>
          <p:nvPr/>
        </p:nvSpPr>
        <p:spPr>
          <a:xfrm>
            <a:off x="658368" y="3227832"/>
            <a:ext cx="1417320" cy="987552"/>
          </a:xfrm>
          <a:prstGeom prst="roundRect">
            <a:avLst>
              <a:gd name="adj" fmla="val 7407"/>
            </a:avLst>
          </a:prstGeom>
          <a:solidFill>
            <a:srgbClr val="12232B"/>
          </a:solidFill>
          <a:ln w="12700">
            <a:solidFill>
              <a:srgbClr val="12232B">
                <a:alpha val="0"/>
              </a:srgbClr>
            </a:solidFill>
            <a:prstDash val="solid"/>
          </a:ln>
        </p:spPr>
      </p:sp>
      <p:sp>
        <p:nvSpPr>
          <p:cNvPr id="16" name="Text 14"/>
          <p:cNvSpPr/>
          <p:nvPr/>
        </p:nvSpPr>
        <p:spPr>
          <a:xfrm>
            <a:off x="822960" y="3429000"/>
            <a:ext cx="1078992" cy="256032"/>
          </a:xfrm>
          <a:prstGeom prst="rect">
            <a:avLst/>
          </a:prstGeom>
          <a:noFill/>
          <a:ln/>
        </p:spPr>
        <p:txBody>
          <a:bodyPr wrap="square" lIns="0" tIns="0" rIns="0" bIns="0" rtlCol="0" anchor="ctr">
            <a:normAutofit/>
          </a:bodyPr>
          <a:lstStyle/>
          <a:p>
            <a:pPr algn="l" indent="0" marL="0">
              <a:buNone/>
            </a:pPr>
            <a:r>
              <a:rPr lang="en-US" sz="1100" b="1" dirty="0">
                <a:solidFill>
                  <a:srgbClr val="78AFA2"/>
                </a:solidFill>
                <a:latin typeface="Arial" pitchFamily="34" charset="0"/>
                <a:ea typeface="Arial" pitchFamily="34" charset="-122"/>
                <a:cs typeface="Arial" pitchFamily="34" charset="-120"/>
              </a:rPr>
              <a:t>WELLBEING TOOLS</a:t>
            </a:r>
            <a:endParaRPr lang="en-US" sz="1100" dirty="0"/>
          </a:p>
        </p:txBody>
      </p:sp>
      <p:sp>
        <p:nvSpPr>
          <p:cNvPr id="17" name="Shape 15"/>
          <p:cNvSpPr/>
          <p:nvPr/>
        </p:nvSpPr>
        <p:spPr>
          <a:xfrm>
            <a:off x="2267712" y="3227832"/>
            <a:ext cx="2953512" cy="987552"/>
          </a:xfrm>
          <a:prstGeom prst="roundRect">
            <a:avLst>
              <a:gd name="adj" fmla="val 7407"/>
            </a:avLst>
          </a:prstGeom>
          <a:solidFill>
            <a:srgbClr val="F4E7D4"/>
          </a:solidFill>
          <a:ln w="12700">
            <a:solidFill>
              <a:srgbClr val="F4E7D4">
                <a:alpha val="0"/>
              </a:srgbClr>
            </a:solidFill>
            <a:prstDash val="solid"/>
          </a:ln>
        </p:spPr>
      </p:sp>
      <p:sp>
        <p:nvSpPr>
          <p:cNvPr id="18" name="Text 16"/>
          <p:cNvSpPr/>
          <p:nvPr/>
        </p:nvSpPr>
        <p:spPr>
          <a:xfrm>
            <a:off x="2487168" y="3346704"/>
            <a:ext cx="2468880" cy="182880"/>
          </a:xfrm>
          <a:prstGeom prst="rect">
            <a:avLst/>
          </a:prstGeom>
          <a:noFill/>
          <a:ln/>
        </p:spPr>
        <p:txBody>
          <a:bodyPr wrap="square" lIns="0" tIns="0" rIns="0" bIns="0" rtlCol="0" anchor="ctr">
            <a:normAutofit/>
          </a:bodyPr>
          <a:lstStyle/>
          <a:p>
            <a:pPr algn="l" indent="0" marL="0">
              <a:buNone/>
            </a:pPr>
            <a:r>
              <a:rPr lang="en-US" sz="900" b="1" spc="80" kern="0" dirty="0">
                <a:solidFill>
                  <a:srgbClr val="2E7D73"/>
                </a:solidFill>
                <a:latin typeface="Arial" pitchFamily="34" charset="0"/>
                <a:ea typeface="Arial" pitchFamily="34" charset="-122"/>
                <a:cs typeface="Arial" pitchFamily="34" charset="-120"/>
              </a:rPr>
              <a:t>OTHER APPROACHES</a:t>
            </a:r>
            <a:endParaRPr lang="en-US" sz="900" dirty="0"/>
          </a:p>
        </p:txBody>
      </p:sp>
      <p:sp>
        <p:nvSpPr>
          <p:cNvPr id="19" name="Text 17"/>
          <p:cNvSpPr/>
          <p:nvPr/>
        </p:nvSpPr>
        <p:spPr>
          <a:xfrm>
            <a:off x="2487168" y="3593592"/>
            <a:ext cx="2432304" cy="457200"/>
          </a:xfrm>
          <a:prstGeom prst="rect">
            <a:avLst/>
          </a:prstGeom>
          <a:noFill/>
          <a:ln/>
        </p:spPr>
        <p:txBody>
          <a:bodyPr wrap="square" lIns="0" tIns="0" rIns="0" bIns="0" rtlCol="0" anchor="ctr">
            <a:normAutofit/>
          </a:bodyPr>
          <a:lstStyle/>
          <a:p>
            <a:pPr algn="l" indent="0" marL="0">
              <a:buNone/>
            </a:pPr>
            <a:r>
              <a:rPr lang="en-US" sz="1150" dirty="0">
                <a:solidFill>
                  <a:srgbClr val="12232B"/>
                </a:solidFill>
                <a:latin typeface="Arial" pitchFamily="34" charset="0"/>
                <a:ea typeface="Arial" pitchFamily="34" charset="-122"/>
                <a:cs typeface="Arial" pitchFamily="34" charset="-120"/>
              </a:rPr>
              <a:t>Users can encounter multiple exercises, articles, or activities without knowing which fits the moment.</a:t>
            </a:r>
            <a:endParaRPr lang="en-US" sz="1150" dirty="0"/>
          </a:p>
        </p:txBody>
      </p:sp>
      <p:sp>
        <p:nvSpPr>
          <p:cNvPr id="20" name="Shape 18"/>
          <p:cNvSpPr/>
          <p:nvPr/>
        </p:nvSpPr>
        <p:spPr>
          <a:xfrm>
            <a:off x="5404104" y="3227832"/>
            <a:ext cx="3346704" cy="987552"/>
          </a:xfrm>
          <a:prstGeom prst="roundRect">
            <a:avLst>
              <a:gd name="adj" fmla="val 7407"/>
            </a:avLst>
          </a:prstGeom>
          <a:solidFill>
            <a:srgbClr val="DDEEE9"/>
          </a:solidFill>
          <a:ln w="12700">
            <a:solidFill>
              <a:srgbClr val="DDEEE9">
                <a:alpha val="0"/>
              </a:srgbClr>
            </a:solidFill>
            <a:prstDash val="solid"/>
          </a:ln>
        </p:spPr>
      </p:sp>
      <p:sp>
        <p:nvSpPr>
          <p:cNvPr id="21" name="Text 19"/>
          <p:cNvSpPr/>
          <p:nvPr/>
        </p:nvSpPr>
        <p:spPr>
          <a:xfrm>
            <a:off x="5641848" y="3346704"/>
            <a:ext cx="2331720" cy="182880"/>
          </a:xfrm>
          <a:prstGeom prst="rect">
            <a:avLst/>
          </a:prstGeom>
          <a:noFill/>
          <a:ln/>
        </p:spPr>
        <p:txBody>
          <a:bodyPr wrap="square" lIns="0" tIns="0" rIns="0" bIns="0" rtlCol="0" anchor="ctr">
            <a:normAutofit/>
          </a:bodyPr>
          <a:lstStyle/>
          <a:p>
            <a:pPr algn="l" indent="0" marL="0">
              <a:buNone/>
            </a:pPr>
            <a:r>
              <a:rPr lang="en-US" sz="900" b="1" spc="80" kern="0" dirty="0">
                <a:solidFill>
                  <a:srgbClr val="2E7D73"/>
                </a:solidFill>
                <a:latin typeface="Arial" pitchFamily="34" charset="0"/>
                <a:ea typeface="Arial" pitchFamily="34" charset="-122"/>
                <a:cs typeface="Arial" pitchFamily="34" charset="-120"/>
              </a:rPr>
              <a:t>MINDMATE</a:t>
            </a:r>
            <a:endParaRPr lang="en-US" sz="900" dirty="0"/>
          </a:p>
        </p:txBody>
      </p:sp>
      <p:sp>
        <p:nvSpPr>
          <p:cNvPr id="22" name="Text 20"/>
          <p:cNvSpPr/>
          <p:nvPr/>
        </p:nvSpPr>
        <p:spPr>
          <a:xfrm>
            <a:off x="5641848" y="3593592"/>
            <a:ext cx="2761488" cy="457200"/>
          </a:xfrm>
          <a:prstGeom prst="rect">
            <a:avLst/>
          </a:prstGeom>
          <a:noFill/>
          <a:ln/>
        </p:spPr>
        <p:txBody>
          <a:bodyPr wrap="square" lIns="0" tIns="0" rIns="0" bIns="0" rtlCol="0" anchor="ctr">
            <a:normAutofit/>
          </a:bodyPr>
          <a:lstStyle/>
          <a:p>
            <a:pPr algn="l" indent="0" marL="0">
              <a:buNone/>
            </a:pPr>
            <a:r>
              <a:rPr lang="en-US" sz="1150" dirty="0">
                <a:solidFill>
                  <a:srgbClr val="12232B"/>
                </a:solidFill>
                <a:latin typeface="Arial" pitchFamily="34" charset="0"/>
                <a:ea typeface="Arial" pitchFamily="34" charset="-122"/>
                <a:cs typeface="Arial" pitchFamily="34" charset="-120"/>
              </a:rPr>
              <a:t>Guides the user toward one manageable action, with alternatives when needed.</a:t>
            </a:r>
            <a:endParaRPr lang="en-US" sz="1150" dirty="0"/>
          </a:p>
        </p:txBody>
      </p:sp>
      <p:sp>
        <p:nvSpPr>
          <p:cNvPr id="23" name="Shape 21"/>
          <p:cNvSpPr/>
          <p:nvPr/>
        </p:nvSpPr>
        <p:spPr>
          <a:xfrm>
            <a:off x="8961120" y="3227832"/>
            <a:ext cx="2578608" cy="987552"/>
          </a:xfrm>
          <a:prstGeom prst="roundRect">
            <a:avLst>
              <a:gd name="adj" fmla="val 7407"/>
            </a:avLst>
          </a:prstGeom>
          <a:solidFill>
            <a:srgbClr val="D9776A"/>
          </a:solidFill>
          <a:ln w="12700">
            <a:solidFill>
              <a:srgbClr val="D9776A">
                <a:alpha val="0"/>
              </a:srgbClr>
            </a:solidFill>
            <a:prstDash val="solid"/>
          </a:ln>
        </p:spPr>
      </p:sp>
      <p:sp>
        <p:nvSpPr>
          <p:cNvPr id="24" name="Text 22"/>
          <p:cNvSpPr/>
          <p:nvPr/>
        </p:nvSpPr>
        <p:spPr>
          <a:xfrm>
            <a:off x="9180576" y="3502152"/>
            <a:ext cx="2139696" cy="438912"/>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Arial" pitchFamily="34" charset="0"/>
                <a:ea typeface="Arial" pitchFamily="34" charset="-122"/>
                <a:cs typeface="Arial" pitchFamily="34" charset="-120"/>
              </a:rPr>
              <a:t>Less overwhelm → clearer action</a:t>
            </a:r>
            <a:endParaRPr lang="en-US" sz="1200" dirty="0"/>
          </a:p>
        </p:txBody>
      </p:sp>
      <p:sp>
        <p:nvSpPr>
          <p:cNvPr id="25" name="Shape 23"/>
          <p:cNvSpPr/>
          <p:nvPr/>
        </p:nvSpPr>
        <p:spPr>
          <a:xfrm>
            <a:off x="658368" y="4462272"/>
            <a:ext cx="1417320" cy="987552"/>
          </a:xfrm>
          <a:prstGeom prst="roundRect">
            <a:avLst>
              <a:gd name="adj" fmla="val 7407"/>
            </a:avLst>
          </a:prstGeom>
          <a:solidFill>
            <a:srgbClr val="12232B"/>
          </a:solidFill>
          <a:ln w="12700">
            <a:solidFill>
              <a:srgbClr val="12232B">
                <a:alpha val="0"/>
              </a:srgbClr>
            </a:solidFill>
            <a:prstDash val="solid"/>
          </a:ln>
        </p:spPr>
      </p:sp>
      <p:sp>
        <p:nvSpPr>
          <p:cNvPr id="26" name="Text 24"/>
          <p:cNvSpPr/>
          <p:nvPr/>
        </p:nvSpPr>
        <p:spPr>
          <a:xfrm>
            <a:off x="822960" y="4663440"/>
            <a:ext cx="1078992" cy="256032"/>
          </a:xfrm>
          <a:prstGeom prst="rect">
            <a:avLst/>
          </a:prstGeom>
          <a:noFill/>
          <a:ln/>
        </p:spPr>
        <p:txBody>
          <a:bodyPr wrap="square" lIns="0" tIns="0" rIns="0" bIns="0" rtlCol="0" anchor="ctr">
            <a:normAutofit/>
          </a:bodyPr>
          <a:lstStyle/>
          <a:p>
            <a:pPr algn="l" indent="0" marL="0">
              <a:buNone/>
            </a:pPr>
            <a:r>
              <a:rPr lang="en-US" sz="1100" b="1" dirty="0">
                <a:solidFill>
                  <a:srgbClr val="78AFA2"/>
                </a:solidFill>
                <a:latin typeface="Arial" pitchFamily="34" charset="0"/>
                <a:ea typeface="Arial" pitchFamily="34" charset="-122"/>
                <a:cs typeface="Arial" pitchFamily="34" charset="-120"/>
              </a:rPr>
              <a:t>SUPPORT</a:t>
            </a:r>
            <a:endParaRPr lang="en-US" sz="1100" dirty="0"/>
          </a:p>
        </p:txBody>
      </p:sp>
      <p:sp>
        <p:nvSpPr>
          <p:cNvPr id="27" name="Shape 25"/>
          <p:cNvSpPr/>
          <p:nvPr/>
        </p:nvSpPr>
        <p:spPr>
          <a:xfrm>
            <a:off x="2267712" y="4462272"/>
            <a:ext cx="2953512" cy="987552"/>
          </a:xfrm>
          <a:prstGeom prst="roundRect">
            <a:avLst>
              <a:gd name="adj" fmla="val 7407"/>
            </a:avLst>
          </a:prstGeom>
          <a:solidFill>
            <a:srgbClr val="F4E7D4"/>
          </a:solidFill>
          <a:ln w="12700">
            <a:solidFill>
              <a:srgbClr val="F4E7D4">
                <a:alpha val="0"/>
              </a:srgbClr>
            </a:solidFill>
            <a:prstDash val="solid"/>
          </a:ln>
        </p:spPr>
      </p:sp>
      <p:sp>
        <p:nvSpPr>
          <p:cNvPr id="28" name="Text 26"/>
          <p:cNvSpPr/>
          <p:nvPr/>
        </p:nvSpPr>
        <p:spPr>
          <a:xfrm>
            <a:off x="2487168" y="4581144"/>
            <a:ext cx="2468880" cy="182880"/>
          </a:xfrm>
          <a:prstGeom prst="rect">
            <a:avLst/>
          </a:prstGeom>
          <a:noFill/>
          <a:ln/>
        </p:spPr>
        <p:txBody>
          <a:bodyPr wrap="square" lIns="0" tIns="0" rIns="0" bIns="0" rtlCol="0" anchor="ctr">
            <a:normAutofit/>
          </a:bodyPr>
          <a:lstStyle/>
          <a:p>
            <a:pPr algn="l" indent="0" marL="0">
              <a:buNone/>
            </a:pPr>
            <a:r>
              <a:rPr lang="en-US" sz="900" b="1" spc="80" kern="0" dirty="0">
                <a:solidFill>
                  <a:srgbClr val="2E7D73"/>
                </a:solidFill>
                <a:latin typeface="Arial" pitchFamily="34" charset="0"/>
                <a:ea typeface="Arial" pitchFamily="34" charset="-122"/>
                <a:cs typeface="Arial" pitchFamily="34" charset="-120"/>
              </a:rPr>
              <a:t>OTHER APPROACHES</a:t>
            </a:r>
            <a:endParaRPr lang="en-US" sz="900" dirty="0"/>
          </a:p>
        </p:txBody>
      </p:sp>
      <p:sp>
        <p:nvSpPr>
          <p:cNvPr id="29" name="Text 27"/>
          <p:cNvSpPr/>
          <p:nvPr/>
        </p:nvSpPr>
        <p:spPr>
          <a:xfrm>
            <a:off x="2487168" y="4828032"/>
            <a:ext cx="2432304" cy="457200"/>
          </a:xfrm>
          <a:prstGeom prst="rect">
            <a:avLst/>
          </a:prstGeom>
          <a:noFill/>
          <a:ln/>
        </p:spPr>
        <p:txBody>
          <a:bodyPr wrap="square" lIns="0" tIns="0" rIns="0" bIns="0" rtlCol="0" anchor="ctr">
            <a:normAutofit/>
          </a:bodyPr>
          <a:lstStyle/>
          <a:p>
            <a:pPr algn="l" indent="0" marL="0">
              <a:buNone/>
            </a:pPr>
            <a:r>
              <a:rPr lang="en-US" sz="1150" dirty="0">
                <a:solidFill>
                  <a:srgbClr val="12232B"/>
                </a:solidFill>
                <a:latin typeface="Arial" pitchFamily="34" charset="0"/>
                <a:ea typeface="Arial" pitchFamily="34" charset="-122"/>
                <a:cs typeface="Arial" pitchFamily="34" charset="-120"/>
              </a:rPr>
              <a:t>Self-guided tools may focus mainly on what the user can do inside the app.</a:t>
            </a:r>
            <a:endParaRPr lang="en-US" sz="1150" dirty="0"/>
          </a:p>
        </p:txBody>
      </p:sp>
      <p:sp>
        <p:nvSpPr>
          <p:cNvPr id="30" name="Shape 28"/>
          <p:cNvSpPr/>
          <p:nvPr/>
        </p:nvSpPr>
        <p:spPr>
          <a:xfrm>
            <a:off x="5404104" y="4462272"/>
            <a:ext cx="3346704" cy="987552"/>
          </a:xfrm>
          <a:prstGeom prst="roundRect">
            <a:avLst>
              <a:gd name="adj" fmla="val 7407"/>
            </a:avLst>
          </a:prstGeom>
          <a:solidFill>
            <a:srgbClr val="DDEEE9"/>
          </a:solidFill>
          <a:ln w="12700">
            <a:solidFill>
              <a:srgbClr val="DDEEE9">
                <a:alpha val="0"/>
              </a:srgbClr>
            </a:solidFill>
            <a:prstDash val="solid"/>
          </a:ln>
        </p:spPr>
      </p:sp>
      <p:sp>
        <p:nvSpPr>
          <p:cNvPr id="31" name="Text 29"/>
          <p:cNvSpPr/>
          <p:nvPr/>
        </p:nvSpPr>
        <p:spPr>
          <a:xfrm>
            <a:off x="5641848" y="4581144"/>
            <a:ext cx="2331720" cy="182880"/>
          </a:xfrm>
          <a:prstGeom prst="rect">
            <a:avLst/>
          </a:prstGeom>
          <a:noFill/>
          <a:ln/>
        </p:spPr>
        <p:txBody>
          <a:bodyPr wrap="square" lIns="0" tIns="0" rIns="0" bIns="0" rtlCol="0" anchor="ctr">
            <a:normAutofit/>
          </a:bodyPr>
          <a:lstStyle/>
          <a:p>
            <a:pPr algn="l" indent="0" marL="0">
              <a:buNone/>
            </a:pPr>
            <a:r>
              <a:rPr lang="en-US" sz="900" b="1" spc="80" kern="0" dirty="0">
                <a:solidFill>
                  <a:srgbClr val="2E7D73"/>
                </a:solidFill>
                <a:latin typeface="Arial" pitchFamily="34" charset="0"/>
                <a:ea typeface="Arial" pitchFamily="34" charset="-122"/>
                <a:cs typeface="Arial" pitchFamily="34" charset="-120"/>
              </a:rPr>
              <a:t>MINDMATE</a:t>
            </a:r>
            <a:endParaRPr lang="en-US" sz="900" dirty="0"/>
          </a:p>
        </p:txBody>
      </p:sp>
      <p:sp>
        <p:nvSpPr>
          <p:cNvPr id="32" name="Text 30"/>
          <p:cNvSpPr/>
          <p:nvPr/>
        </p:nvSpPr>
        <p:spPr>
          <a:xfrm>
            <a:off x="5641848" y="4828032"/>
            <a:ext cx="2761488" cy="457200"/>
          </a:xfrm>
          <a:prstGeom prst="rect">
            <a:avLst/>
          </a:prstGeom>
          <a:noFill/>
          <a:ln/>
        </p:spPr>
        <p:txBody>
          <a:bodyPr wrap="square" lIns="0" tIns="0" rIns="0" bIns="0" rtlCol="0" anchor="ctr">
            <a:normAutofit/>
          </a:bodyPr>
          <a:lstStyle/>
          <a:p>
            <a:pPr algn="l" indent="0" marL="0">
              <a:buNone/>
            </a:pPr>
            <a:r>
              <a:rPr lang="en-US" sz="1150" dirty="0">
                <a:solidFill>
                  <a:srgbClr val="12232B"/>
                </a:solidFill>
                <a:latin typeface="Arial" pitchFamily="34" charset="0"/>
                <a:ea typeface="Arial" pitchFamily="34" charset="-122"/>
                <a:cs typeface="Arial" pitchFamily="34" charset="-120"/>
              </a:rPr>
              <a:t>Keeps a path to trusted human and emergency support visible when more help is needed.</a:t>
            </a:r>
            <a:endParaRPr lang="en-US" sz="1150" dirty="0"/>
          </a:p>
        </p:txBody>
      </p:sp>
      <p:sp>
        <p:nvSpPr>
          <p:cNvPr id="33" name="Shape 31"/>
          <p:cNvSpPr/>
          <p:nvPr/>
        </p:nvSpPr>
        <p:spPr>
          <a:xfrm>
            <a:off x="8961120" y="4462272"/>
            <a:ext cx="2578608" cy="987552"/>
          </a:xfrm>
          <a:prstGeom prst="roundRect">
            <a:avLst>
              <a:gd name="adj" fmla="val 7407"/>
            </a:avLst>
          </a:prstGeom>
          <a:solidFill>
            <a:srgbClr val="D9776A"/>
          </a:solidFill>
          <a:ln w="12700">
            <a:solidFill>
              <a:srgbClr val="D9776A">
                <a:alpha val="0"/>
              </a:srgbClr>
            </a:solidFill>
            <a:prstDash val="solid"/>
          </a:ln>
        </p:spPr>
      </p:sp>
      <p:sp>
        <p:nvSpPr>
          <p:cNvPr id="34" name="Text 32"/>
          <p:cNvSpPr/>
          <p:nvPr/>
        </p:nvSpPr>
        <p:spPr>
          <a:xfrm>
            <a:off x="9180576" y="4736592"/>
            <a:ext cx="2139696" cy="438912"/>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Arial" pitchFamily="34" charset="0"/>
                <a:ea typeface="Arial" pitchFamily="34" charset="-122"/>
                <a:cs typeface="Arial" pitchFamily="34" charset="-120"/>
              </a:rPr>
              <a:t>Self-guided → human support</a:t>
            </a:r>
            <a:endParaRPr lang="en-US" sz="1200" dirty="0"/>
          </a:p>
        </p:txBody>
      </p:sp>
      <p:sp>
        <p:nvSpPr>
          <p:cNvPr id="35" name="Shape 33"/>
          <p:cNvSpPr/>
          <p:nvPr/>
        </p:nvSpPr>
        <p:spPr>
          <a:xfrm>
            <a:off x="1965960" y="5742432"/>
            <a:ext cx="8275320" cy="365760"/>
          </a:xfrm>
          <a:prstGeom prst="roundRect">
            <a:avLst>
              <a:gd name="adj" fmla="val 20000"/>
            </a:avLst>
          </a:prstGeom>
          <a:solidFill>
            <a:srgbClr val="12232B"/>
          </a:solidFill>
          <a:ln w="12700">
            <a:solidFill>
              <a:srgbClr val="12232B">
                <a:alpha val="0"/>
              </a:srgbClr>
            </a:solidFill>
            <a:prstDash val="solid"/>
          </a:ln>
        </p:spPr>
      </p:sp>
      <p:sp>
        <p:nvSpPr>
          <p:cNvPr id="36" name="Text 34"/>
          <p:cNvSpPr/>
          <p:nvPr/>
        </p:nvSpPr>
        <p:spPr>
          <a:xfrm>
            <a:off x="2176272" y="5815584"/>
            <a:ext cx="7845552" cy="192024"/>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Arial" pitchFamily="34" charset="0"/>
                <a:ea typeface="Arial" pitchFamily="34" charset="-122"/>
                <a:cs typeface="Arial" pitchFamily="34" charset="-120"/>
              </a:rPr>
              <a:t>MindMate is designed around the journey, not just the individual feature.</a:t>
            </a:r>
            <a:endParaRPr lang="en-US" sz="1200" dirty="0"/>
          </a:p>
        </p:txBody>
      </p:sp>
      <p:sp>
        <p:nvSpPr>
          <p:cNvPr id="37" name="Text 35"/>
          <p:cNvSpPr/>
          <p:nvPr/>
        </p:nvSpPr>
        <p:spPr>
          <a:xfrm>
            <a:off x="621792" y="6437376"/>
            <a:ext cx="1828800"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78908A"/>
                </a:solidFill>
                <a:latin typeface="Arial" pitchFamily="34" charset="0"/>
                <a:ea typeface="Arial" pitchFamily="34" charset="-122"/>
                <a:cs typeface="Arial" pitchFamily="34" charset="-120"/>
              </a:rPr>
              <a:t>MINDMATE</a:t>
            </a:r>
            <a:endParaRPr lang="en-US" sz="800" dirty="0"/>
          </a:p>
        </p:txBody>
      </p:sp>
      <p:sp>
        <p:nvSpPr>
          <p:cNvPr id="25" name="Slide Number Placeholder 0"/>
          <p:cNvSpPr>
            <a:spLocks noGrp="1"/>
          </p:cNvSpPr>
          <p:nvPr>
            <p:ph type="sldNum" sz="quarter" idx="4294967295"/>
          </p:nvPr>
        </p:nvSpPr>
        <p:spPr>
          <a:xfrm>
            <a:off x="11475720" y="647395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8908A"/>
                </a:solidFill>
                <a:latin typeface="Arial"/>
                <a:ea typeface="Arial"/>
                <a:cs typeface="Aria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21792" y="384048"/>
            <a:ext cx="5303520" cy="219456"/>
          </a:xfrm>
          <a:prstGeom prst="rect">
            <a:avLst/>
          </a:prstGeom>
          <a:noFill/>
          <a:ln/>
        </p:spPr>
        <p:txBody>
          <a:bodyPr wrap="square" lIns="0" tIns="0" rIns="0" bIns="0" rtlCol="0" anchor="ctr">
            <a:normAutofit/>
          </a:bodyPr>
          <a:lstStyle/>
          <a:p>
            <a:pPr algn="l" indent="0" marL="0">
              <a:buNone/>
            </a:pPr>
            <a:r>
              <a:rPr lang="en-US" sz="1000" b="1" spc="140" kern="0" dirty="0">
                <a:solidFill>
                  <a:srgbClr val="2E7D73"/>
                </a:solidFill>
                <a:latin typeface="Arial" pitchFamily="34" charset="0"/>
                <a:ea typeface="Arial" pitchFamily="34" charset="-122"/>
                <a:cs typeface="Arial" pitchFamily="34" charset="-120"/>
              </a:rPr>
              <a:t>06 / PRODUCT READINESS</a:t>
            </a:r>
            <a:endParaRPr lang="en-US" sz="1000" dirty="0"/>
          </a:p>
        </p:txBody>
      </p:sp>
      <p:sp>
        <p:nvSpPr>
          <p:cNvPr id="3" name="Text 1"/>
          <p:cNvSpPr/>
          <p:nvPr/>
        </p:nvSpPr>
        <p:spPr>
          <a:xfrm>
            <a:off x="621792" y="658368"/>
            <a:ext cx="10972800" cy="676656"/>
          </a:xfrm>
          <a:prstGeom prst="rect">
            <a:avLst/>
          </a:prstGeom>
          <a:noFill/>
          <a:ln/>
        </p:spPr>
        <p:txBody>
          <a:bodyPr wrap="square" lIns="0" tIns="0" rIns="0" bIns="0" rtlCol="0" anchor="ctr">
            <a:normAutofit/>
          </a:bodyPr>
          <a:lstStyle/>
          <a:p>
            <a:pPr algn="l" indent="0" marL="0">
              <a:buNone/>
            </a:pPr>
            <a:r>
              <a:rPr lang="en-US" sz="2800" b="1" dirty="0">
                <a:solidFill>
                  <a:srgbClr val="12232B"/>
                </a:solidFill>
                <a:latin typeface="Arial" pitchFamily="34" charset="0"/>
                <a:ea typeface="Arial" pitchFamily="34" charset="-122"/>
                <a:cs typeface="Arial" pitchFamily="34" charset="-120"/>
              </a:rPr>
              <a:t>Built, tested, and ready for a real user journey</a:t>
            </a:r>
            <a:endParaRPr lang="en-US" sz="2800" dirty="0"/>
          </a:p>
        </p:txBody>
      </p:sp>
      <p:sp>
        <p:nvSpPr>
          <p:cNvPr id="4" name="Text 2"/>
          <p:cNvSpPr/>
          <p:nvPr/>
        </p:nvSpPr>
        <p:spPr>
          <a:xfrm>
            <a:off x="640080" y="1399032"/>
            <a:ext cx="10607040" cy="347472"/>
          </a:xfrm>
          <a:prstGeom prst="rect">
            <a:avLst/>
          </a:prstGeom>
          <a:noFill/>
          <a:ln/>
        </p:spPr>
        <p:txBody>
          <a:bodyPr wrap="square" lIns="0" tIns="0" rIns="0" bIns="0" rtlCol="0" anchor="ctr">
            <a:normAutofit/>
          </a:bodyPr>
          <a:lstStyle/>
          <a:p>
            <a:pPr algn="l" indent="0" marL="0">
              <a:buNone/>
            </a:pPr>
            <a:r>
              <a:rPr lang="en-US" sz="1300" dirty="0">
                <a:solidFill>
                  <a:srgbClr val="68767C"/>
                </a:solidFill>
                <a:latin typeface="Arial" pitchFamily="34" charset="0"/>
                <a:ea typeface="Arial" pitchFamily="34" charset="-122"/>
                <a:cs typeface="Arial" pitchFamily="34" charset="-120"/>
              </a:rPr>
              <a:t>MindMate is already running across Android and Web, with its core experience tested from check-in through support.</a:t>
            </a:r>
            <a:endParaRPr lang="en-US" sz="1300" dirty="0"/>
          </a:p>
        </p:txBody>
      </p:sp>
      <p:sp>
        <p:nvSpPr>
          <p:cNvPr id="5" name="Shape 3"/>
          <p:cNvSpPr/>
          <p:nvPr/>
        </p:nvSpPr>
        <p:spPr>
          <a:xfrm>
            <a:off x="658368" y="2084832"/>
            <a:ext cx="3401568" cy="3200400"/>
          </a:xfrm>
          <a:prstGeom prst="roundRect">
            <a:avLst>
              <a:gd name="adj" fmla="val 2286"/>
            </a:avLst>
          </a:prstGeom>
          <a:solidFill>
            <a:srgbClr val="D9776A"/>
          </a:solidFill>
          <a:ln w="12700">
            <a:solidFill>
              <a:srgbClr val="D9776A">
                <a:alpha val="0"/>
              </a:srgbClr>
            </a:solidFill>
            <a:prstDash val="solid"/>
          </a:ln>
        </p:spPr>
      </p:sp>
      <p:sp>
        <p:nvSpPr>
          <p:cNvPr id="6" name="Text 4"/>
          <p:cNvSpPr/>
          <p:nvPr/>
        </p:nvSpPr>
        <p:spPr>
          <a:xfrm>
            <a:off x="877824" y="2286000"/>
            <a:ext cx="2962656" cy="310896"/>
          </a:xfrm>
          <a:prstGeom prst="rect">
            <a:avLst/>
          </a:prstGeom>
          <a:noFill/>
          <a:ln/>
        </p:spPr>
        <p:txBody>
          <a:bodyPr wrap="square" lIns="0" tIns="0" rIns="0" bIns="0" rtlCol="0" anchor="ctr">
            <a:normAutofit/>
          </a:bodyPr>
          <a:lstStyle/>
          <a:p>
            <a:pPr algn="l" indent="0" marL="0">
              <a:buNone/>
            </a:pPr>
            <a:r>
              <a:rPr lang="en-US" sz="1400" b="1" spc="80" kern="0" dirty="0">
                <a:solidFill>
                  <a:srgbClr val="78AFA2"/>
                </a:solidFill>
                <a:latin typeface="Arial" pitchFamily="34" charset="0"/>
                <a:ea typeface="Arial" pitchFamily="34" charset="-122"/>
                <a:cs typeface="Arial" pitchFamily="34" charset="-120"/>
              </a:rPr>
              <a:t>READY ON ANDROID</a:t>
            </a:r>
            <a:endParaRPr lang="en-US" sz="1400" dirty="0"/>
          </a:p>
        </p:txBody>
      </p:sp>
      <p:sp>
        <p:nvSpPr>
          <p:cNvPr id="7" name="Text 5"/>
          <p:cNvSpPr/>
          <p:nvPr/>
        </p:nvSpPr>
        <p:spPr>
          <a:xfrm>
            <a:off x="877824" y="2724912"/>
            <a:ext cx="2962656" cy="2121408"/>
          </a:xfrm>
          <a:prstGeom prst="rect">
            <a:avLst/>
          </a:prstGeom>
          <a:noFill/>
          <a:ln/>
        </p:spPr>
        <p:txBody>
          <a:bodyPr wrap="square" lIns="0" tIns="0" rIns="0" bIns="0" rtlCol="0" anchor="ctr">
            <a:normAutofit/>
          </a:bodyPr>
          <a:lstStyle/>
          <a:p>
            <a:pPr algn="l" indent="0" marL="0">
              <a:buNone/>
            </a:pPr>
            <a:r>
              <a:rPr lang="en-US" sz="1350" dirty="0">
                <a:solidFill>
                  <a:srgbClr val="FFFFFF"/>
                </a:solidFill>
                <a:latin typeface="Arial" pitchFamily="34" charset="0"/>
                <a:ea typeface="Arial" pitchFamily="34" charset="-122"/>
                <a:cs typeface="Arial" pitchFamily="34" charset="-120"/>
              </a:rPr>
              <a:t>MindMate has a signed Android release that can be installed and used as a complete product experience, making it ready for a live demonstration.</a:t>
            </a:r>
            <a:endParaRPr lang="en-US" sz="1350" dirty="0"/>
          </a:p>
        </p:txBody>
      </p:sp>
      <p:sp>
        <p:nvSpPr>
          <p:cNvPr id="8" name="Text 6"/>
          <p:cNvSpPr/>
          <p:nvPr/>
        </p:nvSpPr>
        <p:spPr>
          <a:xfrm>
            <a:off x="877824" y="4901184"/>
            <a:ext cx="2962656" cy="219456"/>
          </a:xfrm>
          <a:prstGeom prst="rect">
            <a:avLst/>
          </a:prstGeom>
          <a:noFill/>
          <a:ln/>
        </p:spPr>
        <p:txBody>
          <a:bodyPr wrap="square" lIns="0" tIns="0" rIns="0" bIns="0" rtlCol="0" anchor="ctr">
            <a:normAutofit/>
          </a:bodyPr>
          <a:lstStyle/>
          <a:p>
            <a:pPr algn="l" indent="0" marL="0">
              <a:buNone/>
            </a:pPr>
            <a:r>
              <a:rPr lang="en-US" sz="1100" b="1" dirty="0">
                <a:solidFill>
                  <a:srgbClr val="F4E7D4"/>
                </a:solidFill>
                <a:latin typeface="Arial" pitchFamily="34" charset="0"/>
                <a:ea typeface="Arial" pitchFamily="34" charset="-122"/>
                <a:cs typeface="Arial" pitchFamily="34" charset="-120"/>
              </a:rPr>
              <a:t>Built for real use</a:t>
            </a:r>
            <a:endParaRPr lang="en-US" sz="1100" dirty="0"/>
          </a:p>
        </p:txBody>
      </p:sp>
      <p:sp>
        <p:nvSpPr>
          <p:cNvPr id="9" name="Shape 7"/>
          <p:cNvSpPr/>
          <p:nvPr/>
        </p:nvSpPr>
        <p:spPr>
          <a:xfrm>
            <a:off x="4425696" y="2084832"/>
            <a:ext cx="3401568" cy="3200400"/>
          </a:xfrm>
          <a:prstGeom prst="roundRect">
            <a:avLst>
              <a:gd name="adj" fmla="val 2286"/>
            </a:avLst>
          </a:prstGeom>
          <a:solidFill>
            <a:srgbClr val="2E7D73"/>
          </a:solidFill>
          <a:ln w="12700">
            <a:solidFill>
              <a:srgbClr val="2E7D73">
                <a:alpha val="0"/>
              </a:srgbClr>
            </a:solidFill>
            <a:prstDash val="solid"/>
          </a:ln>
        </p:spPr>
      </p:sp>
      <p:sp>
        <p:nvSpPr>
          <p:cNvPr id="10" name="Text 8"/>
          <p:cNvSpPr/>
          <p:nvPr/>
        </p:nvSpPr>
        <p:spPr>
          <a:xfrm>
            <a:off x="4645152" y="2286000"/>
            <a:ext cx="2962656" cy="310896"/>
          </a:xfrm>
          <a:prstGeom prst="rect">
            <a:avLst/>
          </a:prstGeom>
          <a:noFill/>
          <a:ln/>
        </p:spPr>
        <p:txBody>
          <a:bodyPr wrap="square" lIns="0" tIns="0" rIns="0" bIns="0" rtlCol="0" anchor="ctr">
            <a:normAutofit/>
          </a:bodyPr>
          <a:lstStyle/>
          <a:p>
            <a:pPr algn="l" indent="0" marL="0">
              <a:buNone/>
            </a:pPr>
            <a:r>
              <a:rPr lang="en-US" sz="1400" b="1" spc="80" kern="0" dirty="0">
                <a:solidFill>
                  <a:srgbClr val="78AFA2"/>
                </a:solidFill>
                <a:latin typeface="Arial" pitchFamily="34" charset="0"/>
                <a:ea typeface="Arial" pitchFamily="34" charset="-122"/>
                <a:cs typeface="Arial" pitchFamily="34" charset="-120"/>
              </a:rPr>
              <a:t>LIVE ON THE WEB</a:t>
            </a:r>
            <a:endParaRPr lang="en-US" sz="1400" dirty="0"/>
          </a:p>
        </p:txBody>
      </p:sp>
      <p:sp>
        <p:nvSpPr>
          <p:cNvPr id="11" name="Text 9"/>
          <p:cNvSpPr/>
          <p:nvPr/>
        </p:nvSpPr>
        <p:spPr>
          <a:xfrm>
            <a:off x="4645152" y="2724912"/>
            <a:ext cx="2962656" cy="2121408"/>
          </a:xfrm>
          <a:prstGeom prst="rect">
            <a:avLst/>
          </a:prstGeom>
          <a:noFill/>
          <a:ln/>
        </p:spPr>
        <p:txBody>
          <a:bodyPr wrap="square" lIns="0" tIns="0" rIns="0" bIns="0" rtlCol="0" anchor="ctr">
            <a:normAutofit/>
          </a:bodyPr>
          <a:lstStyle/>
          <a:p>
            <a:pPr algn="l" indent="0" marL="0">
              <a:buNone/>
            </a:pPr>
            <a:r>
              <a:rPr lang="en-US" sz="1350" dirty="0">
                <a:solidFill>
                  <a:srgbClr val="FFFFFF"/>
                </a:solidFill>
                <a:latin typeface="Arial" pitchFamily="34" charset="0"/>
                <a:ea typeface="Arial" pitchFamily="34" charset="-122"/>
                <a:cs typeface="Arial" pitchFamily="34" charset="-120"/>
              </a:rPr>
              <a:t>MindMate is also hosted as a live Web release, making the product easier to access, share, and demonstrate across different devices.</a:t>
            </a:r>
            <a:endParaRPr lang="en-US" sz="1350" dirty="0"/>
          </a:p>
        </p:txBody>
      </p:sp>
      <p:sp>
        <p:nvSpPr>
          <p:cNvPr id="12" name="Text 10"/>
          <p:cNvSpPr/>
          <p:nvPr/>
        </p:nvSpPr>
        <p:spPr>
          <a:xfrm>
            <a:off x="4645152" y="4901184"/>
            <a:ext cx="2962656" cy="219456"/>
          </a:xfrm>
          <a:prstGeom prst="rect">
            <a:avLst/>
          </a:prstGeom>
          <a:noFill/>
          <a:ln/>
        </p:spPr>
        <p:txBody>
          <a:bodyPr wrap="square" lIns="0" tIns="0" rIns="0" bIns="0" rtlCol="0" anchor="ctr">
            <a:normAutofit/>
          </a:bodyPr>
          <a:lstStyle/>
          <a:p>
            <a:pPr algn="l" indent="0" marL="0">
              <a:buNone/>
            </a:pPr>
            <a:r>
              <a:rPr lang="en-US" sz="1100" b="1" dirty="0">
                <a:solidFill>
                  <a:srgbClr val="F4E7D4"/>
                </a:solidFill>
                <a:latin typeface="Arial" pitchFamily="34" charset="0"/>
                <a:ea typeface="Arial" pitchFamily="34" charset="-122"/>
                <a:cs typeface="Arial" pitchFamily="34" charset="-120"/>
              </a:rPr>
              <a:t>Easy to access + share</a:t>
            </a:r>
            <a:endParaRPr lang="en-US" sz="1100" dirty="0"/>
          </a:p>
        </p:txBody>
      </p:sp>
      <p:sp>
        <p:nvSpPr>
          <p:cNvPr id="13" name="Shape 11"/>
          <p:cNvSpPr/>
          <p:nvPr/>
        </p:nvSpPr>
        <p:spPr>
          <a:xfrm>
            <a:off x="8193024" y="2084832"/>
            <a:ext cx="3401568" cy="3200400"/>
          </a:xfrm>
          <a:prstGeom prst="roundRect">
            <a:avLst>
              <a:gd name="adj" fmla="val 2286"/>
            </a:avLst>
          </a:prstGeom>
          <a:solidFill>
            <a:srgbClr val="78AFA2"/>
          </a:solidFill>
          <a:ln w="12700">
            <a:solidFill>
              <a:srgbClr val="78AFA2">
                <a:alpha val="0"/>
              </a:srgbClr>
            </a:solidFill>
            <a:prstDash val="solid"/>
          </a:ln>
        </p:spPr>
      </p:sp>
      <p:sp>
        <p:nvSpPr>
          <p:cNvPr id="14" name="Text 12"/>
          <p:cNvSpPr/>
          <p:nvPr/>
        </p:nvSpPr>
        <p:spPr>
          <a:xfrm>
            <a:off x="8412480" y="2286000"/>
            <a:ext cx="2962656" cy="310896"/>
          </a:xfrm>
          <a:prstGeom prst="rect">
            <a:avLst/>
          </a:prstGeom>
          <a:noFill/>
          <a:ln/>
        </p:spPr>
        <p:txBody>
          <a:bodyPr wrap="square" lIns="0" tIns="0" rIns="0" bIns="0" rtlCol="0" anchor="ctr">
            <a:normAutofit/>
          </a:bodyPr>
          <a:lstStyle/>
          <a:p>
            <a:pPr algn="l" indent="0" marL="0">
              <a:buNone/>
            </a:pPr>
            <a:r>
              <a:rPr lang="en-US" sz="1400" b="1" spc="80" kern="0" dirty="0">
                <a:solidFill>
                  <a:srgbClr val="2E7D73"/>
                </a:solidFill>
                <a:latin typeface="Arial" pitchFamily="34" charset="0"/>
                <a:ea typeface="Arial" pitchFamily="34" charset="-122"/>
                <a:cs typeface="Arial" pitchFamily="34" charset="-120"/>
              </a:rPr>
              <a:t>CORE JOURNEYS VERIFIED</a:t>
            </a:r>
            <a:endParaRPr lang="en-US" sz="1400" dirty="0"/>
          </a:p>
        </p:txBody>
      </p:sp>
      <p:sp>
        <p:nvSpPr>
          <p:cNvPr id="15" name="Text 13"/>
          <p:cNvSpPr/>
          <p:nvPr/>
        </p:nvSpPr>
        <p:spPr>
          <a:xfrm>
            <a:off x="8412480" y="2724912"/>
            <a:ext cx="2962656" cy="2121408"/>
          </a:xfrm>
          <a:prstGeom prst="rect">
            <a:avLst/>
          </a:prstGeom>
          <a:noFill/>
          <a:ln/>
        </p:spPr>
        <p:txBody>
          <a:bodyPr wrap="square" lIns="0" tIns="0" rIns="0" bIns="0" rtlCol="0" anchor="ctr">
            <a:normAutofit/>
          </a:bodyPr>
          <a:lstStyle/>
          <a:p>
            <a:pPr algn="l" indent="0" marL="0">
              <a:buNone/>
            </a:pPr>
            <a:r>
              <a:rPr lang="en-US" sz="1350" dirty="0">
                <a:solidFill>
                  <a:srgbClr val="12232B"/>
                </a:solidFill>
                <a:latin typeface="Arial" pitchFamily="34" charset="0"/>
                <a:ea typeface="Arial" pitchFamily="34" charset="-122"/>
                <a:cs typeface="Arial" pitchFamily="34" charset="-120"/>
              </a:rPr>
              <a:t>MindMate has been tested through the journeys that matter most, from core features to safety behaviour and different layouts.</a:t>
            </a:r>
            <a:endParaRPr lang="en-US" sz="1350" dirty="0"/>
          </a:p>
        </p:txBody>
      </p:sp>
      <p:sp>
        <p:nvSpPr>
          <p:cNvPr id="16" name="Text 14"/>
          <p:cNvSpPr/>
          <p:nvPr/>
        </p:nvSpPr>
        <p:spPr>
          <a:xfrm>
            <a:off x="8412480" y="4901184"/>
            <a:ext cx="2962656" cy="219456"/>
          </a:xfrm>
          <a:prstGeom prst="rect">
            <a:avLst/>
          </a:prstGeom>
          <a:noFill/>
          <a:ln/>
        </p:spPr>
        <p:txBody>
          <a:bodyPr wrap="square" lIns="0" tIns="0" rIns="0" bIns="0" rtlCol="0" anchor="ctr">
            <a:normAutofit/>
          </a:bodyPr>
          <a:lstStyle/>
          <a:p>
            <a:pPr algn="l" indent="0" marL="0">
              <a:buNone/>
            </a:pPr>
            <a:r>
              <a:rPr lang="en-US" sz="1100" b="1" dirty="0">
                <a:solidFill>
                  <a:srgbClr val="D9776A"/>
                </a:solidFill>
                <a:latin typeface="Arial" pitchFamily="34" charset="0"/>
                <a:ea typeface="Arial" pitchFamily="34" charset="-122"/>
                <a:cs typeface="Arial" pitchFamily="34" charset="-120"/>
              </a:rPr>
              <a:t>The experience was tested, not just built</a:t>
            </a:r>
            <a:endParaRPr lang="en-US" sz="1100" dirty="0"/>
          </a:p>
        </p:txBody>
      </p:sp>
      <p:sp>
        <p:nvSpPr>
          <p:cNvPr id="17" name="Shape 15"/>
          <p:cNvSpPr/>
          <p:nvPr/>
        </p:nvSpPr>
        <p:spPr>
          <a:xfrm>
            <a:off x="1325880" y="5669280"/>
            <a:ext cx="9555480" cy="411480"/>
          </a:xfrm>
          <a:prstGeom prst="roundRect">
            <a:avLst>
              <a:gd name="adj" fmla="val 17778"/>
            </a:avLst>
          </a:prstGeom>
          <a:solidFill>
            <a:srgbClr val="F4E7D4"/>
          </a:solidFill>
          <a:ln w="12700">
            <a:solidFill>
              <a:srgbClr val="F4E7D4">
                <a:alpha val="0"/>
              </a:srgbClr>
            </a:solidFill>
            <a:prstDash val="solid"/>
          </a:ln>
        </p:spPr>
      </p:sp>
      <p:sp>
        <p:nvSpPr>
          <p:cNvPr id="18" name="Text 16"/>
          <p:cNvSpPr/>
          <p:nvPr/>
        </p:nvSpPr>
        <p:spPr>
          <a:xfrm>
            <a:off x="1554480" y="5760720"/>
            <a:ext cx="9098280" cy="201168"/>
          </a:xfrm>
          <a:prstGeom prst="rect">
            <a:avLst/>
          </a:prstGeom>
          <a:noFill/>
          <a:ln/>
        </p:spPr>
        <p:txBody>
          <a:bodyPr wrap="square" lIns="0" tIns="0" rIns="0" bIns="0" rtlCol="0" anchor="ctr">
            <a:normAutofit/>
          </a:bodyPr>
          <a:lstStyle/>
          <a:p>
            <a:pPr algn="ctr" indent="0" marL="0">
              <a:buNone/>
            </a:pPr>
            <a:r>
              <a:rPr lang="en-US" sz="1400" b="1" dirty="0">
                <a:solidFill>
                  <a:srgbClr val="12232B"/>
                </a:solidFill>
                <a:latin typeface="Arial" pitchFamily="34" charset="0"/>
                <a:ea typeface="Arial" pitchFamily="34" charset="-122"/>
                <a:cs typeface="Arial" pitchFamily="34" charset="-120"/>
              </a:rPr>
              <a:t>The point: we tested the experience, not just the idea.</a:t>
            </a:r>
            <a:endParaRPr lang="en-US" sz="1400" dirty="0"/>
          </a:p>
        </p:txBody>
      </p:sp>
      <p:sp>
        <p:nvSpPr>
          <p:cNvPr id="19" name="Text 17"/>
          <p:cNvSpPr/>
          <p:nvPr/>
        </p:nvSpPr>
        <p:spPr>
          <a:xfrm>
            <a:off x="621792" y="6437376"/>
            <a:ext cx="1828800"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78908A"/>
                </a:solidFill>
                <a:latin typeface="Arial" pitchFamily="34" charset="0"/>
                <a:ea typeface="Arial" pitchFamily="34" charset="-122"/>
                <a:cs typeface="Arial" pitchFamily="34" charset="-120"/>
              </a:rPr>
              <a:t>MINDMATE</a:t>
            </a:r>
            <a:endParaRPr lang="en-US" sz="800" dirty="0"/>
          </a:p>
        </p:txBody>
      </p:sp>
      <p:sp>
        <p:nvSpPr>
          <p:cNvPr id="25" name="Slide Number Placeholder 0"/>
          <p:cNvSpPr>
            <a:spLocks noGrp="1"/>
          </p:cNvSpPr>
          <p:nvPr>
            <p:ph type="sldNum" sz="quarter" idx="4294967295"/>
          </p:nvPr>
        </p:nvSpPr>
        <p:spPr>
          <a:xfrm>
            <a:off x="11475720" y="647395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8908A"/>
                </a:solidFill>
                <a:latin typeface="Arial"/>
                <a:ea typeface="Arial"/>
                <a:cs typeface="Aria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21792" y="384048"/>
            <a:ext cx="5303520" cy="219456"/>
          </a:xfrm>
          <a:prstGeom prst="rect">
            <a:avLst/>
          </a:prstGeom>
          <a:noFill/>
          <a:ln/>
        </p:spPr>
        <p:txBody>
          <a:bodyPr wrap="square" lIns="0" tIns="0" rIns="0" bIns="0" rtlCol="0" anchor="ctr">
            <a:normAutofit/>
          </a:bodyPr>
          <a:lstStyle/>
          <a:p>
            <a:pPr algn="l" indent="0" marL="0">
              <a:buNone/>
            </a:pPr>
            <a:r>
              <a:rPr lang="en-US" sz="1000" b="1" spc="140" kern="0" dirty="0">
                <a:solidFill>
                  <a:srgbClr val="2E7D73"/>
                </a:solidFill>
                <a:latin typeface="Arial" pitchFamily="34" charset="0"/>
                <a:ea typeface="Arial" pitchFamily="34" charset="-122"/>
                <a:cs typeface="Arial" pitchFamily="34" charset="-120"/>
              </a:rPr>
              <a:t>07 / PRODUCT PROOF</a:t>
            </a:r>
            <a:endParaRPr lang="en-US" sz="1000" dirty="0"/>
          </a:p>
        </p:txBody>
      </p:sp>
      <p:sp>
        <p:nvSpPr>
          <p:cNvPr id="3" name="Text 1"/>
          <p:cNvSpPr/>
          <p:nvPr/>
        </p:nvSpPr>
        <p:spPr>
          <a:xfrm>
            <a:off x="621792" y="658368"/>
            <a:ext cx="10972800" cy="676656"/>
          </a:xfrm>
          <a:prstGeom prst="rect">
            <a:avLst/>
          </a:prstGeom>
          <a:noFill/>
          <a:ln/>
        </p:spPr>
        <p:txBody>
          <a:bodyPr wrap="square" lIns="0" tIns="0" rIns="0" bIns="0" rtlCol="0" anchor="ctr">
            <a:normAutofit/>
          </a:bodyPr>
          <a:lstStyle/>
          <a:p>
            <a:pPr algn="l" indent="0" marL="0">
              <a:buNone/>
            </a:pPr>
            <a:r>
              <a:rPr lang="en-US" sz="2800" b="1" dirty="0">
                <a:solidFill>
                  <a:srgbClr val="12232B"/>
                </a:solidFill>
                <a:latin typeface="Arial" pitchFamily="34" charset="0"/>
                <a:ea typeface="Arial" pitchFamily="34" charset="-122"/>
                <a:cs typeface="Arial" pitchFamily="34" charset="-120"/>
              </a:rPr>
              <a:t>Show the product. Let the journey do the talking.</a:t>
            </a:r>
            <a:endParaRPr lang="en-US" sz="2800" dirty="0"/>
          </a:p>
        </p:txBody>
      </p:sp>
      <p:sp>
        <p:nvSpPr>
          <p:cNvPr id="4" name="Text 2"/>
          <p:cNvSpPr/>
          <p:nvPr/>
        </p:nvSpPr>
        <p:spPr>
          <a:xfrm>
            <a:off x="640080" y="1399032"/>
            <a:ext cx="10607040" cy="347472"/>
          </a:xfrm>
          <a:prstGeom prst="rect">
            <a:avLst/>
          </a:prstGeom>
          <a:noFill/>
          <a:ln/>
        </p:spPr>
        <p:txBody>
          <a:bodyPr wrap="square" lIns="0" tIns="0" rIns="0" bIns="0" rtlCol="0" anchor="ctr">
            <a:normAutofit/>
          </a:bodyPr>
          <a:lstStyle/>
          <a:p>
            <a:pPr algn="l" indent="0" marL="0">
              <a:buNone/>
            </a:pPr>
            <a:r>
              <a:rPr lang="en-US" sz="1300" dirty="0">
                <a:solidFill>
                  <a:srgbClr val="68767C"/>
                </a:solidFill>
                <a:latin typeface="Arial" pitchFamily="34" charset="0"/>
                <a:ea typeface="Arial" pitchFamily="34" charset="-122"/>
                <a:cs typeface="Arial" pitchFamily="34" charset="-120"/>
              </a:rPr>
              <a:t>Use this slide during the live demo to prove that MindMate is more than a concept.</a:t>
            </a:r>
            <a:endParaRPr lang="en-US" sz="1300" dirty="0"/>
          </a:p>
        </p:txBody>
      </p:sp>
      <p:sp>
        <p:nvSpPr>
          <p:cNvPr id="5" name="Shape 3"/>
          <p:cNvSpPr/>
          <p:nvPr/>
        </p:nvSpPr>
        <p:spPr>
          <a:xfrm>
            <a:off x="658368" y="1901952"/>
            <a:ext cx="1874520" cy="3913632"/>
          </a:xfrm>
          <a:prstGeom prst="roundRect">
            <a:avLst>
              <a:gd name="adj" fmla="val 3902"/>
            </a:avLst>
          </a:prstGeom>
          <a:solidFill>
            <a:srgbClr val="12232B"/>
          </a:solidFill>
          <a:ln w="12700">
            <a:solidFill>
              <a:srgbClr val="12232B">
                <a:alpha val="0"/>
              </a:srgbClr>
            </a:solidFill>
            <a:prstDash val="solid"/>
          </a:ln>
        </p:spPr>
      </p:sp>
      <p:sp>
        <p:nvSpPr>
          <p:cNvPr id="6" name="Shape 4"/>
          <p:cNvSpPr/>
          <p:nvPr/>
        </p:nvSpPr>
        <p:spPr>
          <a:xfrm>
            <a:off x="731520" y="2011680"/>
            <a:ext cx="1728216" cy="3694176"/>
          </a:xfrm>
          <a:prstGeom prst="roundRect">
            <a:avLst>
              <a:gd name="adj" fmla="val 4233"/>
            </a:avLst>
          </a:prstGeom>
          <a:solidFill>
            <a:srgbClr val="FFFFFF"/>
          </a:solidFill>
          <a:ln w="12700">
            <a:solidFill>
              <a:srgbClr val="FFFFFF">
                <a:alpha val="0"/>
              </a:srgbClr>
            </a:solidFill>
            <a:prstDash val="solid"/>
          </a:ln>
        </p:spPr>
      </p:sp>
      <p:sp>
        <p:nvSpPr>
          <p:cNvPr id="7" name="Shape 5"/>
          <p:cNvSpPr/>
          <p:nvPr/>
        </p:nvSpPr>
        <p:spPr>
          <a:xfrm>
            <a:off x="1394460" y="2066544"/>
            <a:ext cx="402336" cy="54864"/>
          </a:xfrm>
          <a:prstGeom prst="roundRect">
            <a:avLst>
              <a:gd name="adj" fmla="val 133333"/>
            </a:avLst>
          </a:prstGeom>
          <a:solidFill>
            <a:srgbClr val="12232B"/>
          </a:solidFill>
          <a:ln w="12700">
            <a:solidFill>
              <a:srgbClr val="12232B">
                <a:alpha val="0"/>
              </a:srgbClr>
            </a:solidFill>
            <a:prstDash val="solid"/>
          </a:ln>
        </p:spPr>
      </p:sp>
      <p:sp>
        <p:nvSpPr>
          <p:cNvPr id="8" name="Shape 6"/>
          <p:cNvSpPr/>
          <p:nvPr/>
        </p:nvSpPr>
        <p:spPr>
          <a:xfrm>
            <a:off x="804672" y="2231136"/>
            <a:ext cx="1581912" cy="3401568"/>
          </a:xfrm>
          <a:prstGeom prst="roundRect">
            <a:avLst>
              <a:gd name="adj" fmla="val 2890"/>
            </a:avLst>
          </a:prstGeom>
          <a:solidFill>
            <a:srgbClr val="FFFFFF"/>
          </a:solidFill>
          <a:ln w="12700">
            <a:solidFill>
              <a:srgbClr val="78AFA2"/>
            </a:solidFill>
            <a:prstDash val="dash"/>
          </a:ln>
        </p:spPr>
      </p:sp>
      <p:sp>
        <p:nvSpPr>
          <p:cNvPr id="9" name="Text 7"/>
          <p:cNvSpPr/>
          <p:nvPr/>
        </p:nvSpPr>
        <p:spPr>
          <a:xfrm>
            <a:off x="914400" y="3657600"/>
            <a:ext cx="1362456" cy="548640"/>
          </a:xfrm>
          <a:prstGeom prst="rect">
            <a:avLst/>
          </a:prstGeom>
          <a:noFill/>
          <a:ln/>
        </p:spPr>
        <p:txBody>
          <a:bodyPr wrap="square" lIns="0" tIns="0" rIns="0" bIns="0" rtlCol="0" anchor="ctr">
            <a:normAutofit/>
          </a:bodyPr>
          <a:lstStyle/>
          <a:p>
            <a:pPr algn="ctr" indent="0" marL="0">
              <a:buNone/>
            </a:pPr>
            <a:r>
              <a:rPr lang="en-US" sz="1000" b="1" dirty="0">
                <a:solidFill>
                  <a:srgbClr val="2E7D73"/>
                </a:solidFill>
                <a:latin typeface="Arial" pitchFamily="34" charset="0"/>
                <a:ea typeface="Arial" pitchFamily="34" charset="-122"/>
                <a:cs typeface="Arial" pitchFamily="34" charset="-120"/>
              </a:rPr>
              <a:t>ADD REAL SCREENSHOT</a:t>
            </a:r>
            <a:endParaRPr lang="en-US" sz="1000" dirty="0"/>
          </a:p>
          <a:p>
            <a:pPr algn="ctr" indent="0" marL="0">
              <a:buNone/>
            </a:pPr>
            <a:r>
              <a:rPr lang="en-US" sz="1000" b="1" dirty="0">
                <a:solidFill>
                  <a:srgbClr val="2E7D73"/>
                </a:solidFill>
                <a:latin typeface="Arial" pitchFamily="34" charset="0"/>
                <a:ea typeface="Arial" pitchFamily="34" charset="-122"/>
                <a:cs typeface="Arial" pitchFamily="34" charset="-120"/>
              </a:rPr>
              <a:t>HOME</a:t>
            </a:r>
            <a:endParaRPr lang="en-US" sz="1000" dirty="0"/>
          </a:p>
        </p:txBody>
      </p:sp>
      <p:sp>
        <p:nvSpPr>
          <p:cNvPr id="10" name="Shape 8"/>
          <p:cNvSpPr/>
          <p:nvPr/>
        </p:nvSpPr>
        <p:spPr>
          <a:xfrm>
            <a:off x="2852928" y="1901952"/>
            <a:ext cx="1874520" cy="3913632"/>
          </a:xfrm>
          <a:prstGeom prst="roundRect">
            <a:avLst>
              <a:gd name="adj" fmla="val 3902"/>
            </a:avLst>
          </a:prstGeom>
          <a:solidFill>
            <a:srgbClr val="12232B"/>
          </a:solidFill>
          <a:ln w="12700">
            <a:solidFill>
              <a:srgbClr val="12232B">
                <a:alpha val="0"/>
              </a:srgbClr>
            </a:solidFill>
            <a:prstDash val="solid"/>
          </a:ln>
        </p:spPr>
      </p:sp>
      <p:sp>
        <p:nvSpPr>
          <p:cNvPr id="11" name="Shape 9"/>
          <p:cNvSpPr/>
          <p:nvPr/>
        </p:nvSpPr>
        <p:spPr>
          <a:xfrm>
            <a:off x="2926080" y="2011680"/>
            <a:ext cx="1728216" cy="3694176"/>
          </a:xfrm>
          <a:prstGeom prst="roundRect">
            <a:avLst>
              <a:gd name="adj" fmla="val 4233"/>
            </a:avLst>
          </a:prstGeom>
          <a:solidFill>
            <a:srgbClr val="FFFFFF"/>
          </a:solidFill>
          <a:ln w="12700">
            <a:solidFill>
              <a:srgbClr val="FFFFFF">
                <a:alpha val="0"/>
              </a:srgbClr>
            </a:solidFill>
            <a:prstDash val="solid"/>
          </a:ln>
        </p:spPr>
      </p:sp>
      <p:sp>
        <p:nvSpPr>
          <p:cNvPr id="12" name="Shape 10"/>
          <p:cNvSpPr/>
          <p:nvPr/>
        </p:nvSpPr>
        <p:spPr>
          <a:xfrm>
            <a:off x="3589020" y="2066544"/>
            <a:ext cx="402336" cy="54864"/>
          </a:xfrm>
          <a:prstGeom prst="roundRect">
            <a:avLst>
              <a:gd name="adj" fmla="val 133333"/>
            </a:avLst>
          </a:prstGeom>
          <a:solidFill>
            <a:srgbClr val="12232B"/>
          </a:solidFill>
          <a:ln w="12700">
            <a:solidFill>
              <a:srgbClr val="12232B">
                <a:alpha val="0"/>
              </a:srgbClr>
            </a:solidFill>
            <a:prstDash val="solid"/>
          </a:ln>
        </p:spPr>
      </p:sp>
      <p:sp>
        <p:nvSpPr>
          <p:cNvPr id="13" name="Shape 11"/>
          <p:cNvSpPr/>
          <p:nvPr/>
        </p:nvSpPr>
        <p:spPr>
          <a:xfrm>
            <a:off x="2999232" y="2231136"/>
            <a:ext cx="1581912" cy="3401568"/>
          </a:xfrm>
          <a:prstGeom prst="roundRect">
            <a:avLst>
              <a:gd name="adj" fmla="val 2890"/>
            </a:avLst>
          </a:prstGeom>
          <a:solidFill>
            <a:srgbClr val="FFFFFF"/>
          </a:solidFill>
          <a:ln w="12700">
            <a:solidFill>
              <a:srgbClr val="78AFA2"/>
            </a:solidFill>
            <a:prstDash val="dash"/>
          </a:ln>
        </p:spPr>
      </p:sp>
      <p:sp>
        <p:nvSpPr>
          <p:cNvPr id="14" name="Text 12"/>
          <p:cNvSpPr/>
          <p:nvPr/>
        </p:nvSpPr>
        <p:spPr>
          <a:xfrm>
            <a:off x="3108960" y="3657600"/>
            <a:ext cx="1362456" cy="548640"/>
          </a:xfrm>
          <a:prstGeom prst="rect">
            <a:avLst/>
          </a:prstGeom>
          <a:noFill/>
          <a:ln/>
        </p:spPr>
        <p:txBody>
          <a:bodyPr wrap="square" lIns="0" tIns="0" rIns="0" bIns="0" rtlCol="0" anchor="ctr">
            <a:normAutofit/>
          </a:bodyPr>
          <a:lstStyle/>
          <a:p>
            <a:pPr algn="ctr" indent="0" marL="0">
              <a:buNone/>
            </a:pPr>
            <a:r>
              <a:rPr lang="en-US" sz="1000" b="1" dirty="0">
                <a:solidFill>
                  <a:srgbClr val="2E7D73"/>
                </a:solidFill>
                <a:latin typeface="Arial" pitchFamily="34" charset="0"/>
                <a:ea typeface="Arial" pitchFamily="34" charset="-122"/>
                <a:cs typeface="Arial" pitchFamily="34" charset="-120"/>
              </a:rPr>
              <a:t>ADD REAL SCREENSHOT</a:t>
            </a:r>
            <a:endParaRPr lang="en-US" sz="1000" dirty="0"/>
          </a:p>
          <a:p>
            <a:pPr algn="ctr" indent="0" marL="0">
              <a:buNone/>
            </a:pPr>
            <a:r>
              <a:rPr lang="en-US" sz="1000" b="1" dirty="0">
                <a:solidFill>
                  <a:srgbClr val="2E7D73"/>
                </a:solidFill>
                <a:latin typeface="Arial" pitchFamily="34" charset="0"/>
                <a:ea typeface="Arial" pitchFamily="34" charset="-122"/>
                <a:cs typeface="Arial" pitchFamily="34" charset="-120"/>
              </a:rPr>
              <a:t>CHECK-IN</a:t>
            </a:r>
            <a:endParaRPr lang="en-US" sz="1000" dirty="0"/>
          </a:p>
          <a:p>
            <a:pPr algn="ctr" indent="0" marL="0">
              <a:buNone/>
            </a:pPr>
            <a:r>
              <a:rPr lang="en-US" sz="1000" b="1" dirty="0">
                <a:solidFill>
                  <a:srgbClr val="2E7D73"/>
                </a:solidFill>
                <a:latin typeface="Arial" pitchFamily="34" charset="0"/>
                <a:ea typeface="Arial" pitchFamily="34" charset="-122"/>
                <a:cs typeface="Arial" pitchFamily="34" charset="-120"/>
              </a:rPr>
              <a:t>+ ONE SMALL STEP</a:t>
            </a:r>
            <a:endParaRPr lang="en-US" sz="1000" dirty="0"/>
          </a:p>
        </p:txBody>
      </p:sp>
      <p:sp>
        <p:nvSpPr>
          <p:cNvPr id="15" name="Shape 13"/>
          <p:cNvSpPr/>
          <p:nvPr/>
        </p:nvSpPr>
        <p:spPr>
          <a:xfrm>
            <a:off x="5047488" y="1901952"/>
            <a:ext cx="1874520" cy="3913632"/>
          </a:xfrm>
          <a:prstGeom prst="roundRect">
            <a:avLst>
              <a:gd name="adj" fmla="val 3902"/>
            </a:avLst>
          </a:prstGeom>
          <a:solidFill>
            <a:srgbClr val="12232B"/>
          </a:solidFill>
          <a:ln w="12700">
            <a:solidFill>
              <a:srgbClr val="12232B">
                <a:alpha val="0"/>
              </a:srgbClr>
            </a:solidFill>
            <a:prstDash val="solid"/>
          </a:ln>
        </p:spPr>
      </p:sp>
      <p:sp>
        <p:nvSpPr>
          <p:cNvPr id="16" name="Shape 14"/>
          <p:cNvSpPr/>
          <p:nvPr/>
        </p:nvSpPr>
        <p:spPr>
          <a:xfrm>
            <a:off x="5120640" y="2011680"/>
            <a:ext cx="1728216" cy="3694176"/>
          </a:xfrm>
          <a:prstGeom prst="roundRect">
            <a:avLst>
              <a:gd name="adj" fmla="val 4233"/>
            </a:avLst>
          </a:prstGeom>
          <a:solidFill>
            <a:srgbClr val="FFFFFF"/>
          </a:solidFill>
          <a:ln w="12700">
            <a:solidFill>
              <a:srgbClr val="FFFFFF">
                <a:alpha val="0"/>
              </a:srgbClr>
            </a:solidFill>
            <a:prstDash val="solid"/>
          </a:ln>
        </p:spPr>
      </p:sp>
      <p:sp>
        <p:nvSpPr>
          <p:cNvPr id="17" name="Shape 15"/>
          <p:cNvSpPr/>
          <p:nvPr/>
        </p:nvSpPr>
        <p:spPr>
          <a:xfrm>
            <a:off x="5783580" y="2066544"/>
            <a:ext cx="402336" cy="54864"/>
          </a:xfrm>
          <a:prstGeom prst="roundRect">
            <a:avLst>
              <a:gd name="adj" fmla="val 133333"/>
            </a:avLst>
          </a:prstGeom>
          <a:solidFill>
            <a:srgbClr val="12232B"/>
          </a:solidFill>
          <a:ln w="12700">
            <a:solidFill>
              <a:srgbClr val="12232B">
                <a:alpha val="0"/>
              </a:srgbClr>
            </a:solidFill>
            <a:prstDash val="solid"/>
          </a:ln>
        </p:spPr>
      </p:sp>
      <p:sp>
        <p:nvSpPr>
          <p:cNvPr id="18" name="Shape 16"/>
          <p:cNvSpPr/>
          <p:nvPr/>
        </p:nvSpPr>
        <p:spPr>
          <a:xfrm>
            <a:off x="5193792" y="2231136"/>
            <a:ext cx="1581912" cy="3401568"/>
          </a:xfrm>
          <a:prstGeom prst="roundRect">
            <a:avLst>
              <a:gd name="adj" fmla="val 2890"/>
            </a:avLst>
          </a:prstGeom>
          <a:solidFill>
            <a:srgbClr val="FFFFFF"/>
          </a:solidFill>
          <a:ln w="12700">
            <a:solidFill>
              <a:srgbClr val="78AFA2"/>
            </a:solidFill>
            <a:prstDash val="dash"/>
          </a:ln>
        </p:spPr>
      </p:sp>
      <p:sp>
        <p:nvSpPr>
          <p:cNvPr id="19" name="Text 17"/>
          <p:cNvSpPr/>
          <p:nvPr/>
        </p:nvSpPr>
        <p:spPr>
          <a:xfrm>
            <a:off x="5303520" y="3657600"/>
            <a:ext cx="1362456" cy="548640"/>
          </a:xfrm>
          <a:prstGeom prst="rect">
            <a:avLst/>
          </a:prstGeom>
          <a:noFill/>
          <a:ln/>
        </p:spPr>
        <p:txBody>
          <a:bodyPr wrap="square" lIns="0" tIns="0" rIns="0" bIns="0" rtlCol="0" anchor="ctr">
            <a:normAutofit/>
          </a:bodyPr>
          <a:lstStyle/>
          <a:p>
            <a:pPr algn="ctr" indent="0" marL="0">
              <a:buNone/>
            </a:pPr>
            <a:r>
              <a:rPr lang="en-US" sz="1000" b="1" dirty="0">
                <a:solidFill>
                  <a:srgbClr val="2E7D73"/>
                </a:solidFill>
                <a:latin typeface="Arial" pitchFamily="34" charset="0"/>
                <a:ea typeface="Arial" pitchFamily="34" charset="-122"/>
                <a:cs typeface="Arial" pitchFamily="34" charset="-120"/>
              </a:rPr>
              <a:t>ADD REAL SCREENSHOT</a:t>
            </a:r>
            <a:endParaRPr lang="en-US" sz="1000" dirty="0"/>
          </a:p>
          <a:p>
            <a:pPr algn="ctr" indent="0" marL="0">
              <a:buNone/>
            </a:pPr>
            <a:r>
              <a:rPr lang="en-US" sz="1000" b="1" dirty="0">
                <a:solidFill>
                  <a:srgbClr val="2E7D73"/>
                </a:solidFill>
                <a:latin typeface="Arial" pitchFamily="34" charset="0"/>
                <a:ea typeface="Arial" pitchFamily="34" charset="-122"/>
                <a:cs typeface="Arial" pitchFamily="34" charset="-120"/>
              </a:rPr>
              <a:t>CHAT</a:t>
            </a:r>
            <a:endParaRPr lang="en-US" sz="1000" dirty="0"/>
          </a:p>
          <a:p>
            <a:pPr algn="ctr" indent="0" marL="0">
              <a:buNone/>
            </a:pPr>
            <a:r>
              <a:rPr lang="en-US" sz="1000" b="1" dirty="0">
                <a:solidFill>
                  <a:srgbClr val="2E7D73"/>
                </a:solidFill>
                <a:latin typeface="Arial" pitchFamily="34" charset="0"/>
                <a:ea typeface="Arial" pitchFamily="34" charset="-122"/>
                <a:cs typeface="Arial" pitchFamily="34" charset="-120"/>
              </a:rPr>
              <a:t>+ SUPPORT</a:t>
            </a:r>
            <a:endParaRPr lang="en-US" sz="1000" dirty="0"/>
          </a:p>
        </p:txBody>
      </p:sp>
      <p:sp>
        <p:nvSpPr>
          <p:cNvPr id="20" name="Shape 18"/>
          <p:cNvSpPr/>
          <p:nvPr/>
        </p:nvSpPr>
        <p:spPr>
          <a:xfrm>
            <a:off x="7406640" y="1901952"/>
            <a:ext cx="4114800" cy="3913632"/>
          </a:xfrm>
          <a:prstGeom prst="roundRect">
            <a:avLst>
              <a:gd name="adj" fmla="val 1869"/>
            </a:avLst>
          </a:prstGeom>
          <a:solidFill>
            <a:srgbClr val="12232B"/>
          </a:solidFill>
          <a:ln w="12700">
            <a:solidFill>
              <a:srgbClr val="12232B">
                <a:alpha val="0"/>
              </a:srgbClr>
            </a:solidFill>
            <a:prstDash val="solid"/>
          </a:ln>
        </p:spPr>
      </p:sp>
      <p:sp>
        <p:nvSpPr>
          <p:cNvPr id="21" name="Text 19"/>
          <p:cNvSpPr/>
          <p:nvPr/>
        </p:nvSpPr>
        <p:spPr>
          <a:xfrm>
            <a:off x="7754112" y="2249424"/>
            <a:ext cx="3246120" cy="256032"/>
          </a:xfrm>
          <a:prstGeom prst="rect">
            <a:avLst/>
          </a:prstGeom>
          <a:noFill/>
          <a:ln/>
        </p:spPr>
        <p:txBody>
          <a:bodyPr wrap="square" lIns="0" tIns="0" rIns="0" bIns="0" rtlCol="0" anchor="ctr">
            <a:normAutofit/>
          </a:bodyPr>
          <a:lstStyle/>
          <a:p>
            <a:pPr algn="l" indent="0" marL="0">
              <a:buNone/>
            </a:pPr>
            <a:r>
              <a:rPr lang="en-US" sz="1100" b="1" spc="120" kern="0" dirty="0">
                <a:solidFill>
                  <a:srgbClr val="78AFA2"/>
                </a:solidFill>
                <a:latin typeface="Arial" pitchFamily="34" charset="0"/>
                <a:ea typeface="Arial" pitchFamily="34" charset="-122"/>
                <a:cs typeface="Arial" pitchFamily="34" charset="-120"/>
              </a:rPr>
              <a:t>WHAT THE JUDGE SHOULD SEE</a:t>
            </a:r>
            <a:endParaRPr lang="en-US" sz="1100" dirty="0"/>
          </a:p>
        </p:txBody>
      </p:sp>
      <p:sp>
        <p:nvSpPr>
          <p:cNvPr id="22" name="Text 20"/>
          <p:cNvSpPr/>
          <p:nvPr/>
        </p:nvSpPr>
        <p:spPr>
          <a:xfrm>
            <a:off x="7754112" y="2852928"/>
            <a:ext cx="310896" cy="228600"/>
          </a:xfrm>
          <a:prstGeom prst="rect">
            <a:avLst/>
          </a:prstGeom>
          <a:noFill/>
          <a:ln/>
        </p:spPr>
        <p:txBody>
          <a:bodyPr wrap="square" lIns="0" tIns="0" rIns="0" bIns="0" rtlCol="0" anchor="ctr">
            <a:normAutofit/>
          </a:bodyPr>
          <a:lstStyle/>
          <a:p>
            <a:pPr algn="l" indent="0" marL="0">
              <a:buNone/>
            </a:pPr>
            <a:r>
              <a:rPr lang="en-US" sz="1200" b="1" dirty="0">
                <a:solidFill>
                  <a:srgbClr val="D9776A"/>
                </a:solidFill>
                <a:latin typeface="Arial" pitchFamily="34" charset="0"/>
                <a:ea typeface="Arial" pitchFamily="34" charset="-122"/>
                <a:cs typeface="Arial" pitchFamily="34" charset="-120"/>
              </a:rPr>
              <a:t>01</a:t>
            </a:r>
            <a:endParaRPr lang="en-US" sz="1200" dirty="0"/>
          </a:p>
        </p:txBody>
      </p:sp>
      <p:sp>
        <p:nvSpPr>
          <p:cNvPr id="23" name="Text 21"/>
          <p:cNvSpPr/>
          <p:nvPr/>
        </p:nvSpPr>
        <p:spPr>
          <a:xfrm>
            <a:off x="8229600" y="2816352"/>
            <a:ext cx="2651760" cy="274320"/>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rial" pitchFamily="34" charset="0"/>
                <a:ea typeface="Arial" pitchFamily="34" charset="-122"/>
                <a:cs typeface="Arial" pitchFamily="34" charset="-120"/>
              </a:rPr>
              <a:t>A real check-in</a:t>
            </a:r>
            <a:endParaRPr lang="en-US" sz="1600" dirty="0"/>
          </a:p>
        </p:txBody>
      </p:sp>
      <p:sp>
        <p:nvSpPr>
          <p:cNvPr id="24" name="Text 22"/>
          <p:cNvSpPr/>
          <p:nvPr/>
        </p:nvSpPr>
        <p:spPr>
          <a:xfrm>
            <a:off x="7754112" y="3419856"/>
            <a:ext cx="310896" cy="228600"/>
          </a:xfrm>
          <a:prstGeom prst="rect">
            <a:avLst/>
          </a:prstGeom>
          <a:noFill/>
          <a:ln/>
        </p:spPr>
        <p:txBody>
          <a:bodyPr wrap="square" lIns="0" tIns="0" rIns="0" bIns="0" rtlCol="0" anchor="ctr">
            <a:normAutofit/>
          </a:bodyPr>
          <a:lstStyle/>
          <a:p>
            <a:pPr algn="l" indent="0" marL="0">
              <a:buNone/>
            </a:pPr>
            <a:r>
              <a:rPr lang="en-US" sz="1200" b="1" dirty="0">
                <a:solidFill>
                  <a:srgbClr val="D9776A"/>
                </a:solidFill>
                <a:latin typeface="Arial" pitchFamily="34" charset="0"/>
                <a:ea typeface="Arial" pitchFamily="34" charset="-122"/>
                <a:cs typeface="Arial" pitchFamily="34" charset="-120"/>
              </a:rPr>
              <a:t>02</a:t>
            </a:r>
            <a:endParaRPr lang="en-US" sz="1200" dirty="0"/>
          </a:p>
        </p:txBody>
      </p:sp>
      <p:sp>
        <p:nvSpPr>
          <p:cNvPr id="25" name="Text 23"/>
          <p:cNvSpPr/>
          <p:nvPr/>
        </p:nvSpPr>
        <p:spPr>
          <a:xfrm>
            <a:off x="8229600" y="3383280"/>
            <a:ext cx="2651760" cy="274320"/>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rial" pitchFamily="34" charset="0"/>
                <a:ea typeface="Arial" pitchFamily="34" charset="-122"/>
                <a:cs typeface="Arial" pitchFamily="34" charset="-120"/>
              </a:rPr>
              <a:t>A clear next step</a:t>
            </a:r>
            <a:endParaRPr lang="en-US" sz="1600" dirty="0"/>
          </a:p>
        </p:txBody>
      </p:sp>
      <p:sp>
        <p:nvSpPr>
          <p:cNvPr id="26" name="Text 24"/>
          <p:cNvSpPr/>
          <p:nvPr/>
        </p:nvSpPr>
        <p:spPr>
          <a:xfrm>
            <a:off x="7754112" y="3986784"/>
            <a:ext cx="310896" cy="228600"/>
          </a:xfrm>
          <a:prstGeom prst="rect">
            <a:avLst/>
          </a:prstGeom>
          <a:noFill/>
          <a:ln/>
        </p:spPr>
        <p:txBody>
          <a:bodyPr wrap="square" lIns="0" tIns="0" rIns="0" bIns="0" rtlCol="0" anchor="ctr">
            <a:normAutofit/>
          </a:bodyPr>
          <a:lstStyle/>
          <a:p>
            <a:pPr algn="l" indent="0" marL="0">
              <a:buNone/>
            </a:pPr>
            <a:r>
              <a:rPr lang="en-US" sz="1200" b="1" dirty="0">
                <a:solidFill>
                  <a:srgbClr val="D9776A"/>
                </a:solidFill>
                <a:latin typeface="Arial" pitchFamily="34" charset="0"/>
                <a:ea typeface="Arial" pitchFamily="34" charset="-122"/>
                <a:cs typeface="Arial" pitchFamily="34" charset="-120"/>
              </a:rPr>
              <a:t>03</a:t>
            </a:r>
            <a:endParaRPr lang="en-US" sz="1200" dirty="0"/>
          </a:p>
        </p:txBody>
      </p:sp>
      <p:sp>
        <p:nvSpPr>
          <p:cNvPr id="27" name="Text 25"/>
          <p:cNvSpPr/>
          <p:nvPr/>
        </p:nvSpPr>
        <p:spPr>
          <a:xfrm>
            <a:off x="8229600" y="3950208"/>
            <a:ext cx="2651760" cy="274320"/>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rial" pitchFamily="34" charset="0"/>
                <a:ea typeface="Arial" pitchFamily="34" charset="-122"/>
                <a:cs typeface="Arial" pitchFamily="34" charset="-120"/>
              </a:rPr>
              <a:t>Useful reflection or Chat</a:t>
            </a:r>
            <a:endParaRPr lang="en-US" sz="1600" dirty="0"/>
          </a:p>
        </p:txBody>
      </p:sp>
      <p:sp>
        <p:nvSpPr>
          <p:cNvPr id="28" name="Text 26"/>
          <p:cNvSpPr/>
          <p:nvPr/>
        </p:nvSpPr>
        <p:spPr>
          <a:xfrm>
            <a:off x="7754112" y="4553712"/>
            <a:ext cx="310896" cy="228600"/>
          </a:xfrm>
          <a:prstGeom prst="rect">
            <a:avLst/>
          </a:prstGeom>
          <a:noFill/>
          <a:ln/>
        </p:spPr>
        <p:txBody>
          <a:bodyPr wrap="square" lIns="0" tIns="0" rIns="0" bIns="0" rtlCol="0" anchor="ctr">
            <a:normAutofit/>
          </a:bodyPr>
          <a:lstStyle/>
          <a:p>
            <a:pPr algn="l" indent="0" marL="0">
              <a:buNone/>
            </a:pPr>
            <a:r>
              <a:rPr lang="en-US" sz="1200" b="1" dirty="0">
                <a:solidFill>
                  <a:srgbClr val="D9776A"/>
                </a:solidFill>
                <a:latin typeface="Arial" pitchFamily="34" charset="0"/>
                <a:ea typeface="Arial" pitchFamily="34" charset="-122"/>
                <a:cs typeface="Arial" pitchFamily="34" charset="-120"/>
              </a:rPr>
              <a:t>04</a:t>
            </a:r>
            <a:endParaRPr lang="en-US" sz="1200" dirty="0"/>
          </a:p>
        </p:txBody>
      </p:sp>
      <p:sp>
        <p:nvSpPr>
          <p:cNvPr id="29" name="Text 27"/>
          <p:cNvSpPr/>
          <p:nvPr/>
        </p:nvSpPr>
        <p:spPr>
          <a:xfrm>
            <a:off x="8229600" y="4517136"/>
            <a:ext cx="2651760" cy="274320"/>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rial" pitchFamily="34" charset="0"/>
                <a:ea typeface="Arial" pitchFamily="34" charset="-122"/>
                <a:cs typeface="Arial" pitchFamily="34" charset="-120"/>
              </a:rPr>
              <a:t>A visible support route</a:t>
            </a:r>
            <a:endParaRPr lang="en-US" sz="1600" dirty="0"/>
          </a:p>
        </p:txBody>
      </p:sp>
      <p:sp>
        <p:nvSpPr>
          <p:cNvPr id="30" name="Text 28"/>
          <p:cNvSpPr/>
          <p:nvPr/>
        </p:nvSpPr>
        <p:spPr>
          <a:xfrm>
            <a:off x="7754112" y="5285232"/>
            <a:ext cx="3246120" cy="384048"/>
          </a:xfrm>
          <a:prstGeom prst="rect">
            <a:avLst/>
          </a:prstGeom>
          <a:noFill/>
          <a:ln/>
        </p:spPr>
        <p:txBody>
          <a:bodyPr wrap="square" lIns="0" tIns="0" rIns="0" bIns="0" rtlCol="0" anchor="ctr">
            <a:normAutofit/>
          </a:bodyPr>
          <a:lstStyle/>
          <a:p>
            <a:pPr algn="l" indent="0" marL="0">
              <a:buNone/>
            </a:pPr>
            <a:r>
              <a:rPr lang="en-US" sz="1500" b="1" dirty="0">
                <a:solidFill>
                  <a:srgbClr val="F4E7D4"/>
                </a:solidFill>
                <a:latin typeface="Arial" pitchFamily="34" charset="0"/>
                <a:ea typeface="Arial" pitchFamily="34" charset="-122"/>
                <a:cs typeface="Arial" pitchFamily="34" charset="-120"/>
              </a:rPr>
              <a:t>Show the flow, not a feature tour.</a:t>
            </a:r>
            <a:endParaRPr lang="en-US" sz="1500" dirty="0"/>
          </a:p>
        </p:txBody>
      </p:sp>
      <p:sp>
        <p:nvSpPr>
          <p:cNvPr id="31" name="Text 29"/>
          <p:cNvSpPr/>
          <p:nvPr/>
        </p:nvSpPr>
        <p:spPr>
          <a:xfrm>
            <a:off x="621792" y="6437376"/>
            <a:ext cx="1828800"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78908A"/>
                </a:solidFill>
                <a:latin typeface="Arial" pitchFamily="34" charset="0"/>
                <a:ea typeface="Arial" pitchFamily="34" charset="-122"/>
                <a:cs typeface="Arial" pitchFamily="34" charset="-120"/>
              </a:rPr>
              <a:t>MINDMATE</a:t>
            </a:r>
            <a:endParaRPr lang="en-US" sz="800" dirty="0"/>
          </a:p>
        </p:txBody>
      </p:sp>
      <p:sp>
        <p:nvSpPr>
          <p:cNvPr id="25" name="Slide Number Placeholder 0"/>
          <p:cNvSpPr>
            <a:spLocks noGrp="1"/>
          </p:cNvSpPr>
          <p:nvPr>
            <p:ph type="sldNum" sz="quarter" idx="4294967295"/>
          </p:nvPr>
        </p:nvSpPr>
        <p:spPr>
          <a:xfrm>
            <a:off x="11475720" y="647395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8908A"/>
                </a:solidFill>
                <a:latin typeface="Arial"/>
                <a:ea typeface="Arial"/>
                <a:cs typeface="Aria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21792" y="384048"/>
            <a:ext cx="5303520" cy="219456"/>
          </a:xfrm>
          <a:prstGeom prst="rect">
            <a:avLst/>
          </a:prstGeom>
          <a:noFill/>
          <a:ln/>
        </p:spPr>
        <p:txBody>
          <a:bodyPr wrap="square" lIns="0" tIns="0" rIns="0" bIns="0" rtlCol="0" anchor="ctr">
            <a:normAutofit/>
          </a:bodyPr>
          <a:lstStyle/>
          <a:p>
            <a:pPr algn="l" indent="0" marL="0">
              <a:buNone/>
            </a:pPr>
            <a:r>
              <a:rPr lang="en-US" sz="1000" b="1" spc="140" kern="0" dirty="0">
                <a:solidFill>
                  <a:srgbClr val="2E7D73"/>
                </a:solidFill>
                <a:latin typeface="Arial" pitchFamily="34" charset="0"/>
                <a:ea typeface="Arial" pitchFamily="34" charset="-122"/>
                <a:cs typeface="Arial" pitchFamily="34" charset="-120"/>
              </a:rPr>
              <a:t>08 / BUSINESS MODEL</a:t>
            </a:r>
            <a:endParaRPr lang="en-US" sz="1000" dirty="0"/>
          </a:p>
        </p:txBody>
      </p:sp>
      <p:sp>
        <p:nvSpPr>
          <p:cNvPr id="3" name="Text 1"/>
          <p:cNvSpPr/>
          <p:nvPr/>
        </p:nvSpPr>
        <p:spPr>
          <a:xfrm>
            <a:off x="621792" y="658368"/>
            <a:ext cx="10972800" cy="676656"/>
          </a:xfrm>
          <a:prstGeom prst="rect">
            <a:avLst/>
          </a:prstGeom>
          <a:noFill/>
          <a:ln/>
        </p:spPr>
        <p:txBody>
          <a:bodyPr wrap="square" lIns="0" tIns="0" rIns="0" bIns="0" rtlCol="0" anchor="ctr">
            <a:normAutofit/>
          </a:bodyPr>
          <a:lstStyle/>
          <a:p>
            <a:pPr algn="l" indent="0" marL="0">
              <a:buNone/>
            </a:pPr>
            <a:r>
              <a:rPr lang="en-US" sz="2800" b="1" dirty="0">
                <a:solidFill>
                  <a:srgbClr val="12232B"/>
                </a:solidFill>
                <a:latin typeface="Arial" pitchFamily="34" charset="0"/>
                <a:ea typeface="Arial" pitchFamily="34" charset="-122"/>
                <a:cs typeface="Arial" pitchFamily="34" charset="-120"/>
              </a:rPr>
              <a:t>Keep access free for young people while building a sustainable revenue path</a:t>
            </a:r>
            <a:endParaRPr lang="en-US" sz="2800" dirty="0"/>
          </a:p>
        </p:txBody>
      </p:sp>
      <p:sp>
        <p:nvSpPr>
          <p:cNvPr id="4" name="Text 2"/>
          <p:cNvSpPr/>
          <p:nvPr/>
        </p:nvSpPr>
        <p:spPr>
          <a:xfrm>
            <a:off x="640080" y="1399032"/>
            <a:ext cx="10607040" cy="347472"/>
          </a:xfrm>
          <a:prstGeom prst="rect">
            <a:avLst/>
          </a:prstGeom>
          <a:noFill/>
          <a:ln/>
        </p:spPr>
        <p:txBody>
          <a:bodyPr wrap="square" lIns="0" tIns="0" rIns="0" bIns="0" rtlCol="0" anchor="ctr">
            <a:normAutofit/>
          </a:bodyPr>
          <a:lstStyle/>
          <a:p>
            <a:pPr algn="l" indent="0" marL="0">
              <a:buNone/>
            </a:pPr>
            <a:r>
              <a:rPr lang="en-US" sz="1300" dirty="0">
                <a:solidFill>
                  <a:srgbClr val="68767C"/>
                </a:solidFill>
                <a:latin typeface="Arial" pitchFamily="34" charset="0"/>
                <a:ea typeface="Arial" pitchFamily="34" charset="-122"/>
                <a:cs typeface="Arial" pitchFamily="34" charset="-120"/>
              </a:rPr>
              <a:t>The core idea is simple: young people get the essential journey; future funding and paid extensions can support sustainability.</a:t>
            </a:r>
            <a:endParaRPr lang="en-US" sz="1300" dirty="0"/>
          </a:p>
        </p:txBody>
      </p:sp>
      <p:sp>
        <p:nvSpPr>
          <p:cNvPr id="5" name="Shape 3"/>
          <p:cNvSpPr/>
          <p:nvPr/>
        </p:nvSpPr>
        <p:spPr>
          <a:xfrm>
            <a:off x="658368" y="2148840"/>
            <a:ext cx="3401568" cy="3319272"/>
          </a:xfrm>
          <a:prstGeom prst="roundRect">
            <a:avLst>
              <a:gd name="adj" fmla="val 2204"/>
            </a:avLst>
          </a:prstGeom>
          <a:solidFill>
            <a:srgbClr val="DDEEE9"/>
          </a:solidFill>
          <a:ln w="12700">
            <a:solidFill>
              <a:srgbClr val="DDEEE9">
                <a:alpha val="0"/>
              </a:srgbClr>
            </a:solidFill>
            <a:prstDash val="solid"/>
          </a:ln>
        </p:spPr>
      </p:sp>
      <p:sp>
        <p:nvSpPr>
          <p:cNvPr id="6" name="Text 4"/>
          <p:cNvSpPr/>
          <p:nvPr/>
        </p:nvSpPr>
        <p:spPr>
          <a:xfrm>
            <a:off x="914400" y="2468880"/>
            <a:ext cx="2743200" cy="201168"/>
          </a:xfrm>
          <a:prstGeom prst="rect">
            <a:avLst/>
          </a:prstGeom>
          <a:noFill/>
          <a:ln/>
        </p:spPr>
        <p:txBody>
          <a:bodyPr wrap="square" lIns="0" tIns="0" rIns="0" bIns="0" rtlCol="0" anchor="ctr">
            <a:normAutofit/>
          </a:bodyPr>
          <a:lstStyle/>
          <a:p>
            <a:pPr algn="l" indent="0" marL="0">
              <a:buNone/>
            </a:pPr>
            <a:r>
              <a:rPr lang="en-US" sz="1000" b="1" spc="120" kern="0" dirty="0">
                <a:solidFill>
                  <a:srgbClr val="2E7D73"/>
                </a:solidFill>
                <a:latin typeface="Arial" pitchFamily="34" charset="0"/>
                <a:ea typeface="Arial" pitchFamily="34" charset="-122"/>
                <a:cs typeface="Arial" pitchFamily="34" charset="-120"/>
              </a:rPr>
              <a:t>FREE USER</a:t>
            </a:r>
            <a:endParaRPr lang="en-US" sz="1000" dirty="0"/>
          </a:p>
        </p:txBody>
      </p:sp>
      <p:sp>
        <p:nvSpPr>
          <p:cNvPr id="7" name="Text 5"/>
          <p:cNvSpPr/>
          <p:nvPr/>
        </p:nvSpPr>
        <p:spPr>
          <a:xfrm>
            <a:off x="914400" y="2852928"/>
            <a:ext cx="2743200" cy="329184"/>
          </a:xfrm>
          <a:prstGeom prst="rect">
            <a:avLst/>
          </a:prstGeom>
          <a:noFill/>
          <a:ln/>
        </p:spPr>
        <p:txBody>
          <a:bodyPr wrap="square" lIns="0" tIns="0" rIns="0" bIns="0" rtlCol="0" anchor="ctr">
            <a:normAutofit/>
          </a:bodyPr>
          <a:lstStyle/>
          <a:p>
            <a:pPr algn="l" indent="0" marL="0">
              <a:buNone/>
            </a:pPr>
            <a:r>
              <a:rPr lang="en-US" sz="2000" b="1" dirty="0">
                <a:solidFill>
                  <a:srgbClr val="12232B"/>
                </a:solidFill>
                <a:latin typeface="Arial" pitchFamily="34" charset="0"/>
                <a:ea typeface="Arial" pitchFamily="34" charset="-122"/>
                <a:cs typeface="Arial" pitchFamily="34" charset="-120"/>
              </a:rPr>
              <a:t>YOUNG PERSON</a:t>
            </a:r>
            <a:endParaRPr lang="en-US" sz="2000" dirty="0"/>
          </a:p>
        </p:txBody>
      </p:sp>
      <p:sp>
        <p:nvSpPr>
          <p:cNvPr id="8" name="Text 6"/>
          <p:cNvSpPr/>
          <p:nvPr/>
        </p:nvSpPr>
        <p:spPr>
          <a:xfrm>
            <a:off x="914400" y="3456432"/>
            <a:ext cx="2798064" cy="1463040"/>
          </a:xfrm>
          <a:prstGeom prst="rect">
            <a:avLst/>
          </a:prstGeom>
          <a:noFill/>
          <a:ln/>
        </p:spPr>
        <p:txBody>
          <a:bodyPr wrap="square" lIns="0" tIns="0" rIns="0" bIns="0" rtlCol="0" anchor="ctr">
            <a:normAutofit/>
          </a:bodyPr>
          <a:lstStyle/>
          <a:p>
            <a:pPr algn="l" indent="0" marL="0">
              <a:buNone/>
            </a:pPr>
            <a:r>
              <a:rPr lang="en-US" sz="1230" dirty="0">
                <a:solidFill>
                  <a:srgbClr val="182A35"/>
                </a:solidFill>
                <a:latin typeface="Arial" pitchFamily="34" charset="0"/>
                <a:ea typeface="Arial" pitchFamily="34" charset="-122"/>
                <a:cs typeface="Arial" pitchFamily="34" charset="-120"/>
              </a:rPr>
              <a:t>Essential MindMate journey:</a:t>
            </a:r>
            <a:endParaRPr lang="en-US" sz="1230" dirty="0"/>
          </a:p>
          <a:p>
            <a:pPr algn="l" indent="0" marL="0">
              <a:buNone/>
            </a:pPr>
            <a:r>
              <a:rPr lang="en-US" sz="1230" dirty="0">
                <a:solidFill>
                  <a:srgbClr val="182A35"/>
                </a:solidFill>
                <a:latin typeface="Arial" pitchFamily="34" charset="0"/>
                <a:ea typeface="Arial" pitchFamily="34" charset="-122"/>
                <a:cs typeface="Arial" pitchFamily="34" charset="-120"/>
              </a:rPr>
              <a:t>• Check-ins + next steps</a:t>
            </a:r>
            <a:endParaRPr lang="en-US" sz="1230" dirty="0"/>
          </a:p>
          <a:p>
            <a:pPr algn="l" indent="0" marL="0">
              <a:buNone/>
            </a:pPr>
            <a:r>
              <a:rPr lang="en-US" sz="1230" dirty="0">
                <a:solidFill>
                  <a:srgbClr val="182A35"/>
                </a:solidFill>
                <a:latin typeface="Arial" pitchFamily="34" charset="0"/>
                <a:ea typeface="Arial" pitchFamily="34" charset="-122"/>
                <a:cs typeface="Arial" pitchFamily="34" charset="-120"/>
              </a:rPr>
              <a:t>• Chat + journaling</a:t>
            </a:r>
            <a:endParaRPr lang="en-US" sz="1230" dirty="0"/>
          </a:p>
          <a:p>
            <a:pPr algn="l" indent="0" marL="0">
              <a:buNone/>
            </a:pPr>
            <a:r>
              <a:rPr lang="en-US" sz="1230" dirty="0">
                <a:solidFill>
                  <a:srgbClr val="182A35"/>
                </a:solidFill>
                <a:latin typeface="Arial" pitchFamily="34" charset="0"/>
                <a:ea typeface="Arial" pitchFamily="34" charset="-122"/>
                <a:cs typeface="Arial" pitchFamily="34" charset="-120"/>
              </a:rPr>
              <a:t>• Breathing / meditation</a:t>
            </a:r>
            <a:endParaRPr lang="en-US" sz="1230" dirty="0"/>
          </a:p>
          <a:p>
            <a:pPr algn="l" indent="0" marL="0">
              <a:buNone/>
            </a:pPr>
            <a:r>
              <a:rPr lang="en-US" sz="1230" dirty="0">
                <a:solidFill>
                  <a:srgbClr val="182A35"/>
                </a:solidFill>
                <a:latin typeface="Arial" pitchFamily="34" charset="0"/>
                <a:ea typeface="Arial" pitchFamily="34" charset="-122"/>
                <a:cs typeface="Arial" pitchFamily="34" charset="-120"/>
              </a:rPr>
              <a:t>• Learn + support routes</a:t>
            </a:r>
            <a:endParaRPr lang="en-US" sz="1230" dirty="0"/>
          </a:p>
        </p:txBody>
      </p:sp>
      <p:sp>
        <p:nvSpPr>
          <p:cNvPr id="9" name="Text 7"/>
          <p:cNvSpPr/>
          <p:nvPr/>
        </p:nvSpPr>
        <p:spPr>
          <a:xfrm>
            <a:off x="4114800" y="3493008"/>
            <a:ext cx="274320" cy="320040"/>
          </a:xfrm>
          <a:prstGeom prst="rect">
            <a:avLst/>
          </a:prstGeom>
          <a:noFill/>
          <a:ln/>
        </p:spPr>
        <p:txBody>
          <a:bodyPr wrap="square" lIns="0" tIns="0" rIns="0" bIns="0" rtlCol="0" anchor="ctr">
            <a:normAutofit/>
          </a:bodyPr>
          <a:lstStyle/>
          <a:p>
            <a:pPr algn="ctr" indent="0" marL="0">
              <a:buNone/>
            </a:pPr>
            <a:r>
              <a:rPr lang="en-US" sz="2200" b="1" dirty="0">
                <a:solidFill>
                  <a:srgbClr val="D9776A"/>
                </a:solidFill>
                <a:latin typeface="Arial" pitchFamily="34" charset="0"/>
                <a:ea typeface="Arial" pitchFamily="34" charset="-122"/>
                <a:cs typeface="Arial" pitchFamily="34" charset="-120"/>
              </a:rPr>
              <a:t>→</a:t>
            </a:r>
            <a:endParaRPr lang="en-US" sz="2200" dirty="0"/>
          </a:p>
        </p:txBody>
      </p:sp>
      <p:sp>
        <p:nvSpPr>
          <p:cNvPr id="10" name="Shape 8"/>
          <p:cNvSpPr/>
          <p:nvPr/>
        </p:nvSpPr>
        <p:spPr>
          <a:xfrm>
            <a:off x="4425696" y="2148840"/>
            <a:ext cx="3401568" cy="3319272"/>
          </a:xfrm>
          <a:prstGeom prst="roundRect">
            <a:avLst>
              <a:gd name="adj" fmla="val 2204"/>
            </a:avLst>
          </a:prstGeom>
          <a:solidFill>
            <a:srgbClr val="F4E7D4"/>
          </a:solidFill>
          <a:ln w="12700">
            <a:solidFill>
              <a:srgbClr val="F4E7D4">
                <a:alpha val="0"/>
              </a:srgbClr>
            </a:solidFill>
            <a:prstDash val="solid"/>
          </a:ln>
        </p:spPr>
      </p:sp>
      <p:sp>
        <p:nvSpPr>
          <p:cNvPr id="11" name="Text 9"/>
          <p:cNvSpPr/>
          <p:nvPr/>
        </p:nvSpPr>
        <p:spPr>
          <a:xfrm>
            <a:off x="4681728" y="2468880"/>
            <a:ext cx="2743200" cy="201168"/>
          </a:xfrm>
          <a:prstGeom prst="rect">
            <a:avLst/>
          </a:prstGeom>
          <a:noFill/>
          <a:ln/>
        </p:spPr>
        <p:txBody>
          <a:bodyPr wrap="square" lIns="0" tIns="0" rIns="0" bIns="0" rtlCol="0" anchor="ctr">
            <a:normAutofit/>
          </a:bodyPr>
          <a:lstStyle/>
          <a:p>
            <a:pPr algn="l" indent="0" marL="0">
              <a:buNone/>
            </a:pPr>
            <a:r>
              <a:rPr lang="en-US" sz="1000" b="1" spc="120" kern="0" dirty="0">
                <a:solidFill>
                  <a:srgbClr val="2E7D73"/>
                </a:solidFill>
                <a:latin typeface="Arial" pitchFamily="34" charset="0"/>
                <a:ea typeface="Arial" pitchFamily="34" charset="-122"/>
                <a:cs typeface="Arial" pitchFamily="34" charset="-120"/>
              </a:rPr>
              <a:t>WHO PAYS</a:t>
            </a:r>
            <a:endParaRPr lang="en-US" sz="1000" dirty="0"/>
          </a:p>
        </p:txBody>
      </p:sp>
      <p:sp>
        <p:nvSpPr>
          <p:cNvPr id="12" name="Text 10"/>
          <p:cNvSpPr/>
          <p:nvPr/>
        </p:nvSpPr>
        <p:spPr>
          <a:xfrm>
            <a:off x="4681728" y="2852928"/>
            <a:ext cx="2743200" cy="329184"/>
          </a:xfrm>
          <a:prstGeom prst="rect">
            <a:avLst/>
          </a:prstGeom>
          <a:noFill/>
          <a:ln/>
        </p:spPr>
        <p:txBody>
          <a:bodyPr wrap="square" lIns="0" tIns="0" rIns="0" bIns="0" rtlCol="0" anchor="ctr">
            <a:normAutofit/>
          </a:bodyPr>
          <a:lstStyle/>
          <a:p>
            <a:pPr algn="l" indent="0" marL="0">
              <a:buNone/>
            </a:pPr>
            <a:r>
              <a:rPr lang="en-US" sz="2000" b="1" dirty="0">
                <a:solidFill>
                  <a:srgbClr val="12232B"/>
                </a:solidFill>
                <a:latin typeface="Arial" pitchFamily="34" charset="0"/>
                <a:ea typeface="Arial" pitchFamily="34" charset="-122"/>
                <a:cs typeface="Arial" pitchFamily="34" charset="-120"/>
              </a:rPr>
              <a:t>ORGANISATIONS</a:t>
            </a:r>
            <a:endParaRPr lang="en-US" sz="2000" dirty="0"/>
          </a:p>
        </p:txBody>
      </p:sp>
      <p:sp>
        <p:nvSpPr>
          <p:cNvPr id="13" name="Text 11"/>
          <p:cNvSpPr/>
          <p:nvPr/>
        </p:nvSpPr>
        <p:spPr>
          <a:xfrm>
            <a:off x="4681728" y="3456432"/>
            <a:ext cx="2798064" cy="1463040"/>
          </a:xfrm>
          <a:prstGeom prst="rect">
            <a:avLst/>
          </a:prstGeom>
          <a:noFill/>
          <a:ln/>
        </p:spPr>
        <p:txBody>
          <a:bodyPr wrap="square" lIns="0" tIns="0" rIns="0" bIns="0" rtlCol="0" anchor="ctr">
            <a:normAutofit/>
          </a:bodyPr>
          <a:lstStyle/>
          <a:p>
            <a:pPr algn="l" indent="0" marL="0">
              <a:buNone/>
            </a:pPr>
            <a:r>
              <a:rPr lang="en-US" sz="1230" dirty="0">
                <a:solidFill>
                  <a:srgbClr val="182A35"/>
                </a:solidFill>
                <a:latin typeface="Arial" pitchFamily="34" charset="0"/>
                <a:ea typeface="Arial" pitchFamily="34" charset="-122"/>
                <a:cs typeface="Arial" pitchFamily="34" charset="-120"/>
              </a:rPr>
              <a:t>Potential customers or funders to validate:</a:t>
            </a:r>
            <a:endParaRPr lang="en-US" sz="1230" dirty="0"/>
          </a:p>
          <a:p>
            <a:pPr algn="l" indent="0" marL="0">
              <a:buNone/>
            </a:pPr>
            <a:r>
              <a:rPr lang="en-US" sz="1230" dirty="0">
                <a:solidFill>
                  <a:srgbClr val="182A35"/>
                </a:solidFill>
                <a:latin typeface="Arial" pitchFamily="34" charset="0"/>
                <a:ea typeface="Arial" pitchFamily="34" charset="-122"/>
                <a:cs typeface="Arial" pitchFamily="34" charset="-120"/>
              </a:rPr>
              <a:t>• Youth organisations / NGOs</a:t>
            </a:r>
            <a:endParaRPr lang="en-US" sz="1230" dirty="0"/>
          </a:p>
          <a:p>
            <a:pPr algn="l" indent="0" marL="0">
              <a:buNone/>
            </a:pPr>
            <a:r>
              <a:rPr lang="en-US" sz="1230" dirty="0">
                <a:solidFill>
                  <a:srgbClr val="182A35"/>
                </a:solidFill>
                <a:latin typeface="Arial" pitchFamily="34" charset="0"/>
                <a:ea typeface="Arial" pitchFamily="34" charset="-122"/>
                <a:cs typeface="Arial" pitchFamily="34" charset="-120"/>
              </a:rPr>
              <a:t>• Foundations + CSR programmes</a:t>
            </a:r>
            <a:endParaRPr lang="en-US" sz="1230" dirty="0"/>
          </a:p>
          <a:p>
            <a:pPr algn="l" indent="0" marL="0">
              <a:buNone/>
            </a:pPr>
            <a:r>
              <a:rPr lang="en-US" sz="1230" dirty="0">
                <a:solidFill>
                  <a:srgbClr val="182A35"/>
                </a:solidFill>
                <a:latin typeface="Arial" pitchFamily="34" charset="0"/>
                <a:ea typeface="Arial" pitchFamily="34" charset="-122"/>
                <a:cs typeface="Arial" pitchFamily="34" charset="-120"/>
              </a:rPr>
              <a:t>• Sponsored access</a:t>
            </a:r>
            <a:endParaRPr lang="en-US" sz="1230" dirty="0"/>
          </a:p>
          <a:p>
            <a:pPr algn="l" indent="0" marL="0">
              <a:buNone/>
            </a:pPr>
            <a:r>
              <a:rPr lang="en-US" sz="1230" dirty="0">
                <a:solidFill>
                  <a:srgbClr val="182A35"/>
                </a:solidFill>
                <a:latin typeface="Arial" pitchFamily="34" charset="0"/>
                <a:ea typeface="Arial" pitchFamily="34" charset="-122"/>
                <a:cs typeface="Arial" pitchFamily="34" charset="-120"/>
              </a:rPr>
              <a:t>• Workshops + implementation</a:t>
            </a:r>
            <a:endParaRPr lang="en-US" sz="1230" dirty="0"/>
          </a:p>
        </p:txBody>
      </p:sp>
      <p:sp>
        <p:nvSpPr>
          <p:cNvPr id="14" name="Text 12"/>
          <p:cNvSpPr/>
          <p:nvPr/>
        </p:nvSpPr>
        <p:spPr>
          <a:xfrm>
            <a:off x="7882128" y="3493008"/>
            <a:ext cx="274320" cy="320040"/>
          </a:xfrm>
          <a:prstGeom prst="rect">
            <a:avLst/>
          </a:prstGeom>
          <a:noFill/>
          <a:ln/>
        </p:spPr>
        <p:txBody>
          <a:bodyPr wrap="square" lIns="0" tIns="0" rIns="0" bIns="0" rtlCol="0" anchor="ctr">
            <a:normAutofit/>
          </a:bodyPr>
          <a:lstStyle/>
          <a:p>
            <a:pPr algn="ctr" indent="0" marL="0">
              <a:buNone/>
            </a:pPr>
            <a:r>
              <a:rPr lang="en-US" sz="2200" b="1" dirty="0">
                <a:solidFill>
                  <a:srgbClr val="D9776A"/>
                </a:solidFill>
                <a:latin typeface="Arial" pitchFamily="34" charset="0"/>
                <a:ea typeface="Arial" pitchFamily="34" charset="-122"/>
                <a:cs typeface="Arial" pitchFamily="34" charset="-120"/>
              </a:rPr>
              <a:t>→</a:t>
            </a:r>
            <a:endParaRPr lang="en-US" sz="2200" dirty="0"/>
          </a:p>
        </p:txBody>
      </p:sp>
      <p:sp>
        <p:nvSpPr>
          <p:cNvPr id="15" name="Shape 13"/>
          <p:cNvSpPr/>
          <p:nvPr/>
        </p:nvSpPr>
        <p:spPr>
          <a:xfrm>
            <a:off x="8193024" y="2148840"/>
            <a:ext cx="3401568" cy="3319272"/>
          </a:xfrm>
          <a:prstGeom prst="roundRect">
            <a:avLst>
              <a:gd name="adj" fmla="val 2204"/>
            </a:avLst>
          </a:prstGeom>
          <a:solidFill>
            <a:srgbClr val="12232B"/>
          </a:solidFill>
          <a:ln w="12700">
            <a:solidFill>
              <a:srgbClr val="12232B">
                <a:alpha val="0"/>
              </a:srgbClr>
            </a:solidFill>
            <a:prstDash val="solid"/>
          </a:ln>
        </p:spPr>
      </p:sp>
      <p:sp>
        <p:nvSpPr>
          <p:cNvPr id="16" name="Text 14"/>
          <p:cNvSpPr/>
          <p:nvPr/>
        </p:nvSpPr>
        <p:spPr>
          <a:xfrm>
            <a:off x="8449056" y="2468880"/>
            <a:ext cx="2743200" cy="201168"/>
          </a:xfrm>
          <a:prstGeom prst="rect">
            <a:avLst/>
          </a:prstGeom>
          <a:noFill/>
          <a:ln/>
        </p:spPr>
        <p:txBody>
          <a:bodyPr wrap="square" lIns="0" tIns="0" rIns="0" bIns="0" rtlCol="0" anchor="ctr">
            <a:normAutofit/>
          </a:bodyPr>
          <a:lstStyle/>
          <a:p>
            <a:pPr algn="l" indent="0" marL="0">
              <a:buNone/>
            </a:pPr>
            <a:r>
              <a:rPr lang="en-US" sz="1000" b="1" spc="120" kern="0" dirty="0">
                <a:solidFill>
                  <a:srgbClr val="78AFA2"/>
                </a:solidFill>
                <a:latin typeface="Arial" pitchFamily="34" charset="0"/>
                <a:ea typeface="Arial" pitchFamily="34" charset="-122"/>
                <a:cs typeface="Arial" pitchFamily="34" charset="-120"/>
              </a:rPr>
              <a:t>FUTURE REVENUE</a:t>
            </a:r>
            <a:endParaRPr lang="en-US" sz="1000" dirty="0"/>
          </a:p>
        </p:txBody>
      </p:sp>
      <p:sp>
        <p:nvSpPr>
          <p:cNvPr id="17" name="Text 15"/>
          <p:cNvSpPr/>
          <p:nvPr/>
        </p:nvSpPr>
        <p:spPr>
          <a:xfrm>
            <a:off x="8449056" y="2852928"/>
            <a:ext cx="2743200" cy="329184"/>
          </a:xfrm>
          <a:prstGeom prst="rect">
            <a:avLst/>
          </a:prstGeom>
          <a:noFill/>
          <a:ln/>
        </p:spPr>
        <p:txBody>
          <a:bodyPr wrap="square" lIns="0" tIns="0" rIns="0" bIns="0" rtlCol="0" anchor="ctr">
            <a:normAutofit/>
          </a:bodyPr>
          <a:lstStyle/>
          <a:p>
            <a:pPr algn="l" indent="0" marL="0">
              <a:buNone/>
            </a:pPr>
            <a:r>
              <a:rPr lang="en-US" sz="2000" b="1" dirty="0">
                <a:solidFill>
                  <a:srgbClr val="FFFFFF"/>
                </a:solidFill>
                <a:latin typeface="Arial" pitchFamily="34" charset="0"/>
                <a:ea typeface="Arial" pitchFamily="34" charset="-122"/>
                <a:cs typeface="Arial" pitchFamily="34" charset="-120"/>
              </a:rPr>
              <a:t>OPTIONAL PAID</a:t>
            </a:r>
            <a:endParaRPr lang="en-US" sz="2000" dirty="0"/>
          </a:p>
        </p:txBody>
      </p:sp>
      <p:sp>
        <p:nvSpPr>
          <p:cNvPr id="18" name="Text 16"/>
          <p:cNvSpPr/>
          <p:nvPr/>
        </p:nvSpPr>
        <p:spPr>
          <a:xfrm>
            <a:off x="8449056" y="3456432"/>
            <a:ext cx="2798064" cy="1463040"/>
          </a:xfrm>
          <a:prstGeom prst="rect">
            <a:avLst/>
          </a:prstGeom>
          <a:noFill/>
          <a:ln/>
        </p:spPr>
        <p:txBody>
          <a:bodyPr wrap="square" lIns="0" tIns="0" rIns="0" bIns="0" rtlCol="0" anchor="ctr">
            <a:normAutofit/>
          </a:bodyPr>
          <a:lstStyle/>
          <a:p>
            <a:pPr algn="l" indent="0" marL="0">
              <a:buNone/>
            </a:pPr>
            <a:r>
              <a:rPr lang="en-US" sz="1230" dirty="0">
                <a:solidFill>
                  <a:srgbClr val="D2E2DE"/>
                </a:solidFill>
                <a:latin typeface="Arial" pitchFamily="34" charset="0"/>
                <a:ea typeface="Arial" pitchFamily="34" charset="-122"/>
                <a:cs typeface="Arial" pitchFamily="34" charset="-120"/>
              </a:rPr>
              <a:t>Only after validating what users value and reviewing safety and policy requirements:</a:t>
            </a:r>
            <a:endParaRPr lang="en-US" sz="1230" dirty="0"/>
          </a:p>
          <a:p>
            <a:pPr algn="l" indent="0" marL="0">
              <a:buNone/>
            </a:pPr>
            <a:r>
              <a:rPr lang="en-US" sz="1230" dirty="0">
                <a:solidFill>
                  <a:srgbClr val="D2E2DE"/>
                </a:solidFill>
                <a:latin typeface="Arial" pitchFamily="34" charset="0"/>
                <a:ea typeface="Arial" pitchFamily="34" charset="-122"/>
                <a:cs typeface="Arial" pitchFamily="34" charset="-120"/>
              </a:rPr>
              <a:t>• Premium wellbeing programmes</a:t>
            </a:r>
            <a:endParaRPr lang="en-US" sz="1230" dirty="0"/>
          </a:p>
          <a:p>
            <a:pPr algn="l" indent="0" marL="0">
              <a:buNone/>
            </a:pPr>
            <a:r>
              <a:rPr lang="en-US" sz="1230" dirty="0">
                <a:solidFill>
                  <a:srgbClr val="D2E2DE"/>
                </a:solidFill>
                <a:latin typeface="Arial" pitchFamily="34" charset="0"/>
                <a:ea typeface="Arial" pitchFamily="34" charset="-122"/>
                <a:cs typeface="Arial" pitchFamily="34" charset="-120"/>
              </a:rPr>
              <a:t>• Additional guided content</a:t>
            </a:r>
            <a:endParaRPr lang="en-US" sz="1230" dirty="0"/>
          </a:p>
          <a:p>
            <a:pPr algn="l" indent="0" marL="0">
              <a:buNone/>
            </a:pPr>
            <a:r>
              <a:rPr lang="en-US" sz="1230" dirty="0">
                <a:solidFill>
                  <a:srgbClr val="D2E2DE"/>
                </a:solidFill>
                <a:latin typeface="Arial" pitchFamily="34" charset="0"/>
                <a:ea typeface="Arial" pitchFamily="34" charset="-122"/>
                <a:cs typeface="Arial" pitchFamily="34" charset="-120"/>
              </a:rPr>
              <a:t>• Structured multi-day routines</a:t>
            </a:r>
            <a:endParaRPr lang="en-US" sz="1230" dirty="0"/>
          </a:p>
        </p:txBody>
      </p:sp>
      <p:sp>
        <p:nvSpPr>
          <p:cNvPr id="19" name="Shape 17"/>
          <p:cNvSpPr/>
          <p:nvPr/>
        </p:nvSpPr>
        <p:spPr>
          <a:xfrm>
            <a:off x="1234440" y="5715000"/>
            <a:ext cx="9738360" cy="429768"/>
          </a:xfrm>
          <a:prstGeom prst="roundRect">
            <a:avLst>
              <a:gd name="adj" fmla="val 17021"/>
            </a:avLst>
          </a:prstGeom>
          <a:solidFill>
            <a:srgbClr val="D9776A"/>
          </a:solidFill>
          <a:ln w="12700">
            <a:solidFill>
              <a:srgbClr val="D9776A">
                <a:alpha val="0"/>
              </a:srgbClr>
            </a:solidFill>
            <a:prstDash val="solid"/>
          </a:ln>
        </p:spPr>
      </p:sp>
      <p:sp>
        <p:nvSpPr>
          <p:cNvPr id="20" name="Text 18"/>
          <p:cNvSpPr/>
          <p:nvPr/>
        </p:nvSpPr>
        <p:spPr>
          <a:xfrm>
            <a:off x="1417320" y="5806440"/>
            <a:ext cx="9372600" cy="210312"/>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Arial" pitchFamily="34" charset="0"/>
                <a:ea typeface="Arial" pitchFamily="34" charset="-122"/>
                <a:cs typeface="Arial" pitchFamily="34" charset="-120"/>
              </a:rPr>
              <a:t>TODAY: FREE, PRE-REVENUE PROTOTYPE  ·  NEXT: VALIDATE RESPONSIBLY  ·  FUTURE: EARN WITHOUT SELLING PRIVATE CONVERSATIONS</a:t>
            </a:r>
            <a:endParaRPr lang="en-US" sz="950" dirty="0"/>
          </a:p>
        </p:txBody>
      </p:sp>
      <p:sp>
        <p:nvSpPr>
          <p:cNvPr id="21" name="Text 19"/>
          <p:cNvSpPr/>
          <p:nvPr/>
        </p:nvSpPr>
        <p:spPr>
          <a:xfrm>
            <a:off x="621792" y="6437376"/>
            <a:ext cx="1828800"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78908A"/>
                </a:solidFill>
                <a:latin typeface="Arial" pitchFamily="34" charset="0"/>
                <a:ea typeface="Arial" pitchFamily="34" charset="-122"/>
                <a:cs typeface="Arial" pitchFamily="34" charset="-120"/>
              </a:rPr>
              <a:t>MINDMATE</a:t>
            </a:r>
            <a:endParaRPr lang="en-US" sz="800" dirty="0"/>
          </a:p>
        </p:txBody>
      </p:sp>
      <p:sp>
        <p:nvSpPr>
          <p:cNvPr id="25" name="Slide Number Placeholder 0"/>
          <p:cNvSpPr>
            <a:spLocks noGrp="1"/>
          </p:cNvSpPr>
          <p:nvPr>
            <p:ph type="sldNum" sz="quarter" idx="4294967295"/>
          </p:nvPr>
        </p:nvSpPr>
        <p:spPr>
          <a:xfrm>
            <a:off x="11475720" y="647395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8908A"/>
                </a:solidFill>
                <a:latin typeface="Arial"/>
                <a:ea typeface="Arial"/>
                <a:cs typeface="Aria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21792" y="384048"/>
            <a:ext cx="5303520" cy="219456"/>
          </a:xfrm>
          <a:prstGeom prst="rect">
            <a:avLst/>
          </a:prstGeom>
          <a:noFill/>
          <a:ln/>
        </p:spPr>
        <p:txBody>
          <a:bodyPr wrap="square" lIns="0" tIns="0" rIns="0" bIns="0" rtlCol="0" anchor="ctr">
            <a:normAutofit/>
          </a:bodyPr>
          <a:lstStyle/>
          <a:p>
            <a:pPr algn="l" indent="0" marL="0">
              <a:buNone/>
            </a:pPr>
            <a:r>
              <a:rPr lang="en-US" sz="1000" b="1" spc="140" kern="0" dirty="0">
                <a:solidFill>
                  <a:srgbClr val="2E7D73"/>
                </a:solidFill>
                <a:latin typeface="Arial" pitchFamily="34" charset="0"/>
                <a:ea typeface="Arial" pitchFamily="34" charset="-122"/>
                <a:cs typeface="Arial" pitchFamily="34" charset="-120"/>
              </a:rPr>
              <a:t>09 / IMPACT</a:t>
            </a:r>
            <a:endParaRPr lang="en-US" sz="1000" dirty="0"/>
          </a:p>
        </p:txBody>
      </p:sp>
      <p:sp>
        <p:nvSpPr>
          <p:cNvPr id="3" name="Text 1"/>
          <p:cNvSpPr/>
          <p:nvPr/>
        </p:nvSpPr>
        <p:spPr>
          <a:xfrm>
            <a:off x="621792" y="658368"/>
            <a:ext cx="10972800" cy="676656"/>
          </a:xfrm>
          <a:prstGeom prst="rect">
            <a:avLst/>
          </a:prstGeom>
          <a:noFill/>
          <a:ln/>
        </p:spPr>
        <p:txBody>
          <a:bodyPr wrap="square" lIns="0" tIns="0" rIns="0" bIns="0" rtlCol="0" anchor="ctr">
            <a:normAutofit/>
          </a:bodyPr>
          <a:lstStyle/>
          <a:p>
            <a:pPr algn="l" indent="0" marL="0">
              <a:buNone/>
            </a:pPr>
            <a:r>
              <a:rPr lang="en-US" sz="2800" b="1" dirty="0">
                <a:solidFill>
                  <a:srgbClr val="12232B"/>
                </a:solidFill>
                <a:latin typeface="Arial" pitchFamily="34" charset="0"/>
                <a:ea typeface="Arial" pitchFamily="34" charset="-122"/>
                <a:cs typeface="Arial" pitchFamily="34" charset="-120"/>
              </a:rPr>
              <a:t>What changes for a young person?</a:t>
            </a:r>
            <a:endParaRPr lang="en-US" sz="2800" dirty="0"/>
          </a:p>
        </p:txBody>
      </p:sp>
      <p:sp>
        <p:nvSpPr>
          <p:cNvPr id="4" name="Text 2"/>
          <p:cNvSpPr/>
          <p:nvPr/>
        </p:nvSpPr>
        <p:spPr>
          <a:xfrm>
            <a:off x="640080" y="1399032"/>
            <a:ext cx="10607040" cy="347472"/>
          </a:xfrm>
          <a:prstGeom prst="rect">
            <a:avLst/>
          </a:prstGeom>
          <a:noFill/>
          <a:ln/>
        </p:spPr>
        <p:txBody>
          <a:bodyPr wrap="square" lIns="0" tIns="0" rIns="0" bIns="0" rtlCol="0" anchor="ctr">
            <a:normAutofit/>
          </a:bodyPr>
          <a:lstStyle/>
          <a:p>
            <a:pPr algn="l" indent="0" marL="0">
              <a:buNone/>
            </a:pPr>
            <a:r>
              <a:rPr lang="en-US" sz="1300" dirty="0">
                <a:solidFill>
                  <a:srgbClr val="68767C"/>
                </a:solidFill>
                <a:latin typeface="Arial" pitchFamily="34" charset="0"/>
                <a:ea typeface="Arial" pitchFamily="34" charset="-122"/>
                <a:cs typeface="Arial" pitchFamily="34" charset="-120"/>
              </a:rPr>
              <a:t>The intended outcome is more agency, not more screen time.</a:t>
            </a:r>
            <a:endParaRPr lang="en-US" sz="1300" dirty="0"/>
          </a:p>
        </p:txBody>
      </p:sp>
      <p:sp>
        <p:nvSpPr>
          <p:cNvPr id="5" name="Shape 3"/>
          <p:cNvSpPr/>
          <p:nvPr/>
        </p:nvSpPr>
        <p:spPr>
          <a:xfrm>
            <a:off x="658368" y="2103120"/>
            <a:ext cx="3401568" cy="3246120"/>
          </a:xfrm>
          <a:prstGeom prst="roundRect">
            <a:avLst>
              <a:gd name="adj" fmla="val 2254"/>
            </a:avLst>
          </a:prstGeom>
          <a:solidFill>
            <a:srgbClr val="DDEEE9"/>
          </a:solidFill>
          <a:ln w="12700">
            <a:solidFill>
              <a:srgbClr val="DDEEE9">
                <a:alpha val="0"/>
              </a:srgbClr>
            </a:solidFill>
            <a:prstDash val="solid"/>
          </a:ln>
        </p:spPr>
      </p:sp>
      <p:sp>
        <p:nvSpPr>
          <p:cNvPr id="6" name="Text 4"/>
          <p:cNvSpPr/>
          <p:nvPr/>
        </p:nvSpPr>
        <p:spPr>
          <a:xfrm>
            <a:off x="914400" y="2468880"/>
            <a:ext cx="2286000" cy="256032"/>
          </a:xfrm>
          <a:prstGeom prst="rect">
            <a:avLst/>
          </a:prstGeom>
          <a:noFill/>
          <a:ln/>
        </p:spPr>
        <p:txBody>
          <a:bodyPr wrap="square" lIns="0" tIns="0" rIns="0" bIns="0" rtlCol="0" anchor="ctr">
            <a:normAutofit/>
          </a:bodyPr>
          <a:lstStyle/>
          <a:p>
            <a:pPr algn="l" indent="0" marL="0">
              <a:buNone/>
            </a:pPr>
            <a:r>
              <a:rPr lang="en-US" sz="1200" b="1" spc="130" kern="0" dirty="0">
                <a:solidFill>
                  <a:srgbClr val="2E7D73"/>
                </a:solidFill>
                <a:latin typeface="Arial" pitchFamily="34" charset="0"/>
                <a:ea typeface="Arial" pitchFamily="34" charset="-122"/>
                <a:cs typeface="Arial" pitchFamily="34" charset="-120"/>
              </a:rPr>
              <a:t>AWARENESS</a:t>
            </a:r>
            <a:endParaRPr lang="en-US" sz="1200" dirty="0"/>
          </a:p>
        </p:txBody>
      </p:sp>
      <p:sp>
        <p:nvSpPr>
          <p:cNvPr id="7" name="Text 5"/>
          <p:cNvSpPr/>
          <p:nvPr/>
        </p:nvSpPr>
        <p:spPr>
          <a:xfrm>
            <a:off x="914400" y="3063240"/>
            <a:ext cx="914400" cy="219456"/>
          </a:xfrm>
          <a:prstGeom prst="rect">
            <a:avLst/>
          </a:prstGeom>
          <a:noFill/>
          <a:ln/>
        </p:spPr>
        <p:txBody>
          <a:bodyPr wrap="square" lIns="0" tIns="0" rIns="0" bIns="0" rtlCol="0" anchor="ctr">
            <a:normAutofit/>
          </a:bodyPr>
          <a:lstStyle/>
          <a:p>
            <a:pPr algn="l" indent="0" marL="0">
              <a:buNone/>
            </a:pPr>
            <a:r>
              <a:rPr lang="en-US" sz="1000" b="1" dirty="0">
                <a:solidFill>
                  <a:srgbClr val="68767C"/>
                </a:solidFill>
                <a:latin typeface="Arial" pitchFamily="34" charset="0"/>
                <a:ea typeface="Arial" pitchFamily="34" charset="-122"/>
                <a:cs typeface="Arial" pitchFamily="34" charset="-120"/>
              </a:rPr>
              <a:t>BEFORE</a:t>
            </a:r>
            <a:endParaRPr lang="en-US" sz="1000" dirty="0"/>
          </a:p>
        </p:txBody>
      </p:sp>
      <p:sp>
        <p:nvSpPr>
          <p:cNvPr id="8" name="Text 6"/>
          <p:cNvSpPr/>
          <p:nvPr/>
        </p:nvSpPr>
        <p:spPr>
          <a:xfrm>
            <a:off x="914400" y="3346704"/>
            <a:ext cx="2798064" cy="530352"/>
          </a:xfrm>
          <a:prstGeom prst="rect">
            <a:avLst/>
          </a:prstGeom>
          <a:noFill/>
          <a:ln/>
        </p:spPr>
        <p:txBody>
          <a:bodyPr wrap="square" lIns="0" tIns="0" rIns="0" bIns="0" rtlCol="0" anchor="ctr">
            <a:normAutofit/>
          </a:bodyPr>
          <a:lstStyle/>
          <a:p>
            <a:pPr algn="l" indent="0" marL="0">
              <a:buNone/>
            </a:pPr>
            <a:r>
              <a:rPr lang="en-US" sz="1600" b="1" dirty="0">
                <a:solidFill>
                  <a:srgbClr val="12232B"/>
                </a:solidFill>
                <a:latin typeface="Arial" pitchFamily="34" charset="0"/>
                <a:ea typeface="Arial" pitchFamily="34" charset="-122"/>
                <a:cs typeface="Arial" pitchFamily="34" charset="-120"/>
              </a:rPr>
              <a:t>“I cannot name what I am feeling.”</a:t>
            </a:r>
            <a:endParaRPr lang="en-US" sz="1600" dirty="0"/>
          </a:p>
        </p:txBody>
      </p:sp>
      <p:sp>
        <p:nvSpPr>
          <p:cNvPr id="9" name="Text 7"/>
          <p:cNvSpPr/>
          <p:nvPr/>
        </p:nvSpPr>
        <p:spPr>
          <a:xfrm>
            <a:off x="914400" y="4169664"/>
            <a:ext cx="914400" cy="219456"/>
          </a:xfrm>
          <a:prstGeom prst="rect">
            <a:avLst/>
          </a:prstGeom>
          <a:noFill/>
          <a:ln/>
        </p:spPr>
        <p:txBody>
          <a:bodyPr wrap="square" lIns="0" tIns="0" rIns="0" bIns="0" rtlCol="0" anchor="ctr">
            <a:normAutofit/>
          </a:bodyPr>
          <a:lstStyle/>
          <a:p>
            <a:pPr algn="l" indent="0" marL="0">
              <a:buNone/>
            </a:pPr>
            <a:r>
              <a:rPr lang="en-US" sz="1000" b="1" dirty="0">
                <a:solidFill>
                  <a:srgbClr val="68767C"/>
                </a:solidFill>
                <a:latin typeface="Arial" pitchFamily="34" charset="0"/>
                <a:ea typeface="Arial" pitchFamily="34" charset="-122"/>
                <a:cs typeface="Arial" pitchFamily="34" charset="-120"/>
              </a:rPr>
              <a:t>AFTER</a:t>
            </a:r>
            <a:endParaRPr lang="en-US" sz="1000" dirty="0"/>
          </a:p>
        </p:txBody>
      </p:sp>
      <p:sp>
        <p:nvSpPr>
          <p:cNvPr id="10" name="Text 8"/>
          <p:cNvSpPr/>
          <p:nvPr/>
        </p:nvSpPr>
        <p:spPr>
          <a:xfrm>
            <a:off x="914400" y="4462272"/>
            <a:ext cx="2788920" cy="438912"/>
          </a:xfrm>
          <a:prstGeom prst="rect">
            <a:avLst/>
          </a:prstGeom>
          <a:noFill/>
          <a:ln/>
        </p:spPr>
        <p:txBody>
          <a:bodyPr wrap="square" lIns="0" tIns="0" rIns="0" bIns="0" rtlCol="0" anchor="ctr">
            <a:normAutofit/>
          </a:bodyPr>
          <a:lstStyle/>
          <a:p>
            <a:pPr algn="l" indent="0" marL="0">
              <a:buNone/>
            </a:pPr>
            <a:r>
              <a:rPr lang="en-US" sz="1500" b="1" dirty="0">
                <a:solidFill>
                  <a:srgbClr val="2E7D73"/>
                </a:solidFill>
                <a:latin typeface="Arial" pitchFamily="34" charset="0"/>
                <a:ea typeface="Arial" pitchFamily="34" charset="-122"/>
                <a:cs typeface="Arial" pitchFamily="34" charset="-120"/>
              </a:rPr>
              <a:t>I can check in and reflect.</a:t>
            </a:r>
            <a:endParaRPr lang="en-US" sz="1500" dirty="0"/>
          </a:p>
        </p:txBody>
      </p:sp>
      <p:sp>
        <p:nvSpPr>
          <p:cNvPr id="11" name="Shape 9"/>
          <p:cNvSpPr/>
          <p:nvPr/>
        </p:nvSpPr>
        <p:spPr>
          <a:xfrm>
            <a:off x="4425696" y="2103120"/>
            <a:ext cx="3401568" cy="3246120"/>
          </a:xfrm>
          <a:prstGeom prst="roundRect">
            <a:avLst>
              <a:gd name="adj" fmla="val 2254"/>
            </a:avLst>
          </a:prstGeom>
          <a:solidFill>
            <a:srgbClr val="F4E7D4"/>
          </a:solidFill>
          <a:ln w="12700">
            <a:solidFill>
              <a:srgbClr val="F4E7D4">
                <a:alpha val="0"/>
              </a:srgbClr>
            </a:solidFill>
            <a:prstDash val="solid"/>
          </a:ln>
        </p:spPr>
      </p:sp>
      <p:sp>
        <p:nvSpPr>
          <p:cNvPr id="12" name="Text 10"/>
          <p:cNvSpPr/>
          <p:nvPr/>
        </p:nvSpPr>
        <p:spPr>
          <a:xfrm>
            <a:off x="4681728" y="2468880"/>
            <a:ext cx="2286000" cy="256032"/>
          </a:xfrm>
          <a:prstGeom prst="rect">
            <a:avLst/>
          </a:prstGeom>
          <a:noFill/>
          <a:ln/>
        </p:spPr>
        <p:txBody>
          <a:bodyPr wrap="square" lIns="0" tIns="0" rIns="0" bIns="0" rtlCol="0" anchor="ctr">
            <a:normAutofit/>
          </a:bodyPr>
          <a:lstStyle/>
          <a:p>
            <a:pPr algn="l" indent="0" marL="0">
              <a:buNone/>
            </a:pPr>
            <a:r>
              <a:rPr lang="en-US" sz="1200" b="1" spc="130" kern="0" dirty="0">
                <a:solidFill>
                  <a:srgbClr val="2E7D73"/>
                </a:solidFill>
                <a:latin typeface="Arial" pitchFamily="34" charset="0"/>
                <a:ea typeface="Arial" pitchFamily="34" charset="-122"/>
                <a:cs typeface="Arial" pitchFamily="34" charset="-120"/>
              </a:rPr>
              <a:t>ACTION</a:t>
            </a:r>
            <a:endParaRPr lang="en-US" sz="1200" dirty="0"/>
          </a:p>
        </p:txBody>
      </p:sp>
      <p:sp>
        <p:nvSpPr>
          <p:cNvPr id="13" name="Text 11"/>
          <p:cNvSpPr/>
          <p:nvPr/>
        </p:nvSpPr>
        <p:spPr>
          <a:xfrm>
            <a:off x="4681728" y="3063240"/>
            <a:ext cx="914400" cy="219456"/>
          </a:xfrm>
          <a:prstGeom prst="rect">
            <a:avLst/>
          </a:prstGeom>
          <a:noFill/>
          <a:ln/>
        </p:spPr>
        <p:txBody>
          <a:bodyPr wrap="square" lIns="0" tIns="0" rIns="0" bIns="0" rtlCol="0" anchor="ctr">
            <a:normAutofit/>
          </a:bodyPr>
          <a:lstStyle/>
          <a:p>
            <a:pPr algn="l" indent="0" marL="0">
              <a:buNone/>
            </a:pPr>
            <a:r>
              <a:rPr lang="en-US" sz="1000" b="1" dirty="0">
                <a:solidFill>
                  <a:srgbClr val="68767C"/>
                </a:solidFill>
                <a:latin typeface="Arial" pitchFamily="34" charset="0"/>
                <a:ea typeface="Arial" pitchFamily="34" charset="-122"/>
                <a:cs typeface="Arial" pitchFamily="34" charset="-120"/>
              </a:rPr>
              <a:t>BEFORE</a:t>
            </a:r>
            <a:endParaRPr lang="en-US" sz="1000" dirty="0"/>
          </a:p>
        </p:txBody>
      </p:sp>
      <p:sp>
        <p:nvSpPr>
          <p:cNvPr id="14" name="Text 12"/>
          <p:cNvSpPr/>
          <p:nvPr/>
        </p:nvSpPr>
        <p:spPr>
          <a:xfrm>
            <a:off x="4681728" y="3346704"/>
            <a:ext cx="2798064" cy="530352"/>
          </a:xfrm>
          <a:prstGeom prst="rect">
            <a:avLst/>
          </a:prstGeom>
          <a:noFill/>
          <a:ln/>
        </p:spPr>
        <p:txBody>
          <a:bodyPr wrap="square" lIns="0" tIns="0" rIns="0" bIns="0" rtlCol="0" anchor="ctr">
            <a:normAutofit/>
          </a:bodyPr>
          <a:lstStyle/>
          <a:p>
            <a:pPr algn="l" indent="0" marL="0">
              <a:buNone/>
            </a:pPr>
            <a:r>
              <a:rPr lang="en-US" sz="1600" b="1" dirty="0">
                <a:solidFill>
                  <a:srgbClr val="12232B"/>
                </a:solidFill>
                <a:latin typeface="Arial" pitchFamily="34" charset="0"/>
                <a:ea typeface="Arial" pitchFamily="34" charset="-122"/>
                <a:cs typeface="Arial" pitchFamily="34" charset="-120"/>
              </a:rPr>
              <a:t>“I do not know what to do next.”</a:t>
            </a:r>
            <a:endParaRPr lang="en-US" sz="1600" dirty="0"/>
          </a:p>
        </p:txBody>
      </p:sp>
      <p:sp>
        <p:nvSpPr>
          <p:cNvPr id="15" name="Text 13"/>
          <p:cNvSpPr/>
          <p:nvPr/>
        </p:nvSpPr>
        <p:spPr>
          <a:xfrm>
            <a:off x="4681728" y="4169664"/>
            <a:ext cx="914400" cy="219456"/>
          </a:xfrm>
          <a:prstGeom prst="rect">
            <a:avLst/>
          </a:prstGeom>
          <a:noFill/>
          <a:ln/>
        </p:spPr>
        <p:txBody>
          <a:bodyPr wrap="square" lIns="0" tIns="0" rIns="0" bIns="0" rtlCol="0" anchor="ctr">
            <a:normAutofit/>
          </a:bodyPr>
          <a:lstStyle/>
          <a:p>
            <a:pPr algn="l" indent="0" marL="0">
              <a:buNone/>
            </a:pPr>
            <a:r>
              <a:rPr lang="en-US" sz="1000" b="1" dirty="0">
                <a:solidFill>
                  <a:srgbClr val="68767C"/>
                </a:solidFill>
                <a:latin typeface="Arial" pitchFamily="34" charset="0"/>
                <a:ea typeface="Arial" pitchFamily="34" charset="-122"/>
                <a:cs typeface="Arial" pitchFamily="34" charset="-120"/>
              </a:rPr>
              <a:t>AFTER</a:t>
            </a:r>
            <a:endParaRPr lang="en-US" sz="1000" dirty="0"/>
          </a:p>
        </p:txBody>
      </p:sp>
      <p:sp>
        <p:nvSpPr>
          <p:cNvPr id="16" name="Text 14"/>
          <p:cNvSpPr/>
          <p:nvPr/>
        </p:nvSpPr>
        <p:spPr>
          <a:xfrm>
            <a:off x="4681728" y="4462272"/>
            <a:ext cx="2788920" cy="438912"/>
          </a:xfrm>
          <a:prstGeom prst="rect">
            <a:avLst/>
          </a:prstGeom>
          <a:noFill/>
          <a:ln/>
        </p:spPr>
        <p:txBody>
          <a:bodyPr wrap="square" lIns="0" tIns="0" rIns="0" bIns="0" rtlCol="0" anchor="ctr">
            <a:normAutofit/>
          </a:bodyPr>
          <a:lstStyle/>
          <a:p>
            <a:pPr algn="l" indent="0" marL="0">
              <a:buNone/>
            </a:pPr>
            <a:r>
              <a:rPr lang="en-US" sz="1500" b="1" dirty="0">
                <a:solidFill>
                  <a:srgbClr val="2E7D73"/>
                </a:solidFill>
                <a:latin typeface="Arial" pitchFamily="34" charset="0"/>
                <a:ea typeface="Arial" pitchFamily="34" charset="-122"/>
                <a:cs typeface="Arial" pitchFamily="34" charset="-120"/>
              </a:rPr>
              <a:t>I have one small step to try.</a:t>
            </a:r>
            <a:endParaRPr lang="en-US" sz="1500" dirty="0"/>
          </a:p>
        </p:txBody>
      </p:sp>
      <p:sp>
        <p:nvSpPr>
          <p:cNvPr id="17" name="Shape 15"/>
          <p:cNvSpPr/>
          <p:nvPr/>
        </p:nvSpPr>
        <p:spPr>
          <a:xfrm>
            <a:off x="8193024" y="2103120"/>
            <a:ext cx="3401568" cy="3246120"/>
          </a:xfrm>
          <a:prstGeom prst="roundRect">
            <a:avLst>
              <a:gd name="adj" fmla="val 2254"/>
            </a:avLst>
          </a:prstGeom>
          <a:solidFill>
            <a:srgbClr val="D9776A"/>
          </a:solidFill>
          <a:ln w="12700">
            <a:solidFill>
              <a:srgbClr val="D9776A">
                <a:alpha val="0"/>
              </a:srgbClr>
            </a:solidFill>
            <a:prstDash val="solid"/>
          </a:ln>
        </p:spPr>
      </p:sp>
      <p:sp>
        <p:nvSpPr>
          <p:cNvPr id="18" name="Text 16"/>
          <p:cNvSpPr/>
          <p:nvPr/>
        </p:nvSpPr>
        <p:spPr>
          <a:xfrm>
            <a:off x="8449056" y="2468880"/>
            <a:ext cx="2286000" cy="256032"/>
          </a:xfrm>
          <a:prstGeom prst="rect">
            <a:avLst/>
          </a:prstGeom>
          <a:noFill/>
          <a:ln/>
        </p:spPr>
        <p:txBody>
          <a:bodyPr wrap="square" lIns="0" tIns="0" rIns="0" bIns="0" rtlCol="0" anchor="ctr">
            <a:normAutofit/>
          </a:bodyPr>
          <a:lstStyle/>
          <a:p>
            <a:pPr algn="l" indent="0" marL="0">
              <a:buNone/>
            </a:pPr>
            <a:r>
              <a:rPr lang="en-US" sz="1200" b="1" spc="130" kern="0" dirty="0">
                <a:solidFill>
                  <a:srgbClr val="FFFFFF"/>
                </a:solidFill>
                <a:latin typeface="Arial" pitchFamily="34" charset="0"/>
                <a:ea typeface="Arial" pitchFamily="34" charset="-122"/>
                <a:cs typeface="Arial" pitchFamily="34" charset="-120"/>
              </a:rPr>
              <a:t>CONNECTION</a:t>
            </a:r>
            <a:endParaRPr lang="en-US" sz="1200" dirty="0"/>
          </a:p>
        </p:txBody>
      </p:sp>
      <p:sp>
        <p:nvSpPr>
          <p:cNvPr id="19" name="Text 17"/>
          <p:cNvSpPr/>
          <p:nvPr/>
        </p:nvSpPr>
        <p:spPr>
          <a:xfrm>
            <a:off x="8449056" y="3063240"/>
            <a:ext cx="914400" cy="219456"/>
          </a:xfrm>
          <a:prstGeom prst="rect">
            <a:avLst/>
          </a:prstGeom>
          <a:noFill/>
          <a:ln/>
        </p:spPr>
        <p:txBody>
          <a:bodyPr wrap="square" lIns="0" tIns="0" rIns="0" bIns="0" rtlCol="0" anchor="ctr">
            <a:normAutofit/>
          </a:bodyPr>
          <a:lstStyle/>
          <a:p>
            <a:pPr algn="l" indent="0" marL="0">
              <a:buNone/>
            </a:pPr>
            <a:r>
              <a:rPr lang="en-US" sz="1000" b="1" dirty="0">
                <a:solidFill>
                  <a:srgbClr val="F4E7D4"/>
                </a:solidFill>
                <a:latin typeface="Arial" pitchFamily="34" charset="0"/>
                <a:ea typeface="Arial" pitchFamily="34" charset="-122"/>
                <a:cs typeface="Arial" pitchFamily="34" charset="-120"/>
              </a:rPr>
              <a:t>BEFORE</a:t>
            </a:r>
            <a:endParaRPr lang="en-US" sz="1000" dirty="0"/>
          </a:p>
        </p:txBody>
      </p:sp>
      <p:sp>
        <p:nvSpPr>
          <p:cNvPr id="20" name="Text 18"/>
          <p:cNvSpPr/>
          <p:nvPr/>
        </p:nvSpPr>
        <p:spPr>
          <a:xfrm>
            <a:off x="8449056" y="3346704"/>
            <a:ext cx="2798064" cy="530352"/>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rial" pitchFamily="34" charset="0"/>
                <a:ea typeface="Arial" pitchFamily="34" charset="-122"/>
                <a:cs typeface="Arial" pitchFamily="34" charset="-120"/>
              </a:rPr>
              <a:t>“I feel alone with this.”</a:t>
            </a:r>
            <a:endParaRPr lang="en-US" sz="1600" dirty="0"/>
          </a:p>
        </p:txBody>
      </p:sp>
      <p:sp>
        <p:nvSpPr>
          <p:cNvPr id="21" name="Text 19"/>
          <p:cNvSpPr/>
          <p:nvPr/>
        </p:nvSpPr>
        <p:spPr>
          <a:xfrm>
            <a:off x="8449056" y="4169664"/>
            <a:ext cx="914400" cy="219456"/>
          </a:xfrm>
          <a:prstGeom prst="rect">
            <a:avLst/>
          </a:prstGeom>
          <a:noFill/>
          <a:ln/>
        </p:spPr>
        <p:txBody>
          <a:bodyPr wrap="square" lIns="0" tIns="0" rIns="0" bIns="0" rtlCol="0" anchor="ctr">
            <a:normAutofit/>
          </a:bodyPr>
          <a:lstStyle/>
          <a:p>
            <a:pPr algn="l" indent="0" marL="0">
              <a:buNone/>
            </a:pPr>
            <a:r>
              <a:rPr lang="en-US" sz="1000" b="1" dirty="0">
                <a:solidFill>
                  <a:srgbClr val="F4E7D4"/>
                </a:solidFill>
                <a:latin typeface="Arial" pitchFamily="34" charset="0"/>
                <a:ea typeface="Arial" pitchFamily="34" charset="-122"/>
                <a:cs typeface="Arial" pitchFamily="34" charset="-120"/>
              </a:rPr>
              <a:t>AFTER</a:t>
            </a:r>
            <a:endParaRPr lang="en-US" sz="1000" dirty="0"/>
          </a:p>
        </p:txBody>
      </p:sp>
      <p:sp>
        <p:nvSpPr>
          <p:cNvPr id="22" name="Text 20"/>
          <p:cNvSpPr/>
          <p:nvPr/>
        </p:nvSpPr>
        <p:spPr>
          <a:xfrm>
            <a:off x="8449056" y="4462272"/>
            <a:ext cx="2788920" cy="438912"/>
          </a:xfrm>
          <a:prstGeom prst="rect">
            <a:avLst/>
          </a:prstGeom>
          <a:noFill/>
          <a:ln/>
        </p:spPr>
        <p:txBody>
          <a:bodyPr wrap="square" lIns="0" tIns="0" rIns="0" bIns="0" rtlCol="0" anchor="ctr">
            <a:normAutofit/>
          </a:bodyPr>
          <a:lstStyle/>
          <a:p>
            <a:pPr algn="l" indent="0" marL="0">
              <a:buNone/>
            </a:pPr>
            <a:r>
              <a:rPr lang="en-US" sz="1500" b="1" dirty="0">
                <a:solidFill>
                  <a:srgbClr val="FFFFFF"/>
                </a:solidFill>
                <a:latin typeface="Arial" pitchFamily="34" charset="0"/>
                <a:ea typeface="Arial" pitchFamily="34" charset="-122"/>
                <a:cs typeface="Arial" pitchFamily="34" charset="-120"/>
              </a:rPr>
              <a:t>I can find trusted support.</a:t>
            </a:r>
            <a:endParaRPr lang="en-US" sz="1500" dirty="0"/>
          </a:p>
        </p:txBody>
      </p:sp>
      <p:sp>
        <p:nvSpPr>
          <p:cNvPr id="23" name="Shape 21"/>
          <p:cNvSpPr/>
          <p:nvPr/>
        </p:nvSpPr>
        <p:spPr>
          <a:xfrm>
            <a:off x="1965960" y="5669280"/>
            <a:ext cx="8275320" cy="384048"/>
          </a:xfrm>
          <a:prstGeom prst="roundRect">
            <a:avLst>
              <a:gd name="adj" fmla="val 19048"/>
            </a:avLst>
          </a:prstGeom>
          <a:solidFill>
            <a:srgbClr val="12232B"/>
          </a:solidFill>
          <a:ln w="12700">
            <a:solidFill>
              <a:srgbClr val="12232B">
                <a:alpha val="0"/>
              </a:srgbClr>
            </a:solidFill>
            <a:prstDash val="solid"/>
          </a:ln>
        </p:spPr>
      </p:sp>
      <p:sp>
        <p:nvSpPr>
          <p:cNvPr id="24" name="Text 22"/>
          <p:cNvSpPr/>
          <p:nvPr/>
        </p:nvSpPr>
        <p:spPr>
          <a:xfrm>
            <a:off x="2176272" y="5751576"/>
            <a:ext cx="7845552" cy="201168"/>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Arial" pitchFamily="34" charset="0"/>
                <a:ea typeface="Arial" pitchFamily="34" charset="-122"/>
                <a:cs typeface="Arial" pitchFamily="34" charset="-120"/>
              </a:rPr>
              <a:t>MindMate helps someone begin, then keeps the path to people visible.</a:t>
            </a:r>
            <a:endParaRPr lang="en-US" sz="1200" dirty="0"/>
          </a:p>
        </p:txBody>
      </p:sp>
      <p:sp>
        <p:nvSpPr>
          <p:cNvPr id="25" name="Text 23"/>
          <p:cNvSpPr/>
          <p:nvPr/>
        </p:nvSpPr>
        <p:spPr>
          <a:xfrm>
            <a:off x="621792" y="6437376"/>
            <a:ext cx="1828800"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78908A"/>
                </a:solidFill>
                <a:latin typeface="Arial" pitchFamily="34" charset="0"/>
                <a:ea typeface="Arial" pitchFamily="34" charset="-122"/>
                <a:cs typeface="Arial" pitchFamily="34" charset="-120"/>
              </a:rPr>
              <a:t>MINDMATE</a:t>
            </a:r>
            <a:endParaRPr lang="en-US" sz="800" dirty="0"/>
          </a:p>
        </p:txBody>
      </p:sp>
      <p:sp>
        <p:nvSpPr>
          <p:cNvPr id="25" name="Slide Number Placeholder 0"/>
          <p:cNvSpPr>
            <a:spLocks noGrp="1"/>
          </p:cNvSpPr>
          <p:nvPr>
            <p:ph type="sldNum" sz="quarter" idx="4294967295"/>
          </p:nvPr>
        </p:nvSpPr>
        <p:spPr>
          <a:xfrm>
            <a:off x="11475720" y="647395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8908A"/>
                </a:solidFill>
                <a:latin typeface="Arial"/>
                <a:ea typeface="Arial"/>
                <a:cs typeface="Aria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21792" y="384048"/>
            <a:ext cx="5303520" cy="219456"/>
          </a:xfrm>
          <a:prstGeom prst="rect">
            <a:avLst/>
          </a:prstGeom>
          <a:noFill/>
          <a:ln/>
        </p:spPr>
        <p:txBody>
          <a:bodyPr wrap="square" lIns="0" tIns="0" rIns="0" bIns="0" rtlCol="0" anchor="ctr">
            <a:normAutofit/>
          </a:bodyPr>
          <a:lstStyle/>
          <a:p>
            <a:pPr algn="l" indent="0" marL="0">
              <a:buNone/>
            </a:pPr>
            <a:r>
              <a:rPr lang="en-US" sz="1000" b="1" spc="140" kern="0" dirty="0">
                <a:solidFill>
                  <a:srgbClr val="2E7D73"/>
                </a:solidFill>
                <a:latin typeface="Arial" pitchFamily="34" charset="0"/>
                <a:ea typeface="Arial" pitchFamily="34" charset="-122"/>
                <a:cs typeface="Arial" pitchFamily="34" charset="-120"/>
              </a:rPr>
              <a:t>10 / EXECUTION AND NEXT</a:t>
            </a:r>
            <a:endParaRPr lang="en-US" sz="1000" dirty="0"/>
          </a:p>
        </p:txBody>
      </p:sp>
      <p:sp>
        <p:nvSpPr>
          <p:cNvPr id="3" name="Text 1"/>
          <p:cNvSpPr/>
          <p:nvPr/>
        </p:nvSpPr>
        <p:spPr>
          <a:xfrm>
            <a:off x="621792" y="658368"/>
            <a:ext cx="10972800" cy="676656"/>
          </a:xfrm>
          <a:prstGeom prst="rect">
            <a:avLst/>
          </a:prstGeom>
          <a:noFill/>
          <a:ln/>
        </p:spPr>
        <p:txBody>
          <a:bodyPr wrap="square" lIns="0" tIns="0" rIns="0" bIns="0" rtlCol="0" anchor="ctr">
            <a:normAutofit/>
          </a:bodyPr>
          <a:lstStyle/>
          <a:p>
            <a:pPr algn="l" indent="0" marL="0">
              <a:buNone/>
            </a:pPr>
            <a:r>
              <a:rPr lang="en-US" sz="2800" b="1" dirty="0">
                <a:solidFill>
                  <a:srgbClr val="12232B"/>
                </a:solidFill>
                <a:latin typeface="Arial" pitchFamily="34" charset="0"/>
                <a:ea typeface="Arial" pitchFamily="34" charset="-122"/>
                <a:cs typeface="Arial" pitchFamily="34" charset="-120"/>
              </a:rPr>
              <a:t>From polished prototype to stronger evidence</a:t>
            </a:r>
            <a:endParaRPr lang="en-US" sz="2800" dirty="0"/>
          </a:p>
        </p:txBody>
      </p:sp>
      <p:sp>
        <p:nvSpPr>
          <p:cNvPr id="4" name="Text 2"/>
          <p:cNvSpPr/>
          <p:nvPr/>
        </p:nvSpPr>
        <p:spPr>
          <a:xfrm>
            <a:off x="640080" y="1399032"/>
            <a:ext cx="10607040" cy="347472"/>
          </a:xfrm>
          <a:prstGeom prst="rect">
            <a:avLst/>
          </a:prstGeom>
          <a:noFill/>
          <a:ln/>
        </p:spPr>
        <p:txBody>
          <a:bodyPr wrap="square" lIns="0" tIns="0" rIns="0" bIns="0" rtlCol="0" anchor="ctr">
            <a:normAutofit/>
          </a:bodyPr>
          <a:lstStyle/>
          <a:p>
            <a:pPr algn="l" indent="0" marL="0">
              <a:buNone/>
            </a:pPr>
            <a:r>
              <a:rPr lang="en-US" sz="1300" dirty="0">
                <a:solidFill>
                  <a:srgbClr val="68767C"/>
                </a:solidFill>
                <a:latin typeface="Arial" pitchFamily="34" charset="0"/>
                <a:ea typeface="Arial" pitchFamily="34" charset="-122"/>
                <a:cs typeface="Arial" pitchFamily="34" charset="-120"/>
              </a:rPr>
              <a:t>The next stage is responsible testing, not a feature race.</a:t>
            </a:r>
            <a:endParaRPr lang="en-US" sz="1300" dirty="0"/>
          </a:p>
        </p:txBody>
      </p:sp>
      <p:sp>
        <p:nvSpPr>
          <p:cNvPr id="5" name="Shape 3"/>
          <p:cNvSpPr/>
          <p:nvPr/>
        </p:nvSpPr>
        <p:spPr>
          <a:xfrm>
            <a:off x="658368" y="2084832"/>
            <a:ext cx="5212080" cy="3611880"/>
          </a:xfrm>
          <a:prstGeom prst="roundRect">
            <a:avLst>
              <a:gd name="adj" fmla="val 2025"/>
            </a:avLst>
          </a:prstGeom>
          <a:solidFill>
            <a:srgbClr val="12232B"/>
          </a:solidFill>
          <a:ln w="12700">
            <a:solidFill>
              <a:srgbClr val="12232B">
                <a:alpha val="0"/>
              </a:srgbClr>
            </a:solidFill>
            <a:prstDash val="solid"/>
          </a:ln>
        </p:spPr>
      </p:sp>
      <p:sp>
        <p:nvSpPr>
          <p:cNvPr id="6" name="Text 4"/>
          <p:cNvSpPr/>
          <p:nvPr/>
        </p:nvSpPr>
        <p:spPr>
          <a:xfrm>
            <a:off x="987552" y="2487168"/>
            <a:ext cx="2560320" cy="228600"/>
          </a:xfrm>
          <a:prstGeom prst="rect">
            <a:avLst/>
          </a:prstGeom>
          <a:noFill/>
          <a:ln/>
        </p:spPr>
        <p:txBody>
          <a:bodyPr wrap="square" lIns="0" tIns="0" rIns="0" bIns="0" rtlCol="0" anchor="ctr">
            <a:normAutofit/>
          </a:bodyPr>
          <a:lstStyle/>
          <a:p>
            <a:pPr algn="l" indent="0" marL="0">
              <a:buNone/>
            </a:pPr>
            <a:r>
              <a:rPr lang="en-US" sz="1100" b="1" spc="120" kern="0" dirty="0">
                <a:solidFill>
                  <a:srgbClr val="78AFA2"/>
                </a:solidFill>
                <a:latin typeface="Arial" pitchFamily="34" charset="0"/>
                <a:ea typeface="Arial" pitchFamily="34" charset="-122"/>
                <a:cs typeface="Arial" pitchFamily="34" charset="-120"/>
              </a:rPr>
              <a:t>WHAT WE HAVE LEARNED</a:t>
            </a:r>
            <a:endParaRPr lang="en-US" sz="1100" dirty="0"/>
          </a:p>
        </p:txBody>
      </p:sp>
      <p:sp>
        <p:nvSpPr>
          <p:cNvPr id="7" name="Shape 5"/>
          <p:cNvSpPr/>
          <p:nvPr/>
        </p:nvSpPr>
        <p:spPr>
          <a:xfrm>
            <a:off x="987552" y="3108960"/>
            <a:ext cx="137160" cy="137160"/>
          </a:xfrm>
          <a:prstGeom prst="roundRect">
            <a:avLst>
              <a:gd name="adj" fmla="val 53333"/>
            </a:avLst>
          </a:prstGeom>
          <a:solidFill>
            <a:srgbClr val="2E7D73"/>
          </a:solidFill>
          <a:ln w="12700">
            <a:solidFill>
              <a:srgbClr val="2E7D73">
                <a:alpha val="0"/>
              </a:srgbClr>
            </a:solidFill>
            <a:prstDash val="solid"/>
          </a:ln>
        </p:spPr>
      </p:sp>
      <p:sp>
        <p:nvSpPr>
          <p:cNvPr id="8" name="Text 6"/>
          <p:cNvSpPr/>
          <p:nvPr/>
        </p:nvSpPr>
        <p:spPr>
          <a:xfrm>
            <a:off x="1298448" y="3017520"/>
            <a:ext cx="3849624" cy="347472"/>
          </a:xfrm>
          <a:prstGeom prst="rect">
            <a:avLst/>
          </a:prstGeom>
          <a:noFill/>
          <a:ln/>
        </p:spPr>
        <p:txBody>
          <a:bodyPr wrap="square" lIns="0" tIns="0" rIns="0" bIns="0" rtlCol="0" anchor="ctr">
            <a:normAutofit/>
          </a:bodyPr>
          <a:lstStyle/>
          <a:p>
            <a:pPr algn="l" indent="0" marL="0">
              <a:buNone/>
            </a:pPr>
            <a:r>
              <a:rPr lang="en-US" sz="1400" dirty="0">
                <a:solidFill>
                  <a:srgbClr val="FFFFFF"/>
                </a:solidFill>
                <a:latin typeface="Arial" pitchFamily="34" charset="0"/>
                <a:ea typeface="Arial" pitchFamily="34" charset="-122"/>
                <a:cs typeface="Arial" pitchFamily="34" charset="-120"/>
              </a:rPr>
              <a:t>Safety needs to be visible in the flow.</a:t>
            </a:r>
            <a:endParaRPr lang="en-US" sz="1400" dirty="0"/>
          </a:p>
        </p:txBody>
      </p:sp>
      <p:sp>
        <p:nvSpPr>
          <p:cNvPr id="9" name="Shape 7"/>
          <p:cNvSpPr/>
          <p:nvPr/>
        </p:nvSpPr>
        <p:spPr>
          <a:xfrm>
            <a:off x="987552" y="3648456"/>
            <a:ext cx="137160" cy="137160"/>
          </a:xfrm>
          <a:prstGeom prst="roundRect">
            <a:avLst>
              <a:gd name="adj" fmla="val 53333"/>
            </a:avLst>
          </a:prstGeom>
          <a:solidFill>
            <a:srgbClr val="2E7D73"/>
          </a:solidFill>
          <a:ln w="12700">
            <a:solidFill>
              <a:srgbClr val="2E7D73">
                <a:alpha val="0"/>
              </a:srgbClr>
            </a:solidFill>
            <a:prstDash val="solid"/>
          </a:ln>
        </p:spPr>
      </p:sp>
      <p:sp>
        <p:nvSpPr>
          <p:cNvPr id="10" name="Text 8"/>
          <p:cNvSpPr/>
          <p:nvPr/>
        </p:nvSpPr>
        <p:spPr>
          <a:xfrm>
            <a:off x="1298448" y="3557016"/>
            <a:ext cx="3849624" cy="347472"/>
          </a:xfrm>
          <a:prstGeom prst="rect">
            <a:avLst/>
          </a:prstGeom>
          <a:noFill/>
          <a:ln/>
        </p:spPr>
        <p:txBody>
          <a:bodyPr wrap="square" lIns="0" tIns="0" rIns="0" bIns="0" rtlCol="0" anchor="ctr">
            <a:normAutofit/>
          </a:bodyPr>
          <a:lstStyle/>
          <a:p>
            <a:pPr algn="l" indent="0" marL="0">
              <a:buNone/>
            </a:pPr>
            <a:r>
              <a:rPr lang="en-US" sz="1400" dirty="0">
                <a:solidFill>
                  <a:srgbClr val="FFFFFF"/>
                </a:solidFill>
                <a:latin typeface="Arial" pitchFamily="34" charset="0"/>
                <a:ea typeface="Arial" pitchFamily="34" charset="-122"/>
                <a:cs typeface="Arial" pitchFamily="34" charset="-120"/>
              </a:rPr>
              <a:t>Privacy must be explainable in one sentence.</a:t>
            </a:r>
            <a:endParaRPr lang="en-US" sz="1400" dirty="0"/>
          </a:p>
        </p:txBody>
      </p:sp>
      <p:sp>
        <p:nvSpPr>
          <p:cNvPr id="11" name="Shape 9"/>
          <p:cNvSpPr/>
          <p:nvPr/>
        </p:nvSpPr>
        <p:spPr>
          <a:xfrm>
            <a:off x="987552" y="4187952"/>
            <a:ext cx="137160" cy="137160"/>
          </a:xfrm>
          <a:prstGeom prst="roundRect">
            <a:avLst>
              <a:gd name="adj" fmla="val 53333"/>
            </a:avLst>
          </a:prstGeom>
          <a:solidFill>
            <a:srgbClr val="2E7D73"/>
          </a:solidFill>
          <a:ln w="12700">
            <a:solidFill>
              <a:srgbClr val="2E7D73">
                <a:alpha val="0"/>
              </a:srgbClr>
            </a:solidFill>
            <a:prstDash val="solid"/>
          </a:ln>
        </p:spPr>
      </p:sp>
      <p:sp>
        <p:nvSpPr>
          <p:cNvPr id="12" name="Text 10"/>
          <p:cNvSpPr/>
          <p:nvPr/>
        </p:nvSpPr>
        <p:spPr>
          <a:xfrm>
            <a:off x="1298448" y="4096512"/>
            <a:ext cx="3849624" cy="347472"/>
          </a:xfrm>
          <a:prstGeom prst="rect">
            <a:avLst/>
          </a:prstGeom>
          <a:noFill/>
          <a:ln/>
        </p:spPr>
        <p:txBody>
          <a:bodyPr wrap="square" lIns="0" tIns="0" rIns="0" bIns="0" rtlCol="0" anchor="ctr">
            <a:normAutofit/>
          </a:bodyPr>
          <a:lstStyle/>
          <a:p>
            <a:pPr algn="l" indent="0" marL="0">
              <a:buNone/>
            </a:pPr>
            <a:r>
              <a:rPr lang="en-US" sz="1400" dirty="0">
                <a:solidFill>
                  <a:srgbClr val="FFFFFF"/>
                </a:solidFill>
                <a:latin typeface="Arial" pitchFamily="34" charset="0"/>
                <a:ea typeface="Arial" pitchFamily="34" charset="-122"/>
                <a:cs typeface="Arial" pitchFamily="34" charset="-120"/>
              </a:rPr>
              <a:t>A small next step beats a feature pile.</a:t>
            </a:r>
            <a:endParaRPr lang="en-US" sz="1400" dirty="0"/>
          </a:p>
        </p:txBody>
      </p:sp>
      <p:sp>
        <p:nvSpPr>
          <p:cNvPr id="13" name="Shape 11"/>
          <p:cNvSpPr/>
          <p:nvPr/>
        </p:nvSpPr>
        <p:spPr>
          <a:xfrm>
            <a:off x="987552" y="4727448"/>
            <a:ext cx="137160" cy="137160"/>
          </a:xfrm>
          <a:prstGeom prst="roundRect">
            <a:avLst>
              <a:gd name="adj" fmla="val 53333"/>
            </a:avLst>
          </a:prstGeom>
          <a:solidFill>
            <a:srgbClr val="2E7D73"/>
          </a:solidFill>
          <a:ln w="12700">
            <a:solidFill>
              <a:srgbClr val="2E7D73">
                <a:alpha val="0"/>
              </a:srgbClr>
            </a:solidFill>
            <a:prstDash val="solid"/>
          </a:ln>
        </p:spPr>
      </p:sp>
      <p:sp>
        <p:nvSpPr>
          <p:cNvPr id="14" name="Text 12"/>
          <p:cNvSpPr/>
          <p:nvPr/>
        </p:nvSpPr>
        <p:spPr>
          <a:xfrm>
            <a:off x="1298448" y="4636008"/>
            <a:ext cx="3849624" cy="347472"/>
          </a:xfrm>
          <a:prstGeom prst="rect">
            <a:avLst/>
          </a:prstGeom>
          <a:noFill/>
          <a:ln/>
        </p:spPr>
        <p:txBody>
          <a:bodyPr wrap="square" lIns="0" tIns="0" rIns="0" bIns="0" rtlCol="0" anchor="ctr">
            <a:normAutofit/>
          </a:bodyPr>
          <a:lstStyle/>
          <a:p>
            <a:pPr algn="l" indent="0" marL="0">
              <a:buNone/>
            </a:pPr>
            <a:r>
              <a:rPr lang="en-US" sz="1400" dirty="0">
                <a:solidFill>
                  <a:srgbClr val="FFFFFF"/>
                </a:solidFill>
                <a:latin typeface="Arial" pitchFamily="34" charset="0"/>
                <a:ea typeface="Arial" pitchFamily="34" charset="-122"/>
                <a:cs typeface="Arial" pitchFamily="34" charset="-120"/>
              </a:rPr>
              <a:t>Release testing must follow the real journey.</a:t>
            </a:r>
            <a:endParaRPr lang="en-US" sz="1400" dirty="0"/>
          </a:p>
        </p:txBody>
      </p:sp>
      <p:sp>
        <p:nvSpPr>
          <p:cNvPr id="15" name="Shape 13"/>
          <p:cNvSpPr/>
          <p:nvPr/>
        </p:nvSpPr>
        <p:spPr>
          <a:xfrm>
            <a:off x="987552" y="5248656"/>
            <a:ext cx="2852928" cy="301752"/>
          </a:xfrm>
          <a:prstGeom prst="roundRect">
            <a:avLst>
              <a:gd name="adj" fmla="val 24242"/>
            </a:avLst>
          </a:prstGeom>
          <a:solidFill>
            <a:srgbClr val="D9776A"/>
          </a:solidFill>
          <a:ln w="12700">
            <a:solidFill>
              <a:srgbClr val="D9776A">
                <a:alpha val="0"/>
              </a:srgbClr>
            </a:solidFill>
            <a:prstDash val="solid"/>
          </a:ln>
        </p:spPr>
      </p:sp>
      <p:sp>
        <p:nvSpPr>
          <p:cNvPr id="16" name="Text 14"/>
          <p:cNvSpPr/>
          <p:nvPr/>
        </p:nvSpPr>
        <p:spPr>
          <a:xfrm>
            <a:off x="1060704" y="5257800"/>
            <a:ext cx="2706624" cy="274320"/>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rial" pitchFamily="34" charset="0"/>
                <a:ea typeface="Arial" pitchFamily="34" charset="-122"/>
                <a:cs typeface="Arial" pitchFamily="34" charset="-120"/>
              </a:rPr>
              <a:t>DESIGN AROUND THE USER JOURNEY</a:t>
            </a:r>
            <a:endParaRPr lang="en-US" sz="900" dirty="0"/>
          </a:p>
        </p:txBody>
      </p:sp>
      <p:sp>
        <p:nvSpPr>
          <p:cNvPr id="17" name="Shape 15"/>
          <p:cNvSpPr/>
          <p:nvPr/>
        </p:nvSpPr>
        <p:spPr>
          <a:xfrm>
            <a:off x="6327648" y="2084832"/>
            <a:ext cx="5212080" cy="3611880"/>
          </a:xfrm>
          <a:prstGeom prst="roundRect">
            <a:avLst>
              <a:gd name="adj" fmla="val 2025"/>
            </a:avLst>
          </a:prstGeom>
          <a:solidFill>
            <a:srgbClr val="F4E7D4"/>
          </a:solidFill>
          <a:ln w="12700">
            <a:solidFill>
              <a:srgbClr val="F4E7D4">
                <a:alpha val="0"/>
              </a:srgbClr>
            </a:solidFill>
            <a:prstDash val="solid"/>
          </a:ln>
        </p:spPr>
      </p:sp>
      <p:sp>
        <p:nvSpPr>
          <p:cNvPr id="18" name="Text 16"/>
          <p:cNvSpPr/>
          <p:nvPr/>
        </p:nvSpPr>
        <p:spPr>
          <a:xfrm>
            <a:off x="6656832" y="2487168"/>
            <a:ext cx="1828800" cy="228600"/>
          </a:xfrm>
          <a:prstGeom prst="rect">
            <a:avLst/>
          </a:prstGeom>
          <a:noFill/>
          <a:ln/>
        </p:spPr>
        <p:txBody>
          <a:bodyPr wrap="square" lIns="0" tIns="0" rIns="0" bIns="0" rtlCol="0" anchor="ctr">
            <a:normAutofit/>
          </a:bodyPr>
          <a:lstStyle/>
          <a:p>
            <a:pPr algn="l" indent="0" marL="0">
              <a:buNone/>
            </a:pPr>
            <a:r>
              <a:rPr lang="en-US" sz="1100" b="1" spc="120" kern="0" dirty="0">
                <a:solidFill>
                  <a:srgbClr val="2E7D73"/>
                </a:solidFill>
                <a:latin typeface="Arial" pitchFamily="34" charset="0"/>
                <a:ea typeface="Arial" pitchFamily="34" charset="-122"/>
                <a:cs typeface="Arial" pitchFamily="34" charset="-120"/>
              </a:rPr>
              <a:t>WHAT COMES NEXT</a:t>
            </a:r>
            <a:endParaRPr lang="en-US" sz="1100" dirty="0"/>
          </a:p>
        </p:txBody>
      </p:sp>
      <p:sp>
        <p:nvSpPr>
          <p:cNvPr id="19" name="Text 17"/>
          <p:cNvSpPr/>
          <p:nvPr/>
        </p:nvSpPr>
        <p:spPr>
          <a:xfrm>
            <a:off x="6656832" y="2999232"/>
            <a:ext cx="4206240" cy="1234440"/>
          </a:xfrm>
          <a:prstGeom prst="rect">
            <a:avLst/>
          </a:prstGeom>
          <a:noFill/>
          <a:ln/>
        </p:spPr>
        <p:txBody>
          <a:bodyPr wrap="square" lIns="0" tIns="0" rIns="0" bIns="0" rtlCol="0" anchor="ctr">
            <a:normAutofit/>
          </a:bodyPr>
          <a:lstStyle/>
          <a:p>
            <a:pPr algn="l" indent="0" marL="0">
              <a:buNone/>
            </a:pPr>
            <a:r>
              <a:rPr lang="en-US" sz="1700" b="1" dirty="0">
                <a:solidFill>
                  <a:srgbClr val="12232B"/>
                </a:solidFill>
                <a:latin typeface="Arial" pitchFamily="34" charset="0"/>
                <a:ea typeface="Arial" pitchFamily="34" charset="-122"/>
                <a:cs typeface="Arial" pitchFamily="34" charset="-120"/>
              </a:rPr>
              <a:t>Test with real users, measure what helps, strengthen the safety experience, validate the business model, and improve the product using evidence rather than assumptions.</a:t>
            </a:r>
            <a:endParaRPr lang="en-US" sz="1700" dirty="0"/>
          </a:p>
        </p:txBody>
      </p:sp>
      <p:sp>
        <p:nvSpPr>
          <p:cNvPr id="20" name="Shape 18"/>
          <p:cNvSpPr/>
          <p:nvPr/>
        </p:nvSpPr>
        <p:spPr>
          <a:xfrm>
            <a:off x="6656832" y="5248656"/>
            <a:ext cx="3017520" cy="301752"/>
          </a:xfrm>
          <a:prstGeom prst="roundRect">
            <a:avLst>
              <a:gd name="adj" fmla="val 24242"/>
            </a:avLst>
          </a:prstGeom>
          <a:solidFill>
            <a:srgbClr val="D9776A"/>
          </a:solidFill>
          <a:ln w="12700">
            <a:solidFill>
              <a:srgbClr val="D9776A">
                <a:alpha val="0"/>
              </a:srgbClr>
            </a:solidFill>
            <a:prstDash val="solid"/>
          </a:ln>
        </p:spPr>
      </p:sp>
      <p:sp>
        <p:nvSpPr>
          <p:cNvPr id="21" name="Text 19"/>
          <p:cNvSpPr/>
          <p:nvPr/>
        </p:nvSpPr>
        <p:spPr>
          <a:xfrm>
            <a:off x="6729984" y="5257800"/>
            <a:ext cx="2871216" cy="274320"/>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rial" pitchFamily="34" charset="0"/>
                <a:ea typeface="Arial" pitchFamily="34" charset="-122"/>
                <a:cs typeface="Arial" pitchFamily="34" charset="-120"/>
              </a:rPr>
              <a:t>BUILD EVIDENCE BEFORE ADDING COMPLEXITY</a:t>
            </a:r>
            <a:endParaRPr lang="en-US" sz="900" dirty="0"/>
          </a:p>
        </p:txBody>
      </p:sp>
      <p:sp>
        <p:nvSpPr>
          <p:cNvPr id="22" name="Shape 20"/>
          <p:cNvSpPr/>
          <p:nvPr/>
        </p:nvSpPr>
        <p:spPr>
          <a:xfrm>
            <a:off x="1938528" y="5943600"/>
            <a:ext cx="8366760" cy="310896"/>
          </a:xfrm>
          <a:prstGeom prst="roundRect">
            <a:avLst>
              <a:gd name="adj" fmla="val 23529"/>
            </a:avLst>
          </a:prstGeom>
          <a:solidFill>
            <a:srgbClr val="12232B"/>
          </a:solidFill>
          <a:ln w="12700">
            <a:solidFill>
              <a:srgbClr val="12232B">
                <a:alpha val="0"/>
              </a:srgbClr>
            </a:solidFill>
            <a:prstDash val="solid"/>
          </a:ln>
        </p:spPr>
      </p:sp>
      <p:sp>
        <p:nvSpPr>
          <p:cNvPr id="23" name="Text 21"/>
          <p:cNvSpPr/>
          <p:nvPr/>
        </p:nvSpPr>
        <p:spPr>
          <a:xfrm>
            <a:off x="2121408" y="5998464"/>
            <a:ext cx="8001000" cy="164592"/>
          </a:xfrm>
          <a:prstGeom prst="rect">
            <a:avLst/>
          </a:prstGeom>
          <a:noFill/>
          <a:ln/>
        </p:spPr>
        <p:txBody>
          <a:bodyPr wrap="square" lIns="0" tIns="0" rIns="0" bIns="0" rtlCol="0" anchor="ctr">
            <a:normAutofit/>
          </a:bodyPr>
          <a:lstStyle/>
          <a:p>
            <a:pPr algn="ctr" indent="0" marL="0">
              <a:buNone/>
            </a:pPr>
            <a:r>
              <a:rPr lang="en-US" sz="1050" b="1" dirty="0">
                <a:solidFill>
                  <a:srgbClr val="FFFFFF"/>
                </a:solidFill>
                <a:latin typeface="Arial" pitchFamily="34" charset="0"/>
                <a:ea typeface="Arial" pitchFamily="34" charset="-122"/>
                <a:cs typeface="Arial" pitchFamily="34" charset="-120"/>
              </a:rPr>
              <a:t>The next milestone is not “more features.” It is better evidence that the right features work.</a:t>
            </a:r>
            <a:endParaRPr lang="en-US" sz="1050" dirty="0"/>
          </a:p>
        </p:txBody>
      </p:sp>
      <p:sp>
        <p:nvSpPr>
          <p:cNvPr id="24" name="Text 22"/>
          <p:cNvSpPr/>
          <p:nvPr/>
        </p:nvSpPr>
        <p:spPr>
          <a:xfrm>
            <a:off x="621792" y="6437376"/>
            <a:ext cx="1828800"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78908A"/>
                </a:solidFill>
                <a:latin typeface="Arial" pitchFamily="34" charset="0"/>
                <a:ea typeface="Arial" pitchFamily="34" charset="-122"/>
                <a:cs typeface="Arial" pitchFamily="34" charset="-120"/>
              </a:rPr>
              <a:t>MINDMATE</a:t>
            </a:r>
            <a:endParaRPr lang="en-US" sz="800" dirty="0"/>
          </a:p>
        </p:txBody>
      </p:sp>
      <p:sp>
        <p:nvSpPr>
          <p:cNvPr id="25" name="Slide Number Placeholder 0"/>
          <p:cNvSpPr>
            <a:spLocks noGrp="1"/>
          </p:cNvSpPr>
          <p:nvPr>
            <p:ph type="sldNum" sz="quarter" idx="4294967295"/>
          </p:nvPr>
        </p:nvSpPr>
        <p:spPr>
          <a:xfrm>
            <a:off x="11475720" y="647395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8908A"/>
                </a:solidFill>
                <a:latin typeface="Arial"/>
                <a:ea typeface="Arial"/>
                <a:cs typeface="Aria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232B"/>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D9776A"/>
          </a:solidFill>
          <a:ln w="12700">
            <a:solidFill>
              <a:srgbClr val="D9776A">
                <a:alpha val="0"/>
              </a:srgbClr>
            </a:solidFill>
            <a:prstDash val="solid"/>
          </a:ln>
        </p:spPr>
      </p:sp>
      <p:pic>
        <p:nvPicPr>
          <p:cNvPr id="3" name="Image 0" descr="/home/user/mindmate/logos/logo_b_icon_512.png">    </p:cNvPr>
          <p:cNvPicPr>
            <a:picLocks noChangeAspect="1"/>
          </p:cNvPicPr>
          <p:nvPr/>
        </p:nvPicPr>
        <p:blipFill>
          <a:blip r:embed="rId1"/>
          <a:stretch>
            <a:fillRect/>
          </a:stretch>
        </p:blipFill>
        <p:spPr>
          <a:xfrm>
            <a:off x="8979408" y="603504"/>
            <a:ext cx="2395728" cy="2395728"/>
          </a:xfrm>
          <a:prstGeom prst="rect">
            <a:avLst/>
          </a:prstGeom>
        </p:spPr>
      </p:pic>
      <p:sp>
        <p:nvSpPr>
          <p:cNvPr id="4" name="Text 1"/>
          <p:cNvSpPr/>
          <p:nvPr/>
        </p:nvSpPr>
        <p:spPr>
          <a:xfrm>
            <a:off x="713232" y="804672"/>
            <a:ext cx="6583680" cy="594360"/>
          </a:xfrm>
          <a:prstGeom prst="rect">
            <a:avLst/>
          </a:prstGeom>
          <a:noFill/>
          <a:ln/>
        </p:spPr>
        <p:txBody>
          <a:bodyPr wrap="square" lIns="0" tIns="0" rIns="0" bIns="0" rtlCol="0" anchor="ctr">
            <a:normAutofit/>
          </a:bodyPr>
          <a:lstStyle/>
          <a:p>
            <a:pPr algn="l" indent="0" marL="0">
              <a:buNone/>
            </a:pPr>
            <a:r>
              <a:rPr lang="en-US" sz="3900" b="1" dirty="0">
                <a:solidFill>
                  <a:srgbClr val="FFFFFF"/>
                </a:solidFill>
                <a:latin typeface="Arial" pitchFamily="34" charset="0"/>
                <a:ea typeface="Arial" pitchFamily="34" charset="-122"/>
                <a:cs typeface="Arial" pitchFamily="34" charset="-120"/>
              </a:rPr>
              <a:t>MindMate</a:t>
            </a:r>
            <a:endParaRPr lang="en-US" sz="3900" dirty="0"/>
          </a:p>
        </p:txBody>
      </p:sp>
      <p:sp>
        <p:nvSpPr>
          <p:cNvPr id="5" name="Text 2"/>
          <p:cNvSpPr/>
          <p:nvPr/>
        </p:nvSpPr>
        <p:spPr>
          <a:xfrm>
            <a:off x="731520" y="1737360"/>
            <a:ext cx="7223760" cy="713232"/>
          </a:xfrm>
          <a:prstGeom prst="rect">
            <a:avLst/>
          </a:prstGeom>
          <a:noFill/>
          <a:ln/>
        </p:spPr>
        <p:txBody>
          <a:bodyPr wrap="square" lIns="0" tIns="0" rIns="0" bIns="0" rtlCol="0" anchor="ctr">
            <a:normAutofit/>
          </a:bodyPr>
          <a:lstStyle/>
          <a:p>
            <a:pPr algn="l" indent="0" marL="0">
              <a:buNone/>
            </a:pPr>
            <a:r>
              <a:rPr lang="en-US" sz="2900" b="1" dirty="0">
                <a:solidFill>
                  <a:srgbClr val="F4E7D4"/>
                </a:solidFill>
                <a:latin typeface="Arial" pitchFamily="34" charset="0"/>
                <a:ea typeface="Arial" pitchFamily="34" charset="-122"/>
                <a:cs typeface="Arial" pitchFamily="34" charset="-120"/>
              </a:rPr>
              <a:t>Make the next safe step feel possible.</a:t>
            </a:r>
            <a:endParaRPr lang="en-US" sz="2900" dirty="0"/>
          </a:p>
        </p:txBody>
      </p:sp>
      <p:sp>
        <p:nvSpPr>
          <p:cNvPr id="6" name="Text 3"/>
          <p:cNvSpPr/>
          <p:nvPr/>
        </p:nvSpPr>
        <p:spPr>
          <a:xfrm>
            <a:off x="749808" y="2770632"/>
            <a:ext cx="6675120" cy="310896"/>
          </a:xfrm>
          <a:prstGeom prst="rect">
            <a:avLst/>
          </a:prstGeom>
          <a:noFill/>
          <a:ln/>
        </p:spPr>
        <p:txBody>
          <a:bodyPr wrap="square" lIns="0" tIns="0" rIns="0" bIns="0" rtlCol="0" anchor="ctr">
            <a:normAutofit/>
          </a:bodyPr>
          <a:lstStyle/>
          <a:p>
            <a:pPr algn="l" indent="0" marL="0">
              <a:buNone/>
            </a:pPr>
            <a:r>
              <a:rPr lang="en-US" sz="1400" b="1" dirty="0">
                <a:solidFill>
                  <a:srgbClr val="78AFA2"/>
                </a:solidFill>
                <a:latin typeface="Arial" pitchFamily="34" charset="0"/>
                <a:ea typeface="Arial" pitchFamily="34" charset="-122"/>
                <a:cs typeface="Arial" pitchFamily="34" charset="-120"/>
              </a:rPr>
              <a:t>CHECK IN  →  TAKE ONE SMALL STEP  →  REFLECT  →  CONNECT</a:t>
            </a:r>
            <a:endParaRPr lang="en-US" sz="1400" dirty="0"/>
          </a:p>
        </p:txBody>
      </p:sp>
      <p:sp>
        <p:nvSpPr>
          <p:cNvPr id="7" name="Shape 4"/>
          <p:cNvSpPr/>
          <p:nvPr/>
        </p:nvSpPr>
        <p:spPr>
          <a:xfrm>
            <a:off x="749808" y="3730752"/>
            <a:ext cx="5989320" cy="1078992"/>
          </a:xfrm>
          <a:prstGeom prst="roundRect">
            <a:avLst>
              <a:gd name="adj" fmla="val 6780"/>
            </a:avLst>
          </a:prstGeom>
          <a:solidFill>
            <a:srgbClr val="1B3238"/>
          </a:solidFill>
          <a:ln w="12700">
            <a:solidFill>
              <a:srgbClr val="1B3238">
                <a:alpha val="0"/>
              </a:srgbClr>
            </a:solidFill>
            <a:prstDash val="solid"/>
          </a:ln>
        </p:spPr>
      </p:sp>
      <p:sp>
        <p:nvSpPr>
          <p:cNvPr id="8" name="Text 5"/>
          <p:cNvSpPr/>
          <p:nvPr/>
        </p:nvSpPr>
        <p:spPr>
          <a:xfrm>
            <a:off x="1024128" y="4041648"/>
            <a:ext cx="5440680" cy="347472"/>
          </a:xfrm>
          <a:prstGeom prst="rect">
            <a:avLst/>
          </a:prstGeom>
          <a:noFill/>
          <a:ln/>
        </p:spPr>
        <p:txBody>
          <a:bodyPr wrap="square" lIns="0" tIns="0" rIns="0" bIns="0" rtlCol="0" anchor="ctr">
            <a:normAutofit/>
          </a:bodyPr>
          <a:lstStyle/>
          <a:p>
            <a:pPr algn="ctr" indent="0" marL="0">
              <a:buNone/>
            </a:pPr>
            <a:r>
              <a:rPr lang="en-US" sz="1600" b="1" dirty="0">
                <a:solidFill>
                  <a:srgbClr val="FFFFFF"/>
                </a:solidFill>
                <a:latin typeface="Arial" pitchFamily="34" charset="0"/>
                <a:ea typeface="Arial" pitchFamily="34" charset="-122"/>
                <a:cs typeface="Arial" pitchFamily="34" charset="-120"/>
              </a:rPr>
              <a:t>https://mindmate-app-fcf2d.web.app</a:t>
            </a:r>
            <a:endParaRPr lang="en-US" sz="1600" dirty="0"/>
          </a:p>
        </p:txBody>
      </p:sp>
      <p:sp>
        <p:nvSpPr>
          <p:cNvPr id="9" name="Text 6"/>
          <p:cNvSpPr/>
          <p:nvPr/>
        </p:nvSpPr>
        <p:spPr>
          <a:xfrm>
            <a:off x="1024128" y="4462272"/>
            <a:ext cx="5440680" cy="228600"/>
          </a:xfrm>
          <a:prstGeom prst="rect">
            <a:avLst/>
          </a:prstGeom>
          <a:noFill/>
          <a:ln/>
        </p:spPr>
        <p:txBody>
          <a:bodyPr wrap="square" lIns="0" tIns="0" rIns="0" bIns="0" rtlCol="0" anchor="ctr">
            <a:normAutofit/>
          </a:bodyPr>
          <a:lstStyle/>
          <a:p>
            <a:pPr algn="ctr" indent="0" marL="0">
              <a:buNone/>
            </a:pPr>
            <a:r>
              <a:rPr lang="en-US" sz="1100" dirty="0">
                <a:solidFill>
                  <a:srgbClr val="D2E2DE"/>
                </a:solidFill>
                <a:latin typeface="Arial" pitchFamily="34" charset="0"/>
                <a:ea typeface="Arial" pitchFamily="34" charset="-122"/>
                <a:cs typeface="Arial" pitchFamily="34" charset="-120"/>
              </a:rPr>
              <a:t>Scan the QR code to try the live Web release.</a:t>
            </a:r>
            <a:endParaRPr lang="en-US" sz="1100" dirty="0"/>
          </a:p>
        </p:txBody>
      </p:sp>
      <p:pic>
        <p:nvPicPr>
          <p:cNvPr id="10" name="Image 1" descr="/home/user/mindmate/docs/mindmate-web-qr.png">    </p:cNvPr>
          <p:cNvPicPr>
            <a:picLocks noChangeAspect="1"/>
          </p:cNvPicPr>
          <p:nvPr/>
        </p:nvPicPr>
        <p:blipFill>
          <a:blip r:embed="rId2"/>
          <a:stretch>
            <a:fillRect/>
          </a:stretch>
        </p:blipFill>
        <p:spPr>
          <a:xfrm>
            <a:off x="7662672" y="3246120"/>
            <a:ext cx="3291840" cy="3291840"/>
          </a:xfrm>
          <a:prstGeom prst="rect">
            <a:avLst/>
          </a:prstGeom>
        </p:spPr>
      </p:pic>
      <p:sp>
        <p:nvSpPr>
          <p:cNvPr id="11" name="Text 7"/>
          <p:cNvSpPr/>
          <p:nvPr/>
        </p:nvSpPr>
        <p:spPr>
          <a:xfrm>
            <a:off x="749808" y="5943600"/>
            <a:ext cx="2743200" cy="365760"/>
          </a:xfrm>
          <a:prstGeom prst="rect">
            <a:avLst/>
          </a:prstGeom>
          <a:noFill/>
          <a:ln/>
        </p:spPr>
        <p:txBody>
          <a:bodyPr wrap="square" lIns="0" tIns="0" rIns="0" bIns="0" rtlCol="0" anchor="ctr">
            <a:normAutofit/>
          </a:bodyPr>
          <a:lstStyle/>
          <a:p>
            <a:pPr algn="l" indent="0" marL="0">
              <a:buNone/>
            </a:pPr>
            <a:r>
              <a:rPr lang="en-US" sz="2000" b="1" dirty="0">
                <a:solidFill>
                  <a:srgbClr val="D9776A"/>
                </a:solidFill>
                <a:latin typeface="Arial" pitchFamily="34" charset="0"/>
                <a:ea typeface="Arial" pitchFamily="34" charset="-122"/>
                <a:cs typeface="Arial" pitchFamily="34" charset="-120"/>
              </a:rPr>
              <a:t>Thank you</a:t>
            </a:r>
            <a:endParaRPr lang="en-US" sz="2000" dirty="0"/>
          </a:p>
        </p:txBody>
      </p:sp>
      <p:sp>
        <p:nvSpPr>
          <p:cNvPr id="12" name="Text 8"/>
          <p:cNvSpPr/>
          <p:nvPr/>
        </p:nvSpPr>
        <p:spPr>
          <a:xfrm>
            <a:off x="621792" y="6437376"/>
            <a:ext cx="1828800"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9ABDB5"/>
                </a:solidFill>
                <a:latin typeface="Arial" pitchFamily="34" charset="0"/>
                <a:ea typeface="Arial" pitchFamily="34" charset="-122"/>
                <a:cs typeface="Arial" pitchFamily="34" charset="-120"/>
              </a:rPr>
              <a:t>MINDMATE</a:t>
            </a:r>
            <a:endParaRPr lang="en-US" sz="800" dirty="0"/>
          </a:p>
        </p:txBody>
      </p:sp>
      <p:sp>
        <p:nvSpPr>
          <p:cNvPr id="25" name="Slide Number Placeholder 0"/>
          <p:cNvSpPr>
            <a:spLocks noGrp="1"/>
          </p:cNvSpPr>
          <p:nvPr>
            <p:ph type="sldNum" sz="quarter" idx="4294967295"/>
          </p:nvPr>
        </p:nvSpPr>
        <p:spPr>
          <a:xfrm>
            <a:off x="11475720" y="6473952"/>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78908A"/>
                </a:solidFill>
                <a:latin typeface="Arial"/>
                <a:ea typeface="Arial"/>
                <a:cs typeface="Arial"/>
              </a:defRPr>
            </a:lvl1pPr>
          </a:lstStyle>
          <a:p>
            <a:pPr algn="l"/>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MindMate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MindMate — One small step toward a better day</dc:title>
  <dc:subject>MindMate competition presentation</dc:subject>
  <dc:creator>MindMate team</dc:creator>
  <cp:lastModifiedBy>MindMate team</cp:lastModifiedBy>
  <cp:revision>1</cp:revision>
  <dcterms:created xsi:type="dcterms:W3CDTF">2026-09-06T10:33:57Z</dcterms:created>
  <dcterms:modified xsi:type="dcterms:W3CDTF">2026-09-06T10:33:57Z</dcterms:modified>
</cp:coreProperties>
</file>
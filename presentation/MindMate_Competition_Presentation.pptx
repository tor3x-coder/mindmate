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MindMate as a calm, private wellbeing companion for young people. The product helps users check in, take one small step, reflect, and find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the gap between needing help and knowing what to do next. The headline statistic must have a verified source before final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MindMate helps users check in, reflect, act, and connect. It is a guided pathway rather than a collection of unrelated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MindMate supports reflection and practical next steps, but does not replace professional care. When risk appears, it points the user to Emergency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MindMate’s integrated journey without making unsupported claims about named competitors.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product readiness in plain language: an installable Android build, a live Web release, and tested core journeys.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freemium unlock is simulated for the demo; no real payment is processed. The ₦10,000 annual price and 500 paid users are an illustrative future scenario, not current revenue. The team should validate the price, conversion rate, and paid features before presenting them as a final business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full revenue calculation: shares are ₦500 times 100, sponsorship is one sponsor at ₦200,000, and confectioneries are ₦100 times 500. The total is ₦300,000. Treat it as projected until the records are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total is ₦217,000. If revenue is projected at ₦300,000, the projected surplus is ₦83,000. Do not call this actual profit unless the revenue and expenses are verified. The figures should be checked against the team’s records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product promise and invite the judges to try the live Web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DMATE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0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0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6A"/>
          </a:solidFill>
          <a:ln w="12700">
            <a:solidFill>
              <a:srgbClr val="D977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B3238"/>
          </a:solidFill>
          <a:ln w="12700">
            <a:solidFill>
              <a:srgbClr val="1B3238">
                <a:alpha val="0"/>
              </a:srgbClr>
            </a:solidFill>
            <a:prstDash val="solid"/>
          </a:ln>
        </p:spPr>
      </p:sp>
      <p:pic>
        <p:nvPicPr>
          <p:cNvPr id="4" name="Image 0" descr="/home/user/mindmate/logos/logo_b_icon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950976"/>
            <a:ext cx="301752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713232"/>
            <a:ext cx="1920240" cy="301752"/>
          </a:xfrm>
          <a:prstGeom prst="roundRect">
            <a:avLst>
              <a:gd name="adj" fmla="val 24242"/>
            </a:avLst>
          </a:prstGeom>
          <a:solidFill>
            <a:srgbClr val="2E7D73"/>
          </a:solidFill>
          <a:ln w="12700">
            <a:solidFill>
              <a:srgbClr val="2E7D7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72237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150876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13232" y="2286000"/>
            <a:ext cx="6858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E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small step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F4E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 a better day.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731520" y="37673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2E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calm, private wellbeing companion for young people.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473659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A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→ TAKE ONE SMALL STEP → REFLECT → FIND SUPPORT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5852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team mindmate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" y="64373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9A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0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people need help before they know where to start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150 million people in Africa — including about 105 million in Nigeria — are reported to face mental-health challenges. Verify this statistic before submission.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3401568" cy="2944368"/>
          </a:xfrm>
          <a:prstGeom prst="roundRect">
            <a:avLst>
              <a:gd name="adj" fmla="val 2484"/>
            </a:avLst>
          </a:prstGeom>
          <a:solidFill>
            <a:srgbClr val="DDEEE9"/>
          </a:solidFill>
          <a:ln w="12700">
            <a:solidFill>
              <a:srgbClr val="DDEEE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5856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6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NAME 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77824" y="2743200"/>
            <a:ext cx="296265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may feel bad without knowing what is affecting them.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46177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awareness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25696" y="2057400"/>
            <a:ext cx="3401568" cy="2944368"/>
          </a:xfrm>
          <a:prstGeom prst="roundRect">
            <a:avLst>
              <a:gd name="adj" fmla="val 2484"/>
            </a:avLst>
          </a:prstGeom>
          <a:solidFill>
            <a:srgbClr val="F4E7D4"/>
          </a:solidFill>
          <a:ln w="12700">
            <a:solidFill>
              <a:srgbClr val="F4E7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25856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6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KNOW WHAT TO DO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5152" y="2743200"/>
            <a:ext cx="296265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options can make the first step harder.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46177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one small move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93024" y="2057400"/>
            <a:ext cx="3401568" cy="2944368"/>
          </a:xfrm>
          <a:prstGeom prst="roundRect">
            <a:avLst>
              <a:gd name="adj" fmla="val 2484"/>
            </a:avLst>
          </a:prstGeom>
          <a:solidFill>
            <a:srgbClr val="D9776A"/>
          </a:solidFill>
          <a:ln w="12700">
            <a:solidFill>
              <a:srgbClr val="D9776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25856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60" kern="0" dirty="0">
                <a:solidFill>
                  <a:srgbClr val="78A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FIND SUPPORT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0" y="2743200"/>
            <a:ext cx="296265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self-guided help is not enough, the right person can be hard to find.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6177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E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where to go next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97280" y="5532120"/>
            <a:ext cx="10012680" cy="429768"/>
          </a:xfrm>
          <a:prstGeom prst="roundRect">
            <a:avLst>
              <a:gd name="adj" fmla="val 17021"/>
            </a:avLst>
          </a:prstGeom>
          <a:solidFill>
            <a:srgbClr val="12232B"/>
          </a:solidFill>
          <a:ln w="12700">
            <a:solidFill>
              <a:srgbClr val="12232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5632704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 closes the gap between “I need help” and “What do I do next?”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64373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78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0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difficult moment to one next step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 helps users check in, reflect, act, and connect.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DDEEE9"/>
          </a:solidFill>
          <a:ln w="12700">
            <a:solidFill>
              <a:srgbClr val="DDEEE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12848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6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77824" y="2697480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what is happening before deciding what to do.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3182112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awareness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72784" y="201168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4E7D4"/>
          </a:solidFill>
          <a:ln w="12700">
            <a:solidFill>
              <a:srgbClr val="F4E7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212848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6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2697480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small action. If it does not help, try another.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182112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3895344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DDEEE9"/>
          </a:solidFill>
          <a:ln w="12700">
            <a:solidFill>
              <a:srgbClr val="DDEEE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4096512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6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7824" y="4581144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guided conversation without pretending to be a clinician.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7824" y="5065776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it through safely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2784" y="3895344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12232B"/>
          </a:solidFill>
          <a:ln w="12700">
            <a:solidFill>
              <a:srgbClr val="12232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096512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60" kern="0" dirty="0">
                <a:solidFill>
                  <a:srgbClr val="78A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4581144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trusted, professional, or emergency help when needed.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5065776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E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where to go next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64373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78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0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BY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 support, with clear boundaries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 supports the user without pretending to replace human care.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3401568" cy="3310128"/>
          </a:xfrm>
          <a:prstGeom prst="roundRect">
            <a:avLst>
              <a:gd name="adj" fmla="val 2210"/>
            </a:avLst>
          </a:prstGeom>
          <a:solidFill>
            <a:srgbClr val="DDEEE9"/>
          </a:solidFill>
          <a:ln w="12700">
            <a:solidFill>
              <a:srgbClr val="DDEEE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5856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6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SUPPORT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77824" y="2743200"/>
            <a:ext cx="296265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 listens, reflects what the user shares, and offers one practical next step.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498348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first. Then guide.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25696" y="2057400"/>
            <a:ext cx="3401568" cy="3310128"/>
          </a:xfrm>
          <a:prstGeom prst="roundRect">
            <a:avLst>
              <a:gd name="adj" fmla="val 2210"/>
            </a:avLst>
          </a:prstGeom>
          <a:solidFill>
            <a:srgbClr val="F4E7D4"/>
          </a:solidFill>
          <a:ln w="12700">
            <a:solidFill>
              <a:srgbClr val="F4E7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25856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6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RISK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5152" y="2743200"/>
            <a:ext cx="296265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urgent help may be needed, MindMate points the user toward Emergency Support.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498348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route to help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93024" y="2057400"/>
            <a:ext cx="3401568" cy="3310128"/>
          </a:xfrm>
          <a:prstGeom prst="roundRect">
            <a:avLst>
              <a:gd name="adj" fmla="val 2210"/>
            </a:avLst>
          </a:prstGeom>
          <a:solidFill>
            <a:srgbClr val="D9776A"/>
          </a:solidFill>
          <a:ln w="12700">
            <a:solidFill>
              <a:srgbClr val="D9776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25856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60" kern="0" dirty="0">
                <a:solidFill>
                  <a:srgbClr val="78A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LIMITS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0" y="2743200"/>
            <a:ext cx="296265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 does not diagnose, replace professional care, or act outside the user’s control.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98348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E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limits. User control.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03120" y="5632704"/>
            <a:ext cx="8001000" cy="384048"/>
          </a:xfrm>
          <a:prstGeom prst="roundRect">
            <a:avLst>
              <a:gd name="adj" fmla="val 19048"/>
            </a:avLst>
          </a:prstGeom>
          <a:solidFill>
            <a:srgbClr val="12232B"/>
          </a:solidFill>
          <a:ln w="12700">
            <a:solidFill>
              <a:srgbClr val="12232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04288" y="571500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Supportive by design. Honest about its limits.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64373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78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0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 brings the support journey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connects the check-in, the next step, the conversation, and the route to human help.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1417320" cy="987552"/>
          </a:xfrm>
          <a:prstGeom prst="roundRect">
            <a:avLst>
              <a:gd name="adj" fmla="val 7407"/>
            </a:avLst>
          </a:prstGeom>
          <a:solidFill>
            <a:srgbClr val="12232B"/>
          </a:solidFill>
          <a:ln w="12700">
            <a:solidFill>
              <a:srgbClr val="12232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A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67712" y="1993392"/>
            <a:ext cx="2953512" cy="987552"/>
          </a:xfrm>
          <a:prstGeom prst="roundRect">
            <a:avLst>
              <a:gd name="adj" fmla="val 7407"/>
            </a:avLst>
          </a:prstGeom>
          <a:solidFill>
            <a:srgbClr val="F4E7D4"/>
          </a:solidFill>
          <a:ln w="12700">
            <a:solidFill>
              <a:srgbClr val="F4E7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21122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APPROACHES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87168" y="235915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mood score may not explain what to do next.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04104" y="1993392"/>
            <a:ext cx="3346704" cy="987552"/>
          </a:xfrm>
          <a:prstGeom prst="roundRect">
            <a:avLst>
              <a:gd name="adj" fmla="val 7407"/>
            </a:avLst>
          </a:prstGeom>
          <a:solidFill>
            <a:srgbClr val="DDEEE9"/>
          </a:solidFill>
          <a:ln w="12700">
            <a:solidFill>
              <a:srgbClr val="DDEEE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1848" y="21122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41848" y="235915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the check-in into a useful starting point.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0" y="1993392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D9776A"/>
          </a:solidFill>
          <a:ln w="12700">
            <a:solidFill>
              <a:srgbClr val="D9776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0576" y="226771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→ know what to try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227832"/>
            <a:ext cx="1417320" cy="987552"/>
          </a:xfrm>
          <a:prstGeom prst="roundRect">
            <a:avLst>
              <a:gd name="adj" fmla="val 7407"/>
            </a:avLst>
          </a:prstGeom>
          <a:solidFill>
            <a:srgbClr val="12232B"/>
          </a:solidFill>
          <a:ln w="12700">
            <a:solidFill>
              <a:srgbClr val="12232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290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A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67712" y="3227832"/>
            <a:ext cx="2953512" cy="987552"/>
          </a:xfrm>
          <a:prstGeom prst="roundRect">
            <a:avLst>
              <a:gd name="adj" fmla="val 7407"/>
            </a:avLst>
          </a:prstGeom>
          <a:solidFill>
            <a:srgbClr val="F4E7D4"/>
          </a:solidFill>
          <a:ln w="12700">
            <a:solidFill>
              <a:srgbClr val="F4E7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33467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APPROACHES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87168" y="359359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long list of exercises can create more choice, not more clarity.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04104" y="3227832"/>
            <a:ext cx="3346704" cy="987552"/>
          </a:xfrm>
          <a:prstGeom prst="roundRect">
            <a:avLst>
              <a:gd name="adj" fmla="val 7407"/>
            </a:avLst>
          </a:prstGeom>
          <a:solidFill>
            <a:srgbClr val="DDEEE9"/>
          </a:solidFill>
          <a:ln w="12700">
            <a:solidFill>
              <a:srgbClr val="DDEEE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41848" y="334670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41848" y="359359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 one manageable action at a time.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61120" y="3227832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D9776A"/>
          </a:solidFill>
          <a:ln w="12700">
            <a:solidFill>
              <a:srgbClr val="D9776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0576" y="350215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choice → clearer action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4462272"/>
            <a:ext cx="1417320" cy="987552"/>
          </a:xfrm>
          <a:prstGeom prst="roundRect">
            <a:avLst>
              <a:gd name="adj" fmla="val 7407"/>
            </a:avLst>
          </a:prstGeom>
          <a:solidFill>
            <a:srgbClr val="12232B"/>
          </a:solidFill>
          <a:ln w="12700">
            <a:solidFill>
              <a:srgbClr val="12232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66344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A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67712" y="4462272"/>
            <a:ext cx="2953512" cy="987552"/>
          </a:xfrm>
          <a:prstGeom prst="roundRect">
            <a:avLst>
              <a:gd name="adj" fmla="val 7407"/>
            </a:avLst>
          </a:prstGeom>
          <a:solidFill>
            <a:srgbClr val="F4E7D4"/>
          </a:solidFill>
          <a:ln w="12700">
            <a:solidFill>
              <a:srgbClr val="F4E7D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45811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APPROACHES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87168" y="482803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Self-guided tools can leave the user alone when more help is needed.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04104" y="4462272"/>
            <a:ext cx="3346704" cy="987552"/>
          </a:xfrm>
          <a:prstGeom prst="roundRect">
            <a:avLst>
              <a:gd name="adj" fmla="val 7407"/>
            </a:avLst>
          </a:prstGeom>
          <a:solidFill>
            <a:srgbClr val="DDEEE9"/>
          </a:solidFill>
          <a:ln w="12700">
            <a:solidFill>
              <a:srgbClr val="DDEEE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41848" y="458114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41848" y="482803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trusted and emergency support visible.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61120" y="4462272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D9776A"/>
          </a:solidFill>
          <a:ln w="12700">
            <a:solidFill>
              <a:srgbClr val="D9776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0576" y="47365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Self-guided → human support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965960" y="5742432"/>
            <a:ext cx="8275320" cy="365760"/>
          </a:xfrm>
          <a:prstGeom prst="roundRect">
            <a:avLst>
              <a:gd name="adj" fmla="val 20000"/>
            </a:avLst>
          </a:prstGeom>
          <a:solidFill>
            <a:srgbClr val="12232B"/>
          </a:solidFill>
          <a:ln w="12700">
            <a:solidFill>
              <a:srgbClr val="12232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76272" y="5815584"/>
            <a:ext cx="78455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 is built around the journey, not just one feature.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" y="64373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78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0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READINESS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tested, and ready to show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 is running on Android and Web, with the main user journeys checked from check-in through support.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084832"/>
            <a:ext cx="3401568" cy="3200400"/>
          </a:xfrm>
          <a:prstGeom prst="roundRect">
            <a:avLst>
              <a:gd name="adj" fmla="val 2286"/>
            </a:avLst>
          </a:prstGeom>
          <a:solidFill>
            <a:srgbClr val="D9776A"/>
          </a:solidFill>
          <a:ln w="12700">
            <a:solidFill>
              <a:srgbClr val="D9776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8600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60" kern="0" dirty="0">
                <a:solidFill>
                  <a:srgbClr val="78A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RELEASE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77824" y="2770632"/>
            <a:ext cx="29626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installable Android build is ready for demonstration and use.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4901184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E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install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25696" y="2084832"/>
            <a:ext cx="3401568" cy="3200400"/>
          </a:xfrm>
          <a:prstGeom prst="roundRect">
            <a:avLst>
              <a:gd name="adj" fmla="val 2286"/>
            </a:avLst>
          </a:prstGeom>
          <a:solidFill>
            <a:srgbClr val="2E7D73"/>
          </a:solidFill>
          <a:ln w="12700">
            <a:solidFill>
              <a:srgbClr val="2E7D7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28600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60" kern="0" dirty="0">
                <a:solidFill>
                  <a:srgbClr val="78A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RELEASE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5152" y="2770632"/>
            <a:ext cx="29626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Web version makes MindMate easy to access and share.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4901184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E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try and share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93024" y="2084832"/>
            <a:ext cx="3401568" cy="3200400"/>
          </a:xfrm>
          <a:prstGeom prst="roundRect">
            <a:avLst>
              <a:gd name="adj" fmla="val 2286"/>
            </a:avLst>
          </a:prstGeom>
          <a:solidFill>
            <a:srgbClr val="78AFA2"/>
          </a:solidFill>
          <a:ln w="12700">
            <a:solidFill>
              <a:srgbClr val="78AFA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28600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6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JOURNEYS CHECKED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0" y="2770632"/>
            <a:ext cx="29626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features, safety behaviour, and layouts have been tested.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901184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tested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325880" y="5596128"/>
            <a:ext cx="9555480" cy="411480"/>
          </a:xfrm>
          <a:prstGeom prst="roundRect">
            <a:avLst>
              <a:gd name="adj" fmla="val 17778"/>
            </a:avLst>
          </a:prstGeom>
          <a:solidFill>
            <a:srgbClr val="F4E7D4"/>
          </a:solidFill>
          <a:ln w="12700">
            <a:solidFill>
              <a:srgbClr val="F4E7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5687568"/>
            <a:ext cx="9098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point: MindMate is more than an idea — it is ready to demonstrate.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64373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78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0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core, with paid features later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 can stay accessible while a premium plan supports future sustainability.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029968"/>
            <a:ext cx="3401568" cy="3584448"/>
          </a:xfrm>
          <a:prstGeom prst="roundRect">
            <a:avLst>
              <a:gd name="adj" fmla="val 2151"/>
            </a:avLst>
          </a:prstGeom>
          <a:solidFill>
            <a:srgbClr val="DDEEE9"/>
          </a:solidFill>
          <a:ln w="12700">
            <a:solidFill>
              <a:srgbClr val="DDEEE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ACCESS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688336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MINDMATE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364992"/>
            <a:ext cx="2816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8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Check-ins + reflection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8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Basic next-step guidance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8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Journaling + wellbeing tools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8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 routes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4114800" y="35295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25696" y="2029968"/>
            <a:ext cx="3401568" cy="3584448"/>
          </a:xfrm>
          <a:prstGeom prst="roundRect">
            <a:avLst>
              <a:gd name="adj" fmla="val 2151"/>
            </a:avLst>
          </a:prstGeom>
          <a:solidFill>
            <a:srgbClr val="F4E7D4"/>
          </a:solidFill>
          <a:ln w="12700">
            <a:solidFill>
              <a:srgbClr val="F4E7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33172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 PLUS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81728" y="2688336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FEATURES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81728" y="3364992"/>
            <a:ext cx="2816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8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Guided routines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8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 tools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8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Additional wellbeing content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8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Future features to validate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7882128" y="35295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93024" y="2029968"/>
            <a:ext cx="3401568" cy="3584448"/>
          </a:xfrm>
          <a:prstGeom prst="roundRect">
            <a:avLst>
              <a:gd name="adj" fmla="val 2151"/>
            </a:avLst>
          </a:prstGeom>
          <a:solidFill>
            <a:srgbClr val="12232B"/>
          </a:solidFill>
          <a:ln w="12700">
            <a:solidFill>
              <a:srgbClr val="12232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233172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8A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SCENARIO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49056" y="2688336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INCOME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49056" y="3364992"/>
            <a:ext cx="2816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D2E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₦10,000 per year × 500 paid users</a:t>
            </a:r>
            <a:endParaRPr lang="en-US" sz="1230" dirty="0"/>
          </a:p>
          <a:p>
            <a:pPr algn="l" indent="0" marL="0">
              <a:buNone/>
            </a:pP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D2E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₦5,000,000 projected annual income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1143000" y="5760720"/>
            <a:ext cx="9921240" cy="365760"/>
          </a:xfrm>
          <a:prstGeom prst="roundRect">
            <a:avLst>
              <a:gd name="adj" fmla="val 20000"/>
            </a:avLst>
          </a:prstGeom>
          <a:solidFill>
            <a:srgbClr val="D9776A"/>
          </a:solidFill>
          <a:ln w="12700">
            <a:solidFill>
              <a:srgbClr val="D9776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5024" y="5843016"/>
            <a:ext cx="9528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UNLOCK ONLY — NO REAL PAYMENT IS PROCESSED  ·  FIGURE IS A FUTURE PROJECTION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64373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78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0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FINANCES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projected revenue comes from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shown for the competition budget. Verify the records before submission.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2423160" cy="530352"/>
          </a:xfrm>
          <a:prstGeom prst="rect">
            <a:avLst/>
          </a:prstGeom>
          <a:solidFill>
            <a:srgbClr val="5376C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5681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81528" y="1901952"/>
            <a:ext cx="2011680" cy="530352"/>
          </a:xfrm>
          <a:prstGeom prst="rect">
            <a:avLst/>
          </a:prstGeom>
          <a:solidFill>
            <a:srgbClr val="5376C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2968" y="195681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93208" y="1901952"/>
            <a:ext cx="3154680" cy="530352"/>
          </a:xfrm>
          <a:prstGeom prst="rect">
            <a:avLst/>
          </a:prstGeom>
          <a:solidFill>
            <a:srgbClr val="5376C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84648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47888" y="1901952"/>
            <a:ext cx="2240280" cy="530352"/>
          </a:xfrm>
          <a:prstGeom prst="rect">
            <a:avLst/>
          </a:prstGeom>
          <a:solidFill>
            <a:srgbClr val="5376C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195681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(₦)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2432304"/>
            <a:ext cx="2423160" cy="640080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48716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81528" y="2432304"/>
            <a:ext cx="2011680" cy="640080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24871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₦500 each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93208" y="2432304"/>
            <a:ext cx="3154680" cy="640080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4648" y="2487168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₦500 × 100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47888" y="2432304"/>
            <a:ext cx="2240280" cy="640080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248716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3072384"/>
            <a:ext cx="2423160" cy="640080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12724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081528" y="3072384"/>
            <a:ext cx="2011680" cy="640080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31272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sponsor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93208" y="3072384"/>
            <a:ext cx="3154680" cy="640080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4648" y="3127248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 ₦200,000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47888" y="3072384"/>
            <a:ext cx="2240280" cy="640080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9328" y="312724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3712464"/>
            <a:ext cx="2423160" cy="640080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76732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of confectioneries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081528" y="3712464"/>
            <a:ext cx="2011680" cy="640080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72968" y="376732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₦100 each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93208" y="3712464"/>
            <a:ext cx="3154680" cy="640080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84648" y="3767328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₦100 × 500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247888" y="3712464"/>
            <a:ext cx="2240280" cy="640080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9328" y="376732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58368" y="4352544"/>
            <a:ext cx="2423160" cy="640080"/>
          </a:xfrm>
          <a:prstGeom prst="rect">
            <a:avLst/>
          </a:prstGeom>
          <a:solidFill>
            <a:srgbClr val="D6DC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440740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81528" y="4352544"/>
            <a:ext cx="2011680" cy="640080"/>
          </a:xfrm>
          <a:prstGeom prst="rect">
            <a:avLst/>
          </a:prstGeom>
          <a:solidFill>
            <a:srgbClr val="D6DC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72968" y="44074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93208" y="4352544"/>
            <a:ext cx="3154680" cy="640080"/>
          </a:xfrm>
          <a:prstGeom prst="rect">
            <a:avLst/>
          </a:prstGeom>
          <a:solidFill>
            <a:srgbClr val="D6DC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84648" y="4407408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₦50,000 + ₦200,000 + ₦50,000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247888" y="4352544"/>
            <a:ext cx="2240280" cy="640080"/>
          </a:xfrm>
          <a:prstGeom prst="rect">
            <a:avLst/>
          </a:prstGeom>
          <a:solidFill>
            <a:srgbClr val="D6DC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39328" y="440740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965960" y="5230368"/>
            <a:ext cx="8275320" cy="475488"/>
          </a:xfrm>
          <a:prstGeom prst="roundRect">
            <a:avLst>
              <a:gd name="adj" fmla="val 15385"/>
            </a:avLst>
          </a:prstGeom>
          <a:solidFill>
            <a:srgbClr val="12232B"/>
          </a:solidFill>
          <a:ln w="12700">
            <a:solidFill>
              <a:srgbClr val="12232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76272" y="5349240"/>
            <a:ext cx="7845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TOTAL REVENUE:  ₦300,000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474720" y="5870448"/>
            <a:ext cx="4041648" cy="301752"/>
          </a:xfrm>
          <a:prstGeom prst="roundRect">
            <a:avLst>
              <a:gd name="adj" fmla="val 24242"/>
            </a:avLst>
          </a:prstGeom>
          <a:solidFill>
            <a:srgbClr val="D9776A"/>
          </a:solidFill>
          <a:ln w="12700">
            <a:solidFill>
              <a:srgbClr val="D9776A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47872" y="587959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— VERIFY FIGURES BEFORE SUBMISSION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1792" y="64373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78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0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EXPENDITURE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projected funds are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cost breakdown makes the financial story easier for judges to follow.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4892040" cy="475488"/>
          </a:xfrm>
          <a:prstGeom prst="rect">
            <a:avLst/>
          </a:prstGeom>
          <a:solidFill>
            <a:srgbClr val="5376C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8366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EXPENDITURE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50408" y="1828800"/>
            <a:ext cx="2194560" cy="475488"/>
          </a:xfrm>
          <a:prstGeom prst="rect">
            <a:avLst/>
          </a:prstGeom>
          <a:solidFill>
            <a:srgbClr val="5376C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41848" y="18836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(₦)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304288"/>
            <a:ext cx="4892040" cy="420624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5915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development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50408" y="2304288"/>
            <a:ext cx="2194560" cy="420624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23591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2724912"/>
            <a:ext cx="4892040" cy="420624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77977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/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50408" y="2724912"/>
            <a:ext cx="2194560" cy="420624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41848" y="27797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3145536"/>
            <a:ext cx="4892040" cy="420624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20040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50408" y="3145536"/>
            <a:ext cx="2194560" cy="420624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41848" y="32004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3566160"/>
            <a:ext cx="4892040" cy="420624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62102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50408" y="3566160"/>
            <a:ext cx="2194560" cy="420624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41848" y="36210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3986784"/>
            <a:ext cx="4892040" cy="420624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0416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50408" y="3986784"/>
            <a:ext cx="2194560" cy="420624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41848" y="40416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" y="4407408"/>
            <a:ext cx="4892040" cy="420624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46227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Stationery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50408" y="4407408"/>
            <a:ext cx="2194560" cy="420624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41848" y="44622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" y="4828032"/>
            <a:ext cx="4892040" cy="420624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488289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Printing paper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50408" y="4828032"/>
            <a:ext cx="2194560" cy="420624"/>
          </a:xfrm>
          <a:prstGeom prst="rect">
            <a:avLst/>
          </a:prstGeom>
          <a:solidFill>
            <a:srgbClr val="EEF1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41848" y="48828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8368" y="5248656"/>
            <a:ext cx="4892040" cy="420624"/>
          </a:xfrm>
          <a:prstGeom prst="rect">
            <a:avLst/>
          </a:prstGeom>
          <a:solidFill>
            <a:srgbClr val="D6DC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530352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EXPENSES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50408" y="5248656"/>
            <a:ext cx="2194560" cy="420624"/>
          </a:xfrm>
          <a:prstGeom prst="rect">
            <a:avLst/>
          </a:prstGeom>
          <a:solidFill>
            <a:srgbClr val="D6DC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41848" y="53035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217,000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92440" y="1828800"/>
            <a:ext cx="3429000" cy="3419856"/>
          </a:xfrm>
          <a:prstGeom prst="roundRect">
            <a:avLst>
              <a:gd name="adj" fmla="val 2139"/>
            </a:avLst>
          </a:prstGeom>
          <a:solidFill>
            <a:srgbClr val="12232B"/>
          </a:solidFill>
          <a:ln w="12700">
            <a:solidFill>
              <a:srgbClr val="12232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30768" y="21762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78A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SUMMARY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30768" y="27614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646920" y="27614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E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₦300,000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430768" y="3145536"/>
            <a:ext cx="2724912" cy="0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30768" y="34015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expenses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646920" y="340156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E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₦217,000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430768" y="3785616"/>
            <a:ext cx="2724912" cy="0"/>
          </a:xfrm>
          <a:prstGeom prst="line">
            <a:avLst/>
          </a:prstGeom>
          <a:noFill/>
          <a:ln w="12700">
            <a:solidFill>
              <a:srgbClr val="2E7D7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30768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profit / surplus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646920" y="40690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7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₦83,000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8430768" y="4718304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E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₦300,000 − ₦217,000 = ₦83,000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11880" y="5742432"/>
            <a:ext cx="2788920" cy="301752"/>
          </a:xfrm>
          <a:prstGeom prst="roundRect">
            <a:avLst>
              <a:gd name="adj" fmla="val 24242"/>
            </a:avLst>
          </a:prstGeom>
          <a:solidFill>
            <a:srgbClr val="D9776A"/>
          </a:solidFill>
          <a:ln w="12700">
            <a:solidFill>
              <a:srgbClr val="D9776A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85032" y="575157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/ PROJECTED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1792" y="64373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78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0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6A"/>
          </a:solidFill>
          <a:ln w="12700">
            <a:solidFill>
              <a:srgbClr val="D9776A">
                <a:alpha val="0"/>
              </a:srgbClr>
            </a:solidFill>
            <a:prstDash val="solid"/>
          </a:ln>
        </p:spPr>
      </p:sp>
      <p:pic>
        <p:nvPicPr>
          <p:cNvPr id="3" name="Image 0" descr="/home/user/mindmate/logos/logo_b_icon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08" y="603504"/>
            <a:ext cx="2395728" cy="2395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804672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31520" y="173736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E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next safe step feel possible.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49808" y="277063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A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→ TAKE ONE SMALL STEP → REFLECT → CONNECT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9808" y="3730752"/>
            <a:ext cx="5989320" cy="1078992"/>
          </a:xfrm>
          <a:prstGeom prst="roundRect">
            <a:avLst>
              <a:gd name="adj" fmla="val 6780"/>
            </a:avLst>
          </a:prstGeom>
          <a:solidFill>
            <a:srgbClr val="1B3238"/>
          </a:solidFill>
          <a:ln w="12700">
            <a:solidFill>
              <a:srgbClr val="1B323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4041648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https://mindmate-app-fcf2d.web.app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24128" y="4462272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D2E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QR code to try the live Web release.</a:t>
            </a:r>
            <a:endParaRPr lang="en-US" sz="1100" dirty="0"/>
          </a:p>
        </p:txBody>
      </p:sp>
      <p:pic>
        <p:nvPicPr>
          <p:cNvPr id="10" name="Image 1" descr="/home/user/mindmate/docs/mindmate-web-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3246120"/>
            <a:ext cx="3291840" cy="3291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5943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7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21792" y="64373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9A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0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MindMate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MindMate competition presentation</dc:title>
  <dc:subject>MindMate competition presentation</dc:subject>
  <dc:creator>MindMate team</dc:creator>
  <cp:lastModifiedBy>MindMate team</cp:lastModifiedBy>
  <cp:revision>1</cp:revision>
  <dcterms:created xsi:type="dcterms:W3CDTF">2026-09-08T23:07:04Z</dcterms:created>
  <dcterms:modified xsi:type="dcterms:W3CDTF">2026-09-08T23:07:04Z</dcterms:modified>
</cp:coreProperties>
</file>
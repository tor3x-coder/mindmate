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people do not need a huge solution in the first difficult moment. They need a safe, low-pressure first step. MindMate helps a young person check in, take one practical action, reflect, and reach trusted support when they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solving three connected problems: emotional awareness, access to low-barrier tools, and isolation. The gap we care about is the moment between knowing “I need support” and knowing what safe next step to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actual solution is a connected pathway. Check-ins and reflection build awareness, practices make action possible, Chat helps someone talk it through, and support routes keep the person from being left alone when more help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where the real screenshots should go. Show the actual journey: Home check-in, a Learn or practice step, then Chat or support. The three portrait frames are intentionally large enough for a phone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should be understandable to a non-technical audience. MindMate can acknowledge, offer a small step, and show a trusted support route. It cannot diagnose, prescribe, pretend to be a therapist, or autonomously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removed technical words such as scoped and bounded from the slide. The audience only needs to understand the result: conversations stay on the device, the user controls deletion, and storage is intentionally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lead with Flutter or Gradle. Explain it as: a signed Android release, a live Web version, and the core journeys verified manually and automatically. If a judge asks for technical evidence, then mention 53 out of 53 automated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not invent impact numbers before a proper user study. Instead, show the intended change in a human way: better emotional awareness, a practical action, and a clearer connection to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there is no current revenue claim. The responsible path is to fund validation first, then consider optional paid extensions only after users, safety reviewers, and platform rules support the idea. We will never use ads or sell private chats as the business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 the names before presenting. Every person should know the fallback: if Web network access fails, use the signed APK and show bundled Learn and practice content. Do not claim AI Chat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MindMate does not promise to solve every difficult day. It helps someone begin: with one small step, an honest boundary, and a clearer path to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INDMATE">
    <p:bg>
      <p:bgPr>
        <a:solidFill>
          <a:srgbClr val="F7F4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sp>
        <p:nvSpPr>
          <p:cNvPr id="3" name="Shape 1"/>
          <p:cNvSpPr/>
          <p:nvPr/>
        </p:nvSpPr>
        <p:spPr>
          <a:xfrm>
            <a:off x="8046720" y="0"/>
            <a:ext cx="4144975" cy="6858000"/>
          </a:xfrm>
          <a:prstGeom prst="rect">
            <a:avLst/>
          </a:prstGeom>
          <a:solidFill>
            <a:srgbClr val="1B3238"/>
          </a:solidFill>
          <a:ln w="12700">
            <a:solidFill>
              <a:srgbClr val="1B3238">
                <a:alpha val="0"/>
              </a:srgbClr>
            </a:solidFill>
            <a:prstDash val="solid"/>
          </a:ln>
        </p:spPr>
      </p:sp>
      <p:pic>
        <p:nvPicPr>
          <p:cNvPr id="4" name="Image 0" descr="/home/user/mindmate/logos/logo_b_icon_512.png">    </p:cNvPr>
          <p:cNvPicPr>
            <a:picLocks noChangeAspect="1"/>
          </p:cNvPicPr>
          <p:nvPr/>
        </p:nvPicPr>
        <p:blipFill>
          <a:blip r:embed="rId1"/>
          <a:stretch>
            <a:fillRect/>
          </a:stretch>
        </p:blipFill>
        <p:spPr>
          <a:xfrm>
            <a:off x="8549640" y="950976"/>
            <a:ext cx="3017520" cy="3017520"/>
          </a:xfrm>
          <a:prstGeom prst="rect">
            <a:avLst/>
          </a:prstGeom>
        </p:spPr>
      </p:pic>
      <p:sp>
        <p:nvSpPr>
          <p:cNvPr id="5" name="Shape 2"/>
          <p:cNvSpPr/>
          <p:nvPr/>
        </p:nvSpPr>
        <p:spPr>
          <a:xfrm>
            <a:off x="713232" y="713232"/>
            <a:ext cx="2423160" cy="301752"/>
          </a:xfrm>
          <a:prstGeom prst="roundRect">
            <a:avLst>
              <a:gd name="adj" fmla="val 24242"/>
            </a:avLst>
          </a:prstGeom>
          <a:solidFill>
            <a:srgbClr val="2E7D73"/>
          </a:solidFill>
          <a:ln w="12700">
            <a:solidFill>
              <a:srgbClr val="2E7D73">
                <a:alpha val="0"/>
              </a:srgbClr>
            </a:solidFill>
            <a:prstDash val="solid"/>
          </a:ln>
        </p:spPr>
      </p:sp>
      <p:sp>
        <p:nvSpPr>
          <p:cNvPr id="6" name="Text 3"/>
          <p:cNvSpPr/>
          <p:nvPr/>
        </p:nvSpPr>
        <p:spPr>
          <a:xfrm>
            <a:off x="786384" y="722376"/>
            <a:ext cx="227685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COMPETITION PRESENTATION</a:t>
            </a:r>
            <a:endParaRPr lang="en-US" sz="900" dirty="0"/>
          </a:p>
        </p:txBody>
      </p:sp>
      <p:sp>
        <p:nvSpPr>
          <p:cNvPr id="7" name="Text 4"/>
          <p:cNvSpPr/>
          <p:nvPr/>
        </p:nvSpPr>
        <p:spPr>
          <a:xfrm>
            <a:off x="713232" y="1508760"/>
            <a:ext cx="6675120" cy="65836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MindMate</a:t>
            </a:r>
            <a:endParaRPr lang="en-US" sz="4200" dirty="0"/>
          </a:p>
        </p:txBody>
      </p:sp>
      <p:sp>
        <p:nvSpPr>
          <p:cNvPr id="8" name="Text 5"/>
          <p:cNvSpPr/>
          <p:nvPr/>
        </p:nvSpPr>
        <p:spPr>
          <a:xfrm>
            <a:off x="713232" y="2286000"/>
            <a:ext cx="6858000" cy="1115568"/>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One small step</a:t>
            </a:r>
            <a:endParaRPr lang="en-US" sz="2900" dirty="0"/>
          </a:p>
          <a:p>
            <a:pPr algn="l" indent="0" marL="0">
              <a:buNone/>
            </a:pPr>
            <a:r>
              <a:rPr lang="en-US" sz="2900" b="1" dirty="0">
                <a:solidFill>
                  <a:srgbClr val="F4E7D4"/>
                </a:solidFill>
                <a:latin typeface="Arial" pitchFamily="34" charset="0"/>
                <a:ea typeface="Arial" pitchFamily="34" charset="-122"/>
                <a:cs typeface="Arial" pitchFamily="34" charset="-120"/>
              </a:rPr>
              <a:t>toward a better day.</a:t>
            </a:r>
            <a:endParaRPr lang="en-US" sz="2900" dirty="0"/>
          </a:p>
        </p:txBody>
      </p:sp>
      <p:sp>
        <p:nvSpPr>
          <p:cNvPr id="9" name="Text 6"/>
          <p:cNvSpPr/>
          <p:nvPr/>
        </p:nvSpPr>
        <p:spPr>
          <a:xfrm>
            <a:off x="731520" y="3767328"/>
            <a:ext cx="6126480" cy="365760"/>
          </a:xfrm>
          <a:prstGeom prst="rect">
            <a:avLst/>
          </a:prstGeom>
          <a:noFill/>
          <a:ln/>
        </p:spPr>
        <p:txBody>
          <a:bodyPr wrap="square" lIns="0" tIns="0" rIns="0" bIns="0" rtlCol="0" anchor="ctr">
            <a:normAutofit/>
          </a:bodyPr>
          <a:lstStyle/>
          <a:p>
            <a:pPr algn="l" indent="0" marL="0">
              <a:buNone/>
            </a:pPr>
            <a:r>
              <a:rPr lang="en-US" sz="1600" dirty="0">
                <a:solidFill>
                  <a:srgbClr val="D2E2DE"/>
                </a:solidFill>
                <a:latin typeface="Arial" pitchFamily="34" charset="0"/>
                <a:ea typeface="Arial" pitchFamily="34" charset="-122"/>
                <a:cs typeface="Arial" pitchFamily="34" charset="-120"/>
              </a:rPr>
              <a:t>A calm, private wellbeing companion for young people.</a:t>
            </a:r>
            <a:endParaRPr lang="en-US" sz="1600" dirty="0"/>
          </a:p>
        </p:txBody>
      </p:sp>
      <p:sp>
        <p:nvSpPr>
          <p:cNvPr id="10" name="Text 7"/>
          <p:cNvSpPr/>
          <p:nvPr/>
        </p:nvSpPr>
        <p:spPr>
          <a:xfrm>
            <a:off x="731520" y="4736592"/>
            <a:ext cx="6492240" cy="310896"/>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CHECK IN  →  TAKE ONE SMALL STEP  →  REFLECT  →  FIND SUPPORT</a:t>
            </a:r>
            <a:endParaRPr lang="en-US" sz="1100" dirty="0"/>
          </a:p>
        </p:txBody>
      </p:sp>
      <p:sp>
        <p:nvSpPr>
          <p:cNvPr id="11" name="Text 8"/>
          <p:cNvSpPr/>
          <p:nvPr/>
        </p:nvSpPr>
        <p:spPr>
          <a:xfrm>
            <a:off x="731520" y="5852160"/>
            <a:ext cx="4114800" cy="274320"/>
          </a:xfrm>
          <a:prstGeom prst="rect">
            <a:avLst/>
          </a:prstGeom>
          <a:noFill/>
          <a:ln/>
        </p:spPr>
        <p:txBody>
          <a:bodyPr wrap="square" lIns="0" tIns="0" rIns="0" bIns="0" rtlCol="0" anchor="ctr">
            <a:normAutofit/>
          </a:bodyPr>
          <a:lstStyle/>
          <a:p>
            <a:pPr algn="l" indent="0" marL="0">
              <a:buNone/>
            </a:pPr>
            <a:r>
              <a:rPr lang="en-US" sz="1200" dirty="0">
                <a:solidFill>
                  <a:srgbClr val="FFFFFF"/>
                </a:solidFill>
                <a:latin typeface="Arial" pitchFamily="34" charset="0"/>
                <a:ea typeface="Arial" pitchFamily="34" charset="-122"/>
                <a:cs typeface="Arial" pitchFamily="34" charset="-120"/>
              </a:rPr>
              <a:t>Team: ____________________</a:t>
            </a:r>
            <a:endParaRPr lang="en-US" sz="1200" dirty="0"/>
          </a:p>
        </p:txBody>
      </p:sp>
      <p:sp>
        <p:nvSpPr>
          <p:cNvPr id="12" name="Text 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01 / THE PROBLEM</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Young people can feel stuck before they ever ask for help</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responds to three everyday barriers — before a difficult day becomes a crisis.</a:t>
            </a:r>
            <a:endParaRPr lang="en-US" sz="1300" dirty="0"/>
          </a:p>
        </p:txBody>
      </p:sp>
      <p:sp>
        <p:nvSpPr>
          <p:cNvPr id="5" name="Shape 3"/>
          <p:cNvSpPr/>
          <p:nvPr/>
        </p:nvSpPr>
        <p:spPr>
          <a:xfrm>
            <a:off x="658368" y="2148840"/>
            <a:ext cx="3401568" cy="2971800"/>
          </a:xfrm>
          <a:prstGeom prst="roundRect">
            <a:avLst>
              <a:gd name="adj" fmla="val 2462"/>
            </a:avLst>
          </a:prstGeom>
          <a:solidFill>
            <a:srgbClr val="DDEEE9"/>
          </a:solidFill>
          <a:ln w="12700">
            <a:solidFill>
              <a:srgbClr val="DDEEE9">
                <a:alpha val="0"/>
              </a:srgbClr>
            </a:solidFill>
            <a:prstDash val="solid"/>
          </a:ln>
        </p:spPr>
      </p:sp>
      <p:sp>
        <p:nvSpPr>
          <p:cNvPr id="6" name="Text 4"/>
          <p:cNvSpPr/>
          <p:nvPr/>
        </p:nvSpPr>
        <p:spPr>
          <a:xfrm>
            <a:off x="914400" y="2441448"/>
            <a:ext cx="384048" cy="274320"/>
          </a:xfrm>
          <a:prstGeom prst="rect">
            <a:avLst/>
          </a:prstGeom>
          <a:noFill/>
          <a:ln/>
        </p:spPr>
        <p:txBody>
          <a:bodyPr wrap="square" lIns="0" tIns="0" rIns="0" bIns="0" rtlCol="0" anchor="ctr">
            <a:normAutofit/>
          </a:bodyPr>
          <a:lstStyle/>
          <a:p>
            <a:pPr algn="l" indent="0" marL="0">
              <a:buNone/>
            </a:pPr>
            <a:r>
              <a:rPr lang="en-US" sz="1300" b="1" dirty="0">
                <a:solidFill>
                  <a:srgbClr val="2E7D73"/>
                </a:solidFill>
                <a:latin typeface="Arial" pitchFamily="34" charset="0"/>
                <a:ea typeface="Arial" pitchFamily="34" charset="-122"/>
                <a:cs typeface="Arial" pitchFamily="34" charset="-120"/>
              </a:rPr>
              <a:t>01</a:t>
            </a:r>
            <a:endParaRPr lang="en-US" sz="1300" dirty="0"/>
          </a:p>
        </p:txBody>
      </p:sp>
      <p:sp>
        <p:nvSpPr>
          <p:cNvPr id="7" name="Text 5"/>
          <p:cNvSpPr/>
          <p:nvPr/>
        </p:nvSpPr>
        <p:spPr>
          <a:xfrm>
            <a:off x="914400" y="2926080"/>
            <a:ext cx="2834640" cy="566928"/>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DIFFICULTY WITH EMOTIONAL AWARENESS</a:t>
            </a:r>
            <a:endParaRPr lang="en-US" sz="1600" dirty="0"/>
          </a:p>
        </p:txBody>
      </p:sp>
      <p:sp>
        <p:nvSpPr>
          <p:cNvPr id="8" name="Text 6"/>
          <p:cNvSpPr/>
          <p:nvPr/>
        </p:nvSpPr>
        <p:spPr>
          <a:xfrm>
            <a:off x="914400" y="3767328"/>
            <a:ext cx="2816352" cy="841248"/>
          </a:xfrm>
          <a:prstGeom prst="rect">
            <a:avLst/>
          </a:prstGeom>
          <a:noFill/>
          <a:ln/>
        </p:spPr>
        <p:txBody>
          <a:bodyPr wrap="square" lIns="0" tIns="0" rIns="0" bIns="0" rtlCol="0" anchor="ctr">
            <a:normAutofit/>
          </a:bodyPr>
          <a:lstStyle/>
          <a:p>
            <a:pPr algn="l" indent="0" marL="0">
              <a:buNone/>
            </a:pPr>
            <a:r>
              <a:rPr lang="en-US" sz="1400" dirty="0">
                <a:solidFill>
                  <a:srgbClr val="182A35"/>
                </a:solidFill>
                <a:latin typeface="Arial" pitchFamily="34" charset="0"/>
                <a:ea typeface="Arial" pitchFamily="34" charset="-122"/>
                <a:cs typeface="Arial" pitchFamily="34" charset="-120"/>
              </a:rPr>
              <a:t>It can be hard to name, process, or track what you are feeling from day to day.</a:t>
            </a:r>
            <a:endParaRPr lang="en-US" sz="1400" dirty="0"/>
          </a:p>
        </p:txBody>
      </p:sp>
      <p:sp>
        <p:nvSpPr>
          <p:cNvPr id="9" name="Text 7"/>
          <p:cNvSpPr/>
          <p:nvPr/>
        </p:nvSpPr>
        <p:spPr>
          <a:xfrm>
            <a:off x="914400" y="4754880"/>
            <a:ext cx="2788920" cy="228600"/>
          </a:xfrm>
          <a:prstGeom prst="rect">
            <a:avLst/>
          </a:prstGeom>
          <a:noFill/>
          <a:ln/>
        </p:spPr>
        <p:txBody>
          <a:bodyPr wrap="square" lIns="0" tIns="0" rIns="0" bIns="0" rtlCol="0" anchor="ctr">
            <a:normAutofit/>
          </a:bodyPr>
          <a:lstStyle/>
          <a:p>
            <a:pPr algn="l" indent="0" marL="0">
              <a:buNone/>
            </a:pPr>
            <a:r>
              <a:rPr lang="en-US" sz="1100" b="1" dirty="0">
                <a:solidFill>
                  <a:srgbClr val="2E7D73"/>
                </a:solidFill>
                <a:latin typeface="Arial" pitchFamily="34" charset="0"/>
                <a:ea typeface="Arial" pitchFamily="34" charset="-122"/>
                <a:cs typeface="Arial" pitchFamily="34" charset="-120"/>
              </a:rPr>
              <a:t>Check in + reflect</a:t>
            </a:r>
            <a:endParaRPr lang="en-US" sz="1100" dirty="0"/>
          </a:p>
        </p:txBody>
      </p:sp>
      <p:sp>
        <p:nvSpPr>
          <p:cNvPr id="10" name="Shape 8"/>
          <p:cNvSpPr/>
          <p:nvPr/>
        </p:nvSpPr>
        <p:spPr>
          <a:xfrm>
            <a:off x="4425696" y="2148840"/>
            <a:ext cx="3401568" cy="2971800"/>
          </a:xfrm>
          <a:prstGeom prst="roundRect">
            <a:avLst>
              <a:gd name="adj" fmla="val 2462"/>
            </a:avLst>
          </a:prstGeom>
          <a:solidFill>
            <a:srgbClr val="F4E7D4"/>
          </a:solidFill>
          <a:ln w="12700">
            <a:solidFill>
              <a:srgbClr val="F4E7D4">
                <a:alpha val="0"/>
              </a:srgbClr>
            </a:solidFill>
            <a:prstDash val="solid"/>
          </a:ln>
        </p:spPr>
      </p:sp>
      <p:sp>
        <p:nvSpPr>
          <p:cNvPr id="11" name="Text 9"/>
          <p:cNvSpPr/>
          <p:nvPr/>
        </p:nvSpPr>
        <p:spPr>
          <a:xfrm>
            <a:off x="4681728" y="2441448"/>
            <a:ext cx="384048" cy="274320"/>
          </a:xfrm>
          <a:prstGeom prst="rect">
            <a:avLst/>
          </a:prstGeom>
          <a:noFill/>
          <a:ln/>
        </p:spPr>
        <p:txBody>
          <a:bodyPr wrap="square" lIns="0" tIns="0" rIns="0" bIns="0" rtlCol="0" anchor="ctr">
            <a:normAutofit/>
          </a:bodyPr>
          <a:lstStyle/>
          <a:p>
            <a:pPr algn="l" indent="0" marL="0">
              <a:buNone/>
            </a:pPr>
            <a:r>
              <a:rPr lang="en-US" sz="1300" b="1" dirty="0">
                <a:solidFill>
                  <a:srgbClr val="2E7D73"/>
                </a:solidFill>
                <a:latin typeface="Arial" pitchFamily="34" charset="0"/>
                <a:ea typeface="Arial" pitchFamily="34" charset="-122"/>
                <a:cs typeface="Arial" pitchFamily="34" charset="-120"/>
              </a:rPr>
              <a:t>02</a:t>
            </a:r>
            <a:endParaRPr lang="en-US" sz="1300" dirty="0"/>
          </a:p>
        </p:txBody>
      </p:sp>
      <p:sp>
        <p:nvSpPr>
          <p:cNvPr id="12" name="Text 10"/>
          <p:cNvSpPr/>
          <p:nvPr/>
        </p:nvSpPr>
        <p:spPr>
          <a:xfrm>
            <a:off x="4681728" y="2926080"/>
            <a:ext cx="2834640" cy="566928"/>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WELLBEING TOOLS FEEL TOO BIG</a:t>
            </a:r>
            <a:endParaRPr lang="en-US" sz="1600" dirty="0"/>
          </a:p>
        </p:txBody>
      </p:sp>
      <p:sp>
        <p:nvSpPr>
          <p:cNvPr id="13" name="Text 11"/>
          <p:cNvSpPr/>
          <p:nvPr/>
        </p:nvSpPr>
        <p:spPr>
          <a:xfrm>
            <a:off x="4681728" y="3767328"/>
            <a:ext cx="2816352" cy="841248"/>
          </a:xfrm>
          <a:prstGeom prst="rect">
            <a:avLst/>
          </a:prstGeom>
          <a:noFill/>
          <a:ln/>
        </p:spPr>
        <p:txBody>
          <a:bodyPr wrap="square" lIns="0" tIns="0" rIns="0" bIns="0" rtlCol="0" anchor="ctr">
            <a:normAutofit/>
          </a:bodyPr>
          <a:lstStyle/>
          <a:p>
            <a:pPr algn="l" indent="0" marL="0">
              <a:buNone/>
            </a:pPr>
            <a:r>
              <a:rPr lang="en-US" sz="1400" dirty="0">
                <a:solidFill>
                  <a:srgbClr val="182A35"/>
                </a:solidFill>
                <a:latin typeface="Arial" pitchFamily="34" charset="0"/>
                <a:ea typeface="Arial" pitchFamily="34" charset="-122"/>
                <a:cs typeface="Arial" pitchFamily="34" charset="-120"/>
              </a:rPr>
              <a:t>Traditional support can feel overwhelming or clinical. People need a low-barrier first step.</a:t>
            </a:r>
            <a:endParaRPr lang="en-US" sz="1400" dirty="0"/>
          </a:p>
        </p:txBody>
      </p:sp>
      <p:sp>
        <p:nvSpPr>
          <p:cNvPr id="14" name="Text 12"/>
          <p:cNvSpPr/>
          <p:nvPr/>
        </p:nvSpPr>
        <p:spPr>
          <a:xfrm>
            <a:off x="4681728" y="4754880"/>
            <a:ext cx="2788920" cy="228600"/>
          </a:xfrm>
          <a:prstGeom prst="rect">
            <a:avLst/>
          </a:prstGeom>
          <a:noFill/>
          <a:ln/>
        </p:spPr>
        <p:txBody>
          <a:bodyPr wrap="square" lIns="0" tIns="0" rIns="0" bIns="0" rtlCol="0" anchor="ctr">
            <a:normAutofit/>
          </a:bodyPr>
          <a:lstStyle/>
          <a:p>
            <a:pPr algn="l" indent="0" marL="0">
              <a:buNone/>
            </a:pPr>
            <a:r>
              <a:rPr lang="en-US" sz="1100" b="1" dirty="0">
                <a:solidFill>
                  <a:srgbClr val="2E7D73"/>
                </a:solidFill>
                <a:latin typeface="Arial" pitchFamily="34" charset="0"/>
                <a:ea typeface="Arial" pitchFamily="34" charset="-122"/>
                <a:cs typeface="Arial" pitchFamily="34" charset="-120"/>
              </a:rPr>
              <a:t>Small, practical steps</a:t>
            </a:r>
            <a:endParaRPr lang="en-US" sz="1100" dirty="0"/>
          </a:p>
        </p:txBody>
      </p:sp>
      <p:sp>
        <p:nvSpPr>
          <p:cNvPr id="15" name="Shape 13"/>
          <p:cNvSpPr/>
          <p:nvPr/>
        </p:nvSpPr>
        <p:spPr>
          <a:xfrm>
            <a:off x="8193024" y="2148840"/>
            <a:ext cx="3401568" cy="2971800"/>
          </a:xfrm>
          <a:prstGeom prst="roundRect">
            <a:avLst>
              <a:gd name="adj" fmla="val 2462"/>
            </a:avLst>
          </a:prstGeom>
          <a:solidFill>
            <a:srgbClr val="D9776A"/>
          </a:solidFill>
          <a:ln w="12700">
            <a:solidFill>
              <a:srgbClr val="D9776A">
                <a:alpha val="0"/>
              </a:srgbClr>
            </a:solidFill>
            <a:prstDash val="solid"/>
          </a:ln>
        </p:spPr>
      </p:sp>
      <p:sp>
        <p:nvSpPr>
          <p:cNvPr id="16" name="Text 14"/>
          <p:cNvSpPr/>
          <p:nvPr/>
        </p:nvSpPr>
        <p:spPr>
          <a:xfrm>
            <a:off x="8449056" y="2441448"/>
            <a:ext cx="384048"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Arial" pitchFamily="34" charset="0"/>
                <a:ea typeface="Arial" pitchFamily="34" charset="-122"/>
                <a:cs typeface="Arial" pitchFamily="34" charset="-120"/>
              </a:rPr>
              <a:t>03</a:t>
            </a:r>
            <a:endParaRPr lang="en-US" sz="1300" dirty="0"/>
          </a:p>
        </p:txBody>
      </p:sp>
      <p:sp>
        <p:nvSpPr>
          <p:cNvPr id="17" name="Text 15"/>
          <p:cNvSpPr/>
          <p:nvPr/>
        </p:nvSpPr>
        <p:spPr>
          <a:xfrm>
            <a:off x="8449056" y="2926080"/>
            <a:ext cx="2834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ISOLATION AND LACK OF SUPPORT</a:t>
            </a:r>
            <a:endParaRPr lang="en-US" sz="1600" dirty="0"/>
          </a:p>
        </p:txBody>
      </p:sp>
      <p:sp>
        <p:nvSpPr>
          <p:cNvPr id="18" name="Text 16"/>
          <p:cNvSpPr/>
          <p:nvPr/>
        </p:nvSpPr>
        <p:spPr>
          <a:xfrm>
            <a:off x="8449056" y="3767328"/>
            <a:ext cx="2816352" cy="8412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Navigating a difficult moment alone is hard when you do not know who or where to turn to.</a:t>
            </a:r>
            <a:endParaRPr lang="en-US" sz="1400" dirty="0"/>
          </a:p>
        </p:txBody>
      </p:sp>
      <p:sp>
        <p:nvSpPr>
          <p:cNvPr id="19" name="Text 17"/>
          <p:cNvSpPr/>
          <p:nvPr/>
        </p:nvSpPr>
        <p:spPr>
          <a:xfrm>
            <a:off x="8449056" y="4754880"/>
            <a:ext cx="2788920" cy="228600"/>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Find support</a:t>
            </a:r>
            <a:endParaRPr lang="en-US" sz="1100" dirty="0"/>
          </a:p>
        </p:txBody>
      </p:sp>
      <p:sp>
        <p:nvSpPr>
          <p:cNvPr id="20" name="Shape 18"/>
          <p:cNvSpPr/>
          <p:nvPr/>
        </p:nvSpPr>
        <p:spPr>
          <a:xfrm>
            <a:off x="1325880" y="5559552"/>
            <a:ext cx="9555480" cy="438912"/>
          </a:xfrm>
          <a:prstGeom prst="roundRect">
            <a:avLst>
              <a:gd name="adj" fmla="val 16667"/>
            </a:avLst>
          </a:prstGeom>
          <a:solidFill>
            <a:srgbClr val="12232B"/>
          </a:solidFill>
          <a:ln w="12700">
            <a:solidFill>
              <a:srgbClr val="12232B">
                <a:alpha val="0"/>
              </a:srgbClr>
            </a:solidFill>
            <a:prstDash val="solid"/>
          </a:ln>
        </p:spPr>
      </p:sp>
      <p:sp>
        <p:nvSpPr>
          <p:cNvPr id="21" name="Text 19"/>
          <p:cNvSpPr/>
          <p:nvPr/>
        </p:nvSpPr>
        <p:spPr>
          <a:xfrm>
            <a:off x="1572768" y="5650992"/>
            <a:ext cx="9052560"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The problem is not a lack of information. It is the gap between “I need help” and “I know what to do next.”</a:t>
            </a:r>
            <a:endParaRPr lang="en-US" sz="1300" dirty="0"/>
          </a:p>
        </p:txBody>
      </p:sp>
      <p:sp>
        <p:nvSpPr>
          <p:cNvPr id="22" name="Text 20"/>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02 / THE SOLUTION</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MindMate turns an overwhelming moment into a clear next step</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One product connects awareness, action, conversation, and support.</a:t>
            </a:r>
            <a:endParaRPr lang="en-US" sz="1300" dirty="0"/>
          </a:p>
        </p:txBody>
      </p:sp>
      <p:sp>
        <p:nvSpPr>
          <p:cNvPr id="5" name="Shape 3"/>
          <p:cNvSpPr/>
          <p:nvPr/>
        </p:nvSpPr>
        <p:spPr>
          <a:xfrm>
            <a:off x="658368" y="2084832"/>
            <a:ext cx="2487168" cy="3246120"/>
          </a:xfrm>
          <a:prstGeom prst="roundRect">
            <a:avLst>
              <a:gd name="adj" fmla="val 2941"/>
            </a:avLst>
          </a:prstGeom>
          <a:solidFill>
            <a:srgbClr val="DDEEE9"/>
          </a:solidFill>
          <a:ln w="12700">
            <a:solidFill>
              <a:srgbClr val="DDEEE9">
                <a:alpha val="0"/>
              </a:srgbClr>
            </a:solidFill>
            <a:prstDash val="solid"/>
          </a:ln>
        </p:spPr>
      </p:sp>
      <p:sp>
        <p:nvSpPr>
          <p:cNvPr id="6" name="Text 4"/>
          <p:cNvSpPr/>
          <p:nvPr/>
        </p:nvSpPr>
        <p:spPr>
          <a:xfrm>
            <a:off x="859536" y="2423160"/>
            <a:ext cx="2057400" cy="256032"/>
          </a:xfrm>
          <a:prstGeom prst="rect">
            <a:avLst/>
          </a:prstGeom>
          <a:noFill/>
          <a:ln/>
        </p:spPr>
        <p:txBody>
          <a:bodyPr wrap="square" lIns="0" tIns="0" rIns="0" bIns="0" rtlCol="0" anchor="ctr">
            <a:normAutofit/>
          </a:bodyPr>
          <a:lstStyle/>
          <a:p>
            <a:pPr algn="l" indent="0" marL="0">
              <a:buNone/>
            </a:pPr>
            <a:r>
              <a:rPr lang="en-US" sz="1200" b="1" spc="110" kern="0" dirty="0">
                <a:solidFill>
                  <a:srgbClr val="2E7D73"/>
                </a:solidFill>
                <a:latin typeface="Arial" pitchFamily="34" charset="0"/>
                <a:ea typeface="Arial" pitchFamily="34" charset="-122"/>
                <a:cs typeface="Arial" pitchFamily="34" charset="-120"/>
              </a:rPr>
              <a:t>NOTICE</a:t>
            </a:r>
            <a:endParaRPr lang="en-US" sz="1200" dirty="0"/>
          </a:p>
        </p:txBody>
      </p:sp>
      <p:sp>
        <p:nvSpPr>
          <p:cNvPr id="7" name="Text 5"/>
          <p:cNvSpPr/>
          <p:nvPr/>
        </p:nvSpPr>
        <p:spPr>
          <a:xfrm>
            <a:off x="859536" y="2880360"/>
            <a:ext cx="2057400" cy="987552"/>
          </a:xfrm>
          <a:prstGeom prst="rect">
            <a:avLst/>
          </a:prstGeom>
          <a:noFill/>
          <a:ln/>
        </p:spPr>
        <p:txBody>
          <a:bodyPr wrap="square" lIns="0" tIns="0" rIns="0" bIns="0" rtlCol="0" anchor="ctr">
            <a:normAutofit/>
          </a:bodyPr>
          <a:lstStyle/>
          <a:p>
            <a:pPr algn="l" indent="0" marL="0">
              <a:buNone/>
            </a:pPr>
            <a:r>
              <a:rPr lang="en-US" sz="1700" b="1" dirty="0">
                <a:solidFill>
                  <a:srgbClr val="12232B"/>
                </a:solidFill>
                <a:latin typeface="Arial" pitchFamily="34" charset="0"/>
                <a:ea typeface="Arial" pitchFamily="34" charset="-122"/>
                <a:cs typeface="Arial" pitchFamily="34" charset="-120"/>
              </a:rPr>
              <a:t>Check in with words, mood context, and reflection.</a:t>
            </a:r>
            <a:endParaRPr lang="en-US" sz="1700" dirty="0"/>
          </a:p>
        </p:txBody>
      </p:sp>
      <p:sp>
        <p:nvSpPr>
          <p:cNvPr id="8" name="Text 6"/>
          <p:cNvSpPr/>
          <p:nvPr/>
        </p:nvSpPr>
        <p:spPr>
          <a:xfrm>
            <a:off x="859536" y="4251960"/>
            <a:ext cx="2029968" cy="621792"/>
          </a:xfrm>
          <a:prstGeom prst="rect">
            <a:avLst/>
          </a:prstGeom>
          <a:noFill/>
          <a:ln/>
        </p:spPr>
        <p:txBody>
          <a:bodyPr wrap="square" lIns="0" tIns="0" rIns="0" bIns="0" rtlCol="0" anchor="ctr">
            <a:normAutofit/>
          </a:bodyPr>
          <a:lstStyle/>
          <a:p>
            <a:pPr algn="l" indent="0" marL="0">
              <a:buNone/>
            </a:pPr>
            <a:r>
              <a:rPr lang="en-US" sz="1200" dirty="0">
                <a:solidFill>
                  <a:srgbClr val="68767C"/>
                </a:solidFill>
                <a:latin typeface="Arial" pitchFamily="34" charset="0"/>
                <a:ea typeface="Arial" pitchFamily="34" charset="-122"/>
                <a:cs typeface="Arial" pitchFamily="34" charset="-120"/>
              </a:rPr>
              <a:t>Build emotional awareness without reducing a person to a score.</a:t>
            </a:r>
            <a:endParaRPr lang="en-US" sz="1200" dirty="0"/>
          </a:p>
        </p:txBody>
      </p:sp>
      <p:sp>
        <p:nvSpPr>
          <p:cNvPr id="9" name="Shape 7"/>
          <p:cNvSpPr/>
          <p:nvPr/>
        </p:nvSpPr>
        <p:spPr>
          <a:xfrm>
            <a:off x="3538728" y="2084832"/>
            <a:ext cx="2487168" cy="3246120"/>
          </a:xfrm>
          <a:prstGeom prst="roundRect">
            <a:avLst>
              <a:gd name="adj" fmla="val 2941"/>
            </a:avLst>
          </a:prstGeom>
          <a:solidFill>
            <a:srgbClr val="F4E7D4"/>
          </a:solidFill>
          <a:ln w="12700">
            <a:solidFill>
              <a:srgbClr val="F4E7D4">
                <a:alpha val="0"/>
              </a:srgbClr>
            </a:solidFill>
            <a:prstDash val="solid"/>
          </a:ln>
        </p:spPr>
      </p:sp>
      <p:sp>
        <p:nvSpPr>
          <p:cNvPr id="10" name="Text 8"/>
          <p:cNvSpPr/>
          <p:nvPr/>
        </p:nvSpPr>
        <p:spPr>
          <a:xfrm>
            <a:off x="3739896" y="2423160"/>
            <a:ext cx="2057400" cy="256032"/>
          </a:xfrm>
          <a:prstGeom prst="rect">
            <a:avLst/>
          </a:prstGeom>
          <a:noFill/>
          <a:ln/>
        </p:spPr>
        <p:txBody>
          <a:bodyPr wrap="square" lIns="0" tIns="0" rIns="0" bIns="0" rtlCol="0" anchor="ctr">
            <a:normAutofit/>
          </a:bodyPr>
          <a:lstStyle/>
          <a:p>
            <a:pPr algn="l" indent="0" marL="0">
              <a:buNone/>
            </a:pPr>
            <a:r>
              <a:rPr lang="en-US" sz="1200" b="1" spc="110" kern="0" dirty="0">
                <a:solidFill>
                  <a:srgbClr val="2E7D73"/>
                </a:solidFill>
                <a:latin typeface="Arial" pitchFamily="34" charset="0"/>
                <a:ea typeface="Arial" pitchFamily="34" charset="-122"/>
                <a:cs typeface="Arial" pitchFamily="34" charset="-120"/>
              </a:rPr>
              <a:t>ACT</a:t>
            </a:r>
            <a:endParaRPr lang="en-US" sz="1200" dirty="0"/>
          </a:p>
        </p:txBody>
      </p:sp>
      <p:sp>
        <p:nvSpPr>
          <p:cNvPr id="11" name="Text 9"/>
          <p:cNvSpPr/>
          <p:nvPr/>
        </p:nvSpPr>
        <p:spPr>
          <a:xfrm>
            <a:off x="3739896" y="2880360"/>
            <a:ext cx="2057400" cy="987552"/>
          </a:xfrm>
          <a:prstGeom prst="rect">
            <a:avLst/>
          </a:prstGeom>
          <a:noFill/>
          <a:ln/>
        </p:spPr>
        <p:txBody>
          <a:bodyPr wrap="square" lIns="0" tIns="0" rIns="0" bIns="0" rtlCol="0" anchor="ctr">
            <a:normAutofit/>
          </a:bodyPr>
          <a:lstStyle/>
          <a:p>
            <a:pPr algn="l" indent="0" marL="0">
              <a:buNone/>
            </a:pPr>
            <a:r>
              <a:rPr lang="en-US" sz="1700" b="1" dirty="0">
                <a:solidFill>
                  <a:srgbClr val="12232B"/>
                </a:solidFill>
                <a:latin typeface="Arial" pitchFamily="34" charset="0"/>
                <a:ea typeface="Arial" pitchFamily="34" charset="-122"/>
                <a:cs typeface="Arial" pitchFamily="34" charset="-120"/>
              </a:rPr>
              <a:t>Choose one small step: breathing, meditation, journaling, or a practical plan.</a:t>
            </a:r>
            <a:endParaRPr lang="en-US" sz="1700" dirty="0"/>
          </a:p>
        </p:txBody>
      </p:sp>
      <p:sp>
        <p:nvSpPr>
          <p:cNvPr id="12" name="Text 10"/>
          <p:cNvSpPr/>
          <p:nvPr/>
        </p:nvSpPr>
        <p:spPr>
          <a:xfrm>
            <a:off x="3739896" y="4251960"/>
            <a:ext cx="2029968" cy="621792"/>
          </a:xfrm>
          <a:prstGeom prst="rect">
            <a:avLst/>
          </a:prstGeom>
          <a:noFill/>
          <a:ln/>
        </p:spPr>
        <p:txBody>
          <a:bodyPr wrap="square" lIns="0" tIns="0" rIns="0" bIns="0" rtlCol="0" anchor="ctr">
            <a:normAutofit/>
          </a:bodyPr>
          <a:lstStyle/>
          <a:p>
            <a:pPr algn="l" indent="0" marL="0">
              <a:buNone/>
            </a:pPr>
            <a:r>
              <a:rPr lang="en-US" sz="1200" dirty="0">
                <a:solidFill>
                  <a:srgbClr val="68767C"/>
                </a:solidFill>
                <a:latin typeface="Arial" pitchFamily="34" charset="0"/>
                <a:ea typeface="Arial" pitchFamily="34" charset="-122"/>
                <a:cs typeface="Arial" pitchFamily="34" charset="-120"/>
              </a:rPr>
              <a:t>Start small enough to try today.</a:t>
            </a:r>
            <a:endParaRPr lang="en-US" sz="1200" dirty="0"/>
          </a:p>
        </p:txBody>
      </p:sp>
      <p:sp>
        <p:nvSpPr>
          <p:cNvPr id="13" name="Shape 11"/>
          <p:cNvSpPr/>
          <p:nvPr/>
        </p:nvSpPr>
        <p:spPr>
          <a:xfrm>
            <a:off x="6419088" y="2084832"/>
            <a:ext cx="2487168" cy="3246120"/>
          </a:xfrm>
          <a:prstGeom prst="roundRect">
            <a:avLst>
              <a:gd name="adj" fmla="val 2941"/>
            </a:avLst>
          </a:prstGeom>
          <a:solidFill>
            <a:srgbClr val="DDEEE9"/>
          </a:solidFill>
          <a:ln w="12700">
            <a:solidFill>
              <a:srgbClr val="DDEEE9">
                <a:alpha val="0"/>
              </a:srgbClr>
            </a:solidFill>
            <a:prstDash val="solid"/>
          </a:ln>
        </p:spPr>
      </p:sp>
      <p:sp>
        <p:nvSpPr>
          <p:cNvPr id="14" name="Text 12"/>
          <p:cNvSpPr/>
          <p:nvPr/>
        </p:nvSpPr>
        <p:spPr>
          <a:xfrm>
            <a:off x="6620256" y="2423160"/>
            <a:ext cx="2057400" cy="256032"/>
          </a:xfrm>
          <a:prstGeom prst="rect">
            <a:avLst/>
          </a:prstGeom>
          <a:noFill/>
          <a:ln/>
        </p:spPr>
        <p:txBody>
          <a:bodyPr wrap="square" lIns="0" tIns="0" rIns="0" bIns="0" rtlCol="0" anchor="ctr">
            <a:normAutofit/>
          </a:bodyPr>
          <a:lstStyle/>
          <a:p>
            <a:pPr algn="l" indent="0" marL="0">
              <a:buNone/>
            </a:pPr>
            <a:r>
              <a:rPr lang="en-US" sz="1200" b="1" spc="110" kern="0" dirty="0">
                <a:solidFill>
                  <a:srgbClr val="2E7D73"/>
                </a:solidFill>
                <a:latin typeface="Arial" pitchFamily="34" charset="0"/>
                <a:ea typeface="Arial" pitchFamily="34" charset="-122"/>
                <a:cs typeface="Arial" pitchFamily="34" charset="-120"/>
              </a:rPr>
              <a:t>TALK</a:t>
            </a:r>
            <a:endParaRPr lang="en-US" sz="1200" dirty="0"/>
          </a:p>
        </p:txBody>
      </p:sp>
      <p:sp>
        <p:nvSpPr>
          <p:cNvPr id="15" name="Text 13"/>
          <p:cNvSpPr/>
          <p:nvPr/>
        </p:nvSpPr>
        <p:spPr>
          <a:xfrm>
            <a:off x="6620256" y="2880360"/>
            <a:ext cx="2057400" cy="987552"/>
          </a:xfrm>
          <a:prstGeom prst="rect">
            <a:avLst/>
          </a:prstGeom>
          <a:noFill/>
          <a:ln/>
        </p:spPr>
        <p:txBody>
          <a:bodyPr wrap="square" lIns="0" tIns="0" rIns="0" bIns="0" rtlCol="0" anchor="ctr">
            <a:normAutofit/>
          </a:bodyPr>
          <a:lstStyle/>
          <a:p>
            <a:pPr algn="l" indent="0" marL="0">
              <a:buNone/>
            </a:pPr>
            <a:r>
              <a:rPr lang="en-US" sz="1700" b="1" dirty="0">
                <a:solidFill>
                  <a:srgbClr val="12232B"/>
                </a:solidFill>
                <a:latin typeface="Arial" pitchFamily="34" charset="0"/>
                <a:ea typeface="Arial" pitchFamily="34" charset="-122"/>
                <a:cs typeface="Arial" pitchFamily="34" charset="-120"/>
              </a:rPr>
              <a:t>Use a transparent AI companion for reflection and context-aware next steps.</a:t>
            </a:r>
            <a:endParaRPr lang="en-US" sz="1700" dirty="0"/>
          </a:p>
        </p:txBody>
      </p:sp>
      <p:sp>
        <p:nvSpPr>
          <p:cNvPr id="16" name="Text 14"/>
          <p:cNvSpPr/>
          <p:nvPr/>
        </p:nvSpPr>
        <p:spPr>
          <a:xfrm>
            <a:off x="6620256" y="4251960"/>
            <a:ext cx="2029968" cy="621792"/>
          </a:xfrm>
          <a:prstGeom prst="rect">
            <a:avLst/>
          </a:prstGeom>
          <a:noFill/>
          <a:ln/>
        </p:spPr>
        <p:txBody>
          <a:bodyPr wrap="square" lIns="0" tIns="0" rIns="0" bIns="0" rtlCol="0" anchor="ctr">
            <a:normAutofit/>
          </a:bodyPr>
          <a:lstStyle/>
          <a:p>
            <a:pPr algn="l" indent="0" marL="0">
              <a:buNone/>
            </a:pPr>
            <a:r>
              <a:rPr lang="en-US" sz="1200" dirty="0">
                <a:solidFill>
                  <a:srgbClr val="68767C"/>
                </a:solidFill>
                <a:latin typeface="Arial" pitchFamily="34" charset="0"/>
                <a:ea typeface="Arial" pitchFamily="34" charset="-122"/>
                <a:cs typeface="Arial" pitchFamily="34" charset="-120"/>
              </a:rPr>
              <a:t>Helpful, but never pretending to be a therapist.</a:t>
            </a:r>
            <a:endParaRPr lang="en-US" sz="1200" dirty="0"/>
          </a:p>
        </p:txBody>
      </p:sp>
      <p:sp>
        <p:nvSpPr>
          <p:cNvPr id="17" name="Shape 15"/>
          <p:cNvSpPr/>
          <p:nvPr/>
        </p:nvSpPr>
        <p:spPr>
          <a:xfrm>
            <a:off x="9299448" y="2084832"/>
            <a:ext cx="2487168" cy="3246120"/>
          </a:xfrm>
          <a:prstGeom prst="roundRect">
            <a:avLst>
              <a:gd name="adj" fmla="val 2941"/>
            </a:avLst>
          </a:prstGeom>
          <a:solidFill>
            <a:srgbClr val="12232B"/>
          </a:solidFill>
          <a:ln w="12700">
            <a:solidFill>
              <a:srgbClr val="12232B">
                <a:alpha val="0"/>
              </a:srgbClr>
            </a:solidFill>
            <a:prstDash val="solid"/>
          </a:ln>
        </p:spPr>
      </p:sp>
      <p:sp>
        <p:nvSpPr>
          <p:cNvPr id="18" name="Text 16"/>
          <p:cNvSpPr/>
          <p:nvPr/>
        </p:nvSpPr>
        <p:spPr>
          <a:xfrm>
            <a:off x="9500616" y="2423160"/>
            <a:ext cx="2057400" cy="256032"/>
          </a:xfrm>
          <a:prstGeom prst="rect">
            <a:avLst/>
          </a:prstGeom>
          <a:noFill/>
          <a:ln/>
        </p:spPr>
        <p:txBody>
          <a:bodyPr wrap="square" lIns="0" tIns="0" rIns="0" bIns="0" rtlCol="0" anchor="ctr">
            <a:normAutofit/>
          </a:bodyPr>
          <a:lstStyle/>
          <a:p>
            <a:pPr algn="l" indent="0" marL="0">
              <a:buNone/>
            </a:pPr>
            <a:r>
              <a:rPr lang="en-US" sz="1200" b="1" spc="110" kern="0" dirty="0">
                <a:solidFill>
                  <a:srgbClr val="D9776A"/>
                </a:solidFill>
                <a:latin typeface="Arial" pitchFamily="34" charset="0"/>
                <a:ea typeface="Arial" pitchFamily="34" charset="-122"/>
                <a:cs typeface="Arial" pitchFamily="34" charset="-120"/>
              </a:rPr>
              <a:t>CONNECT</a:t>
            </a:r>
            <a:endParaRPr lang="en-US" sz="1200" dirty="0"/>
          </a:p>
        </p:txBody>
      </p:sp>
      <p:sp>
        <p:nvSpPr>
          <p:cNvPr id="19" name="Text 17"/>
          <p:cNvSpPr/>
          <p:nvPr/>
        </p:nvSpPr>
        <p:spPr>
          <a:xfrm>
            <a:off x="9500616" y="2880360"/>
            <a:ext cx="2057400" cy="987552"/>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Arial" pitchFamily="34" charset="0"/>
                <a:ea typeface="Arial" pitchFamily="34" charset="-122"/>
                <a:cs typeface="Arial" pitchFamily="34" charset="-120"/>
              </a:rPr>
              <a:t>Reach trusted human and emergency support when self-guided help is not enough.</a:t>
            </a:r>
            <a:endParaRPr lang="en-US" sz="1700" dirty="0"/>
          </a:p>
        </p:txBody>
      </p:sp>
      <p:sp>
        <p:nvSpPr>
          <p:cNvPr id="20" name="Text 18"/>
          <p:cNvSpPr/>
          <p:nvPr/>
        </p:nvSpPr>
        <p:spPr>
          <a:xfrm>
            <a:off x="9500616" y="4251960"/>
            <a:ext cx="2029968" cy="621792"/>
          </a:xfrm>
          <a:prstGeom prst="rect">
            <a:avLst/>
          </a:prstGeom>
          <a:noFill/>
          <a:ln/>
        </p:spPr>
        <p:txBody>
          <a:bodyPr wrap="square" lIns="0" tIns="0" rIns="0" bIns="0" rtlCol="0" anchor="ctr">
            <a:normAutofit/>
          </a:bodyPr>
          <a:lstStyle/>
          <a:p>
            <a:pPr algn="l" indent="0" marL="0">
              <a:buNone/>
            </a:pPr>
            <a:r>
              <a:rPr lang="en-US" sz="1200" dirty="0">
                <a:solidFill>
                  <a:srgbClr val="D2E2DE"/>
                </a:solidFill>
                <a:latin typeface="Arial" pitchFamily="34" charset="0"/>
                <a:ea typeface="Arial" pitchFamily="34" charset="-122"/>
                <a:cs typeface="Arial" pitchFamily="34" charset="-120"/>
              </a:rPr>
              <a:t>The user stays in control.</a:t>
            </a:r>
            <a:endParaRPr lang="en-US" sz="1200" dirty="0"/>
          </a:p>
        </p:txBody>
      </p:sp>
      <p:sp>
        <p:nvSpPr>
          <p:cNvPr id="21" name="Shape 19"/>
          <p:cNvSpPr/>
          <p:nvPr/>
        </p:nvSpPr>
        <p:spPr>
          <a:xfrm>
            <a:off x="1938528" y="5641848"/>
            <a:ext cx="8366760" cy="384048"/>
          </a:xfrm>
          <a:prstGeom prst="roundRect">
            <a:avLst>
              <a:gd name="adj" fmla="val 19048"/>
            </a:avLst>
          </a:prstGeom>
          <a:solidFill>
            <a:srgbClr val="D9776A"/>
          </a:solidFill>
          <a:ln w="12700">
            <a:solidFill>
              <a:srgbClr val="D9776A">
                <a:alpha val="0"/>
              </a:srgbClr>
            </a:solidFill>
            <a:prstDash val="solid"/>
          </a:ln>
        </p:spPr>
      </p:sp>
      <p:sp>
        <p:nvSpPr>
          <p:cNvPr id="22" name="Text 20"/>
          <p:cNvSpPr/>
          <p:nvPr/>
        </p:nvSpPr>
        <p:spPr>
          <a:xfrm>
            <a:off x="2121408" y="5715000"/>
            <a:ext cx="800100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Not a feature pile: a safe pathway from “I feel stuck” to “I have a next step.”</a:t>
            </a:r>
            <a:endParaRPr lang="en-US" sz="1200" dirty="0"/>
          </a:p>
        </p:txBody>
      </p:sp>
      <p:sp>
        <p:nvSpPr>
          <p:cNvPr id="23" name="Text 21"/>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03 / HOW IT WORKS</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One session can move from feeling stuck to taking action</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Replace the three portrait frames with real screenshots from the release APK or Web app.</a:t>
            </a:r>
            <a:endParaRPr lang="en-US" sz="1300" dirty="0"/>
          </a:p>
        </p:txBody>
      </p:sp>
      <p:sp>
        <p:nvSpPr>
          <p:cNvPr id="5" name="Shape 3"/>
          <p:cNvSpPr/>
          <p:nvPr/>
        </p:nvSpPr>
        <p:spPr>
          <a:xfrm>
            <a:off x="658368" y="1947672"/>
            <a:ext cx="1965960" cy="4096512"/>
          </a:xfrm>
          <a:prstGeom prst="roundRect">
            <a:avLst>
              <a:gd name="adj" fmla="val 5581"/>
            </a:avLst>
          </a:prstGeom>
          <a:solidFill>
            <a:srgbClr val="12232B"/>
          </a:solidFill>
          <a:ln w="12700">
            <a:solidFill>
              <a:srgbClr val="12232B"/>
            </a:solidFill>
            <a:prstDash val="solid"/>
          </a:ln>
        </p:spPr>
      </p:sp>
      <p:sp>
        <p:nvSpPr>
          <p:cNvPr id="6" name="Shape 4"/>
          <p:cNvSpPr/>
          <p:nvPr/>
        </p:nvSpPr>
        <p:spPr>
          <a:xfrm>
            <a:off x="731520" y="2057400"/>
            <a:ext cx="1819656" cy="3877056"/>
          </a:xfrm>
          <a:prstGeom prst="roundRect">
            <a:avLst>
              <a:gd name="adj" fmla="val 4020"/>
            </a:avLst>
          </a:prstGeom>
          <a:solidFill>
            <a:srgbClr val="FFFFFF"/>
          </a:solidFill>
          <a:ln w="12700">
            <a:solidFill>
              <a:srgbClr val="FFFFFF">
                <a:alpha val="0"/>
              </a:srgbClr>
            </a:solidFill>
            <a:prstDash val="solid"/>
          </a:ln>
        </p:spPr>
      </p:sp>
      <p:sp>
        <p:nvSpPr>
          <p:cNvPr id="7" name="Shape 5"/>
          <p:cNvSpPr/>
          <p:nvPr/>
        </p:nvSpPr>
        <p:spPr>
          <a:xfrm>
            <a:off x="1431036" y="2112264"/>
            <a:ext cx="420624" cy="64008"/>
          </a:xfrm>
          <a:prstGeom prst="roundRect">
            <a:avLst>
              <a:gd name="adj" fmla="val 114286"/>
            </a:avLst>
          </a:prstGeom>
          <a:solidFill>
            <a:srgbClr val="12232B"/>
          </a:solidFill>
          <a:ln w="12700">
            <a:solidFill>
              <a:srgbClr val="12232B">
                <a:alpha val="0"/>
              </a:srgbClr>
            </a:solidFill>
            <a:prstDash val="solid"/>
          </a:ln>
        </p:spPr>
      </p:sp>
      <p:sp>
        <p:nvSpPr>
          <p:cNvPr id="8" name="Shape 6"/>
          <p:cNvSpPr/>
          <p:nvPr/>
        </p:nvSpPr>
        <p:spPr>
          <a:xfrm>
            <a:off x="804672" y="2286000"/>
            <a:ext cx="1673352" cy="3566160"/>
          </a:xfrm>
          <a:prstGeom prst="roundRect">
            <a:avLst>
              <a:gd name="adj" fmla="val 4372"/>
            </a:avLst>
          </a:prstGeom>
          <a:solidFill>
            <a:srgbClr val="FFFFFF">
              <a:alpha val="0"/>
            </a:srgbClr>
          </a:solidFill>
          <a:ln w="16510">
            <a:solidFill>
              <a:srgbClr val="78AFA2"/>
            </a:solidFill>
            <a:prstDash val="dash"/>
          </a:ln>
        </p:spPr>
      </p:sp>
      <p:sp>
        <p:nvSpPr>
          <p:cNvPr id="9" name="Text 7"/>
          <p:cNvSpPr/>
          <p:nvPr/>
        </p:nvSpPr>
        <p:spPr>
          <a:xfrm>
            <a:off x="941832" y="3767328"/>
            <a:ext cx="1399032" cy="603504"/>
          </a:xfrm>
          <a:prstGeom prst="rect">
            <a:avLst/>
          </a:prstGeom>
          <a:noFill/>
          <a:ln/>
        </p:spPr>
        <p:txBody>
          <a:bodyPr wrap="square" lIns="0" tIns="0" rIns="0" bIns="0" rtlCol="0" anchor="ctr">
            <a:normAutofit/>
          </a:bodyPr>
          <a:lstStyle/>
          <a:p>
            <a:pPr algn="ctr" indent="0" marL="0">
              <a:buNone/>
            </a:pPr>
            <a:r>
              <a:rPr lang="en-US" sz="1100" b="1" dirty="0">
                <a:solidFill>
                  <a:srgbClr val="2E7D73"/>
                </a:solidFill>
                <a:latin typeface="Arial" pitchFamily="34" charset="0"/>
                <a:ea typeface="Arial" pitchFamily="34" charset="-122"/>
                <a:cs typeface="Arial" pitchFamily="34" charset="-120"/>
              </a:rPr>
              <a:t>ADD REAL SCREENSHOT</a:t>
            </a:r>
            <a:endParaRPr lang="en-US" sz="1100" dirty="0"/>
          </a:p>
          <a:p>
            <a:pPr algn="ctr" indent="0" marL="0">
              <a:buNone/>
            </a:pPr>
            <a:r>
              <a:rPr lang="en-US" sz="1100" b="1" dirty="0">
                <a:solidFill>
                  <a:srgbClr val="2E7D73"/>
                </a:solidFill>
                <a:latin typeface="Arial" pitchFamily="34" charset="0"/>
                <a:ea typeface="Arial" pitchFamily="34" charset="-122"/>
                <a:cs typeface="Arial" pitchFamily="34" charset="-120"/>
              </a:rPr>
              <a:t>HOME / CHECK-IN</a:t>
            </a:r>
            <a:endParaRPr lang="en-US" sz="1100" dirty="0"/>
          </a:p>
        </p:txBody>
      </p:sp>
      <p:sp>
        <p:nvSpPr>
          <p:cNvPr id="10" name="Shape 8"/>
          <p:cNvSpPr/>
          <p:nvPr/>
        </p:nvSpPr>
        <p:spPr>
          <a:xfrm>
            <a:off x="2980944" y="1947672"/>
            <a:ext cx="1965960" cy="4096512"/>
          </a:xfrm>
          <a:prstGeom prst="roundRect">
            <a:avLst>
              <a:gd name="adj" fmla="val 5581"/>
            </a:avLst>
          </a:prstGeom>
          <a:solidFill>
            <a:srgbClr val="12232B"/>
          </a:solidFill>
          <a:ln w="12700">
            <a:solidFill>
              <a:srgbClr val="12232B"/>
            </a:solidFill>
            <a:prstDash val="solid"/>
          </a:ln>
        </p:spPr>
      </p:sp>
      <p:sp>
        <p:nvSpPr>
          <p:cNvPr id="11" name="Shape 9"/>
          <p:cNvSpPr/>
          <p:nvPr/>
        </p:nvSpPr>
        <p:spPr>
          <a:xfrm>
            <a:off x="3054096" y="2057400"/>
            <a:ext cx="1819656" cy="3877056"/>
          </a:xfrm>
          <a:prstGeom prst="roundRect">
            <a:avLst>
              <a:gd name="adj" fmla="val 4020"/>
            </a:avLst>
          </a:prstGeom>
          <a:solidFill>
            <a:srgbClr val="FFFFFF"/>
          </a:solidFill>
          <a:ln w="12700">
            <a:solidFill>
              <a:srgbClr val="FFFFFF">
                <a:alpha val="0"/>
              </a:srgbClr>
            </a:solidFill>
            <a:prstDash val="solid"/>
          </a:ln>
        </p:spPr>
      </p:sp>
      <p:sp>
        <p:nvSpPr>
          <p:cNvPr id="12" name="Shape 10"/>
          <p:cNvSpPr/>
          <p:nvPr/>
        </p:nvSpPr>
        <p:spPr>
          <a:xfrm>
            <a:off x="3753612" y="2112264"/>
            <a:ext cx="420624" cy="64008"/>
          </a:xfrm>
          <a:prstGeom prst="roundRect">
            <a:avLst>
              <a:gd name="adj" fmla="val 114286"/>
            </a:avLst>
          </a:prstGeom>
          <a:solidFill>
            <a:srgbClr val="12232B"/>
          </a:solidFill>
          <a:ln w="12700">
            <a:solidFill>
              <a:srgbClr val="12232B">
                <a:alpha val="0"/>
              </a:srgbClr>
            </a:solidFill>
            <a:prstDash val="solid"/>
          </a:ln>
        </p:spPr>
      </p:sp>
      <p:sp>
        <p:nvSpPr>
          <p:cNvPr id="13" name="Shape 11"/>
          <p:cNvSpPr/>
          <p:nvPr/>
        </p:nvSpPr>
        <p:spPr>
          <a:xfrm>
            <a:off x="3127248" y="2286000"/>
            <a:ext cx="1673352" cy="3566160"/>
          </a:xfrm>
          <a:prstGeom prst="roundRect">
            <a:avLst>
              <a:gd name="adj" fmla="val 4372"/>
            </a:avLst>
          </a:prstGeom>
          <a:solidFill>
            <a:srgbClr val="FFFFFF">
              <a:alpha val="0"/>
            </a:srgbClr>
          </a:solidFill>
          <a:ln w="16510">
            <a:solidFill>
              <a:srgbClr val="78AFA2"/>
            </a:solidFill>
            <a:prstDash val="dash"/>
          </a:ln>
        </p:spPr>
      </p:sp>
      <p:sp>
        <p:nvSpPr>
          <p:cNvPr id="14" name="Text 12"/>
          <p:cNvSpPr/>
          <p:nvPr/>
        </p:nvSpPr>
        <p:spPr>
          <a:xfrm>
            <a:off x="3264408" y="3767328"/>
            <a:ext cx="1399032" cy="603504"/>
          </a:xfrm>
          <a:prstGeom prst="rect">
            <a:avLst/>
          </a:prstGeom>
          <a:noFill/>
          <a:ln/>
        </p:spPr>
        <p:txBody>
          <a:bodyPr wrap="square" lIns="0" tIns="0" rIns="0" bIns="0" rtlCol="0" anchor="ctr">
            <a:normAutofit/>
          </a:bodyPr>
          <a:lstStyle/>
          <a:p>
            <a:pPr algn="ctr" indent="0" marL="0">
              <a:buNone/>
            </a:pPr>
            <a:r>
              <a:rPr lang="en-US" sz="1100" b="1" dirty="0">
                <a:solidFill>
                  <a:srgbClr val="2E7D73"/>
                </a:solidFill>
                <a:latin typeface="Arial" pitchFamily="34" charset="0"/>
                <a:ea typeface="Arial" pitchFamily="34" charset="-122"/>
                <a:cs typeface="Arial" pitchFamily="34" charset="-120"/>
              </a:rPr>
              <a:t>ADD REAL SCREENSHOT</a:t>
            </a:r>
            <a:endParaRPr lang="en-US" sz="1100" dirty="0"/>
          </a:p>
          <a:p>
            <a:pPr algn="ctr" indent="0" marL="0">
              <a:buNone/>
            </a:pPr>
            <a:r>
              <a:rPr lang="en-US" sz="1100" b="1" dirty="0">
                <a:solidFill>
                  <a:srgbClr val="2E7D73"/>
                </a:solidFill>
                <a:latin typeface="Arial" pitchFamily="34" charset="0"/>
                <a:ea typeface="Arial" pitchFamily="34" charset="-122"/>
                <a:cs typeface="Arial" pitchFamily="34" charset="-120"/>
              </a:rPr>
              <a:t>LEARN / ONE SMALL STEP</a:t>
            </a:r>
            <a:endParaRPr lang="en-US" sz="1100" dirty="0"/>
          </a:p>
        </p:txBody>
      </p:sp>
      <p:sp>
        <p:nvSpPr>
          <p:cNvPr id="15" name="Shape 13"/>
          <p:cNvSpPr/>
          <p:nvPr/>
        </p:nvSpPr>
        <p:spPr>
          <a:xfrm>
            <a:off x="5303520" y="1947672"/>
            <a:ext cx="1965960" cy="4096512"/>
          </a:xfrm>
          <a:prstGeom prst="roundRect">
            <a:avLst>
              <a:gd name="adj" fmla="val 5581"/>
            </a:avLst>
          </a:prstGeom>
          <a:solidFill>
            <a:srgbClr val="12232B"/>
          </a:solidFill>
          <a:ln w="12700">
            <a:solidFill>
              <a:srgbClr val="12232B"/>
            </a:solidFill>
            <a:prstDash val="solid"/>
          </a:ln>
        </p:spPr>
      </p:sp>
      <p:sp>
        <p:nvSpPr>
          <p:cNvPr id="16" name="Shape 14"/>
          <p:cNvSpPr/>
          <p:nvPr/>
        </p:nvSpPr>
        <p:spPr>
          <a:xfrm>
            <a:off x="5376672" y="2057400"/>
            <a:ext cx="1819656" cy="3877056"/>
          </a:xfrm>
          <a:prstGeom prst="roundRect">
            <a:avLst>
              <a:gd name="adj" fmla="val 4020"/>
            </a:avLst>
          </a:prstGeom>
          <a:solidFill>
            <a:srgbClr val="FFFFFF"/>
          </a:solidFill>
          <a:ln w="12700">
            <a:solidFill>
              <a:srgbClr val="FFFFFF">
                <a:alpha val="0"/>
              </a:srgbClr>
            </a:solidFill>
            <a:prstDash val="solid"/>
          </a:ln>
        </p:spPr>
      </p:sp>
      <p:sp>
        <p:nvSpPr>
          <p:cNvPr id="17" name="Shape 15"/>
          <p:cNvSpPr/>
          <p:nvPr/>
        </p:nvSpPr>
        <p:spPr>
          <a:xfrm>
            <a:off x="6076188" y="2112264"/>
            <a:ext cx="420624" cy="64008"/>
          </a:xfrm>
          <a:prstGeom prst="roundRect">
            <a:avLst>
              <a:gd name="adj" fmla="val 114286"/>
            </a:avLst>
          </a:prstGeom>
          <a:solidFill>
            <a:srgbClr val="12232B"/>
          </a:solidFill>
          <a:ln w="12700">
            <a:solidFill>
              <a:srgbClr val="12232B">
                <a:alpha val="0"/>
              </a:srgbClr>
            </a:solidFill>
            <a:prstDash val="solid"/>
          </a:ln>
        </p:spPr>
      </p:sp>
      <p:sp>
        <p:nvSpPr>
          <p:cNvPr id="18" name="Shape 16"/>
          <p:cNvSpPr/>
          <p:nvPr/>
        </p:nvSpPr>
        <p:spPr>
          <a:xfrm>
            <a:off x="5449824" y="2286000"/>
            <a:ext cx="1673352" cy="3566160"/>
          </a:xfrm>
          <a:prstGeom prst="roundRect">
            <a:avLst>
              <a:gd name="adj" fmla="val 4372"/>
            </a:avLst>
          </a:prstGeom>
          <a:solidFill>
            <a:srgbClr val="FFFFFF">
              <a:alpha val="0"/>
            </a:srgbClr>
          </a:solidFill>
          <a:ln w="16510">
            <a:solidFill>
              <a:srgbClr val="78AFA2"/>
            </a:solidFill>
            <a:prstDash val="dash"/>
          </a:ln>
        </p:spPr>
      </p:sp>
      <p:sp>
        <p:nvSpPr>
          <p:cNvPr id="19" name="Text 17"/>
          <p:cNvSpPr/>
          <p:nvPr/>
        </p:nvSpPr>
        <p:spPr>
          <a:xfrm>
            <a:off x="5586984" y="3767328"/>
            <a:ext cx="1399032" cy="603504"/>
          </a:xfrm>
          <a:prstGeom prst="rect">
            <a:avLst/>
          </a:prstGeom>
          <a:noFill/>
          <a:ln/>
        </p:spPr>
        <p:txBody>
          <a:bodyPr wrap="square" lIns="0" tIns="0" rIns="0" bIns="0" rtlCol="0" anchor="ctr">
            <a:normAutofit/>
          </a:bodyPr>
          <a:lstStyle/>
          <a:p>
            <a:pPr algn="ctr" indent="0" marL="0">
              <a:buNone/>
            </a:pPr>
            <a:r>
              <a:rPr lang="en-US" sz="1100" b="1" dirty="0">
                <a:solidFill>
                  <a:srgbClr val="2E7D73"/>
                </a:solidFill>
                <a:latin typeface="Arial" pitchFamily="34" charset="0"/>
                <a:ea typeface="Arial" pitchFamily="34" charset="-122"/>
                <a:cs typeface="Arial" pitchFamily="34" charset="-120"/>
              </a:rPr>
              <a:t>ADD REAL SCREENSHOT</a:t>
            </a:r>
            <a:endParaRPr lang="en-US" sz="1100" dirty="0"/>
          </a:p>
          <a:p>
            <a:pPr algn="ctr" indent="0" marL="0">
              <a:buNone/>
            </a:pPr>
            <a:r>
              <a:rPr lang="en-US" sz="1100" b="1" dirty="0">
                <a:solidFill>
                  <a:srgbClr val="2E7D73"/>
                </a:solidFill>
                <a:latin typeface="Arial" pitchFamily="34" charset="0"/>
                <a:ea typeface="Arial" pitchFamily="34" charset="-122"/>
                <a:cs typeface="Arial" pitchFamily="34" charset="-120"/>
              </a:rPr>
              <a:t>CHAT / SUPPORT</a:t>
            </a:r>
            <a:endParaRPr lang="en-US" sz="1100" dirty="0"/>
          </a:p>
        </p:txBody>
      </p:sp>
      <p:sp>
        <p:nvSpPr>
          <p:cNvPr id="20" name="Shape 18"/>
          <p:cNvSpPr/>
          <p:nvPr/>
        </p:nvSpPr>
        <p:spPr>
          <a:xfrm>
            <a:off x="7754112" y="1947672"/>
            <a:ext cx="3749040" cy="4096512"/>
          </a:xfrm>
          <a:prstGeom prst="roundRect">
            <a:avLst>
              <a:gd name="adj" fmla="val 1951"/>
            </a:avLst>
          </a:prstGeom>
          <a:solidFill>
            <a:srgbClr val="12232B"/>
          </a:solidFill>
          <a:ln w="12700">
            <a:solidFill>
              <a:srgbClr val="12232B">
                <a:alpha val="0"/>
              </a:srgbClr>
            </a:solidFill>
            <a:prstDash val="solid"/>
          </a:ln>
        </p:spPr>
      </p:sp>
      <p:sp>
        <p:nvSpPr>
          <p:cNvPr id="21" name="Text 19"/>
          <p:cNvSpPr/>
          <p:nvPr/>
        </p:nvSpPr>
        <p:spPr>
          <a:xfrm>
            <a:off x="8065008" y="2304288"/>
            <a:ext cx="1828800" cy="228600"/>
          </a:xfrm>
          <a:prstGeom prst="rect">
            <a:avLst/>
          </a:prstGeom>
          <a:noFill/>
          <a:ln/>
        </p:spPr>
        <p:txBody>
          <a:bodyPr wrap="square" lIns="0" tIns="0" rIns="0" bIns="0" rtlCol="0" anchor="ctr">
            <a:normAutofit/>
          </a:bodyPr>
          <a:lstStyle/>
          <a:p>
            <a:pPr algn="l" indent="0" marL="0">
              <a:buNone/>
            </a:pPr>
            <a:r>
              <a:rPr lang="en-US" sz="1100" b="1" spc="130" kern="0" dirty="0">
                <a:solidFill>
                  <a:srgbClr val="78AFA2"/>
                </a:solidFill>
                <a:latin typeface="Arial" pitchFamily="34" charset="0"/>
                <a:ea typeface="Arial" pitchFamily="34" charset="-122"/>
                <a:cs typeface="Arial" pitchFamily="34" charset="-120"/>
              </a:rPr>
              <a:t>THE JOURNEY</a:t>
            </a:r>
            <a:endParaRPr lang="en-US" sz="1100" dirty="0"/>
          </a:p>
        </p:txBody>
      </p:sp>
      <p:sp>
        <p:nvSpPr>
          <p:cNvPr id="22" name="Text 20"/>
          <p:cNvSpPr/>
          <p:nvPr/>
        </p:nvSpPr>
        <p:spPr>
          <a:xfrm>
            <a:off x="8065008" y="2852928"/>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01</a:t>
            </a:r>
            <a:endParaRPr lang="en-US" sz="1200" dirty="0"/>
          </a:p>
        </p:txBody>
      </p:sp>
      <p:sp>
        <p:nvSpPr>
          <p:cNvPr id="23" name="Text 21"/>
          <p:cNvSpPr/>
          <p:nvPr/>
        </p:nvSpPr>
        <p:spPr>
          <a:xfrm>
            <a:off x="8549640" y="2816352"/>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Name what is happening</a:t>
            </a:r>
            <a:endParaRPr lang="en-US" sz="1600" dirty="0"/>
          </a:p>
        </p:txBody>
      </p:sp>
      <p:sp>
        <p:nvSpPr>
          <p:cNvPr id="24" name="Text 22"/>
          <p:cNvSpPr/>
          <p:nvPr/>
        </p:nvSpPr>
        <p:spPr>
          <a:xfrm>
            <a:off x="8065008" y="3456432"/>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02</a:t>
            </a:r>
            <a:endParaRPr lang="en-US" sz="1200" dirty="0"/>
          </a:p>
        </p:txBody>
      </p:sp>
      <p:sp>
        <p:nvSpPr>
          <p:cNvPr id="25" name="Text 23"/>
          <p:cNvSpPr/>
          <p:nvPr/>
        </p:nvSpPr>
        <p:spPr>
          <a:xfrm>
            <a:off x="8549640" y="3419856"/>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Try one small practice</a:t>
            </a:r>
            <a:endParaRPr lang="en-US" sz="1600" dirty="0"/>
          </a:p>
        </p:txBody>
      </p:sp>
      <p:sp>
        <p:nvSpPr>
          <p:cNvPr id="26" name="Text 24"/>
          <p:cNvSpPr/>
          <p:nvPr/>
        </p:nvSpPr>
        <p:spPr>
          <a:xfrm>
            <a:off x="8065008" y="4059936"/>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03</a:t>
            </a:r>
            <a:endParaRPr lang="en-US" sz="1200" dirty="0"/>
          </a:p>
        </p:txBody>
      </p:sp>
      <p:sp>
        <p:nvSpPr>
          <p:cNvPr id="27" name="Text 25"/>
          <p:cNvSpPr/>
          <p:nvPr/>
        </p:nvSpPr>
        <p:spPr>
          <a:xfrm>
            <a:off x="8549640" y="4023360"/>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Talk it through</a:t>
            </a:r>
            <a:endParaRPr lang="en-US" sz="1600" dirty="0"/>
          </a:p>
        </p:txBody>
      </p:sp>
      <p:sp>
        <p:nvSpPr>
          <p:cNvPr id="28" name="Text 26"/>
          <p:cNvSpPr/>
          <p:nvPr/>
        </p:nvSpPr>
        <p:spPr>
          <a:xfrm>
            <a:off x="8065008" y="4663440"/>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04</a:t>
            </a:r>
            <a:endParaRPr lang="en-US" sz="1200" dirty="0"/>
          </a:p>
        </p:txBody>
      </p:sp>
      <p:sp>
        <p:nvSpPr>
          <p:cNvPr id="29" name="Text 27"/>
          <p:cNvSpPr/>
          <p:nvPr/>
        </p:nvSpPr>
        <p:spPr>
          <a:xfrm>
            <a:off x="8549640" y="4626864"/>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Find support if needed</a:t>
            </a:r>
            <a:endParaRPr lang="en-US" sz="1600" dirty="0"/>
          </a:p>
        </p:txBody>
      </p:sp>
      <p:sp>
        <p:nvSpPr>
          <p:cNvPr id="30" name="Text 28"/>
          <p:cNvSpPr/>
          <p:nvPr/>
        </p:nvSpPr>
        <p:spPr>
          <a:xfrm>
            <a:off x="8065008" y="5440680"/>
            <a:ext cx="2852928" cy="292608"/>
          </a:xfrm>
          <a:prstGeom prst="rect">
            <a:avLst/>
          </a:prstGeom>
          <a:noFill/>
          <a:ln/>
        </p:spPr>
        <p:txBody>
          <a:bodyPr wrap="square" lIns="0" tIns="0" rIns="0" bIns="0" rtlCol="0" anchor="ctr">
            <a:normAutofit/>
          </a:bodyPr>
          <a:lstStyle/>
          <a:p>
            <a:pPr algn="l" indent="0" marL="0">
              <a:buNone/>
            </a:pPr>
            <a:r>
              <a:rPr lang="en-US" sz="1200" dirty="0">
                <a:solidFill>
                  <a:srgbClr val="78AFA2"/>
                </a:solidFill>
                <a:latin typeface="Arial" pitchFamily="34" charset="0"/>
                <a:ea typeface="Arial" pitchFamily="34" charset="-122"/>
                <a:cs typeface="Arial" pitchFamily="34" charset="-120"/>
              </a:rPr>
              <a:t>The user can change direction at any time.</a:t>
            </a:r>
            <a:endParaRPr lang="en-US" sz="1200" dirty="0"/>
          </a:p>
        </p:txBody>
      </p:sp>
      <p:sp>
        <p:nvSpPr>
          <p:cNvPr id="31" name="Text 2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B"/>
        </a:solidFill>
      </p:bgPr>
    </p:bg>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78AFA2"/>
                </a:solidFill>
                <a:latin typeface="Arial" pitchFamily="34" charset="0"/>
                <a:ea typeface="Arial" pitchFamily="34" charset="-122"/>
                <a:cs typeface="Arial" pitchFamily="34" charset="-120"/>
              </a:rPr>
              <a:t>04 / SAFETY BY DESIGN</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Arial" pitchFamily="34" charset="0"/>
                <a:ea typeface="Arial" pitchFamily="34" charset="-122"/>
                <a:cs typeface="Arial" pitchFamily="34" charset="-120"/>
              </a:rPr>
              <a:t>Safe support — not a replacement for people</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D2E2DE"/>
                </a:solidFill>
                <a:latin typeface="Arial" pitchFamily="34" charset="0"/>
                <a:ea typeface="Arial" pitchFamily="34" charset="-122"/>
                <a:cs typeface="Arial" pitchFamily="34" charset="-120"/>
              </a:rPr>
              <a:t>The app is helpful inside clear boundaries.</a:t>
            </a:r>
            <a:endParaRPr lang="en-US" sz="1300" dirty="0"/>
          </a:p>
        </p:txBody>
      </p:sp>
      <p:sp>
        <p:nvSpPr>
          <p:cNvPr id="5" name="Shape 3"/>
          <p:cNvSpPr/>
          <p:nvPr/>
        </p:nvSpPr>
        <p:spPr>
          <a:xfrm>
            <a:off x="658368" y="2084832"/>
            <a:ext cx="3310128" cy="3611880"/>
          </a:xfrm>
          <a:prstGeom prst="roundRect">
            <a:avLst>
              <a:gd name="adj" fmla="val 2210"/>
            </a:avLst>
          </a:prstGeom>
          <a:solidFill>
            <a:srgbClr val="D9776A"/>
          </a:solidFill>
          <a:ln w="12700">
            <a:solidFill>
              <a:srgbClr val="D9776A">
                <a:alpha val="0"/>
              </a:srgbClr>
            </a:solidFill>
            <a:prstDash val="solid"/>
          </a:ln>
        </p:spPr>
      </p:sp>
      <p:sp>
        <p:nvSpPr>
          <p:cNvPr id="6" name="Text 4"/>
          <p:cNvSpPr/>
          <p:nvPr/>
        </p:nvSpPr>
        <p:spPr>
          <a:xfrm>
            <a:off x="960120" y="2450592"/>
            <a:ext cx="2606040" cy="594360"/>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rial" pitchFamily="34" charset="0"/>
                <a:ea typeface="Arial" pitchFamily="34" charset="-122"/>
                <a:cs typeface="Arial" pitchFamily="34" charset="-120"/>
              </a:rPr>
              <a:t>WHAT MINDMATE</a:t>
            </a:r>
            <a:endParaRPr lang="en-US" sz="2400" dirty="0"/>
          </a:p>
          <a:p>
            <a:pPr algn="l" indent="0" marL="0">
              <a:buNone/>
            </a:pPr>
            <a:r>
              <a:rPr lang="en-US" sz="2400" b="1" dirty="0">
                <a:solidFill>
                  <a:srgbClr val="FFFFFF"/>
                </a:solidFill>
                <a:latin typeface="Arial" pitchFamily="34" charset="0"/>
                <a:ea typeface="Arial" pitchFamily="34" charset="-122"/>
                <a:cs typeface="Arial" pitchFamily="34" charset="-120"/>
              </a:rPr>
              <a:t>DOES</a:t>
            </a:r>
            <a:endParaRPr lang="en-US" sz="2400" dirty="0"/>
          </a:p>
        </p:txBody>
      </p:sp>
      <p:sp>
        <p:nvSpPr>
          <p:cNvPr id="7" name="Shape 5"/>
          <p:cNvSpPr/>
          <p:nvPr/>
        </p:nvSpPr>
        <p:spPr>
          <a:xfrm>
            <a:off x="960120" y="3474720"/>
            <a:ext cx="137160" cy="137160"/>
          </a:xfrm>
          <a:prstGeom prst="roundRect">
            <a:avLst>
              <a:gd name="adj" fmla="val 53333"/>
            </a:avLst>
          </a:prstGeom>
          <a:solidFill>
            <a:srgbClr val="F4E7D4"/>
          </a:solidFill>
          <a:ln w="12700">
            <a:solidFill>
              <a:srgbClr val="F4E7D4">
                <a:alpha val="0"/>
              </a:srgbClr>
            </a:solidFill>
            <a:prstDash val="solid"/>
          </a:ln>
        </p:spPr>
      </p:sp>
      <p:sp>
        <p:nvSpPr>
          <p:cNvPr id="8" name="Text 6"/>
          <p:cNvSpPr/>
          <p:nvPr/>
        </p:nvSpPr>
        <p:spPr>
          <a:xfrm>
            <a:off x="1280160" y="3383280"/>
            <a:ext cx="228600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Acknowledges difficult feelings first.</a:t>
            </a:r>
            <a:endParaRPr lang="en-US" sz="1400" dirty="0"/>
          </a:p>
        </p:txBody>
      </p:sp>
      <p:sp>
        <p:nvSpPr>
          <p:cNvPr id="9" name="Shape 7"/>
          <p:cNvSpPr/>
          <p:nvPr/>
        </p:nvSpPr>
        <p:spPr>
          <a:xfrm>
            <a:off x="960120" y="4050792"/>
            <a:ext cx="137160" cy="137160"/>
          </a:xfrm>
          <a:prstGeom prst="roundRect">
            <a:avLst>
              <a:gd name="adj" fmla="val 53333"/>
            </a:avLst>
          </a:prstGeom>
          <a:solidFill>
            <a:srgbClr val="F4E7D4"/>
          </a:solidFill>
          <a:ln w="12700">
            <a:solidFill>
              <a:srgbClr val="F4E7D4">
                <a:alpha val="0"/>
              </a:srgbClr>
            </a:solidFill>
            <a:prstDash val="solid"/>
          </a:ln>
        </p:spPr>
      </p:sp>
      <p:sp>
        <p:nvSpPr>
          <p:cNvPr id="10" name="Text 8"/>
          <p:cNvSpPr/>
          <p:nvPr/>
        </p:nvSpPr>
        <p:spPr>
          <a:xfrm>
            <a:off x="1280160" y="3959352"/>
            <a:ext cx="228600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Offers one practical next step.</a:t>
            </a:r>
            <a:endParaRPr lang="en-US" sz="1400" dirty="0"/>
          </a:p>
        </p:txBody>
      </p:sp>
      <p:sp>
        <p:nvSpPr>
          <p:cNvPr id="11" name="Shape 9"/>
          <p:cNvSpPr/>
          <p:nvPr/>
        </p:nvSpPr>
        <p:spPr>
          <a:xfrm>
            <a:off x="960120" y="4626864"/>
            <a:ext cx="137160" cy="137160"/>
          </a:xfrm>
          <a:prstGeom prst="roundRect">
            <a:avLst>
              <a:gd name="adj" fmla="val 53333"/>
            </a:avLst>
          </a:prstGeom>
          <a:solidFill>
            <a:srgbClr val="F4E7D4"/>
          </a:solidFill>
          <a:ln w="12700">
            <a:solidFill>
              <a:srgbClr val="F4E7D4">
                <a:alpha val="0"/>
              </a:srgbClr>
            </a:solidFill>
            <a:prstDash val="solid"/>
          </a:ln>
        </p:spPr>
      </p:sp>
      <p:sp>
        <p:nvSpPr>
          <p:cNvPr id="12" name="Text 10"/>
          <p:cNvSpPr/>
          <p:nvPr/>
        </p:nvSpPr>
        <p:spPr>
          <a:xfrm>
            <a:off x="1280160" y="4535424"/>
            <a:ext cx="228600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Keeps human support visible.</a:t>
            </a:r>
            <a:endParaRPr lang="en-US" sz="1400" dirty="0"/>
          </a:p>
        </p:txBody>
      </p:sp>
      <p:sp>
        <p:nvSpPr>
          <p:cNvPr id="13" name="Text 11"/>
          <p:cNvSpPr/>
          <p:nvPr/>
        </p:nvSpPr>
        <p:spPr>
          <a:xfrm>
            <a:off x="4645152" y="2450592"/>
            <a:ext cx="2560320" cy="256032"/>
          </a:xfrm>
          <a:prstGeom prst="rect">
            <a:avLst/>
          </a:prstGeom>
          <a:noFill/>
          <a:ln/>
        </p:spPr>
        <p:txBody>
          <a:bodyPr wrap="square" lIns="0" tIns="0" rIns="0" bIns="0" rtlCol="0" anchor="ctr">
            <a:normAutofit/>
          </a:bodyPr>
          <a:lstStyle/>
          <a:p>
            <a:pPr algn="l" indent="0" marL="0">
              <a:buNone/>
            </a:pPr>
            <a:r>
              <a:rPr lang="en-US" sz="1100" b="1" spc="130" kern="0" dirty="0">
                <a:solidFill>
                  <a:srgbClr val="78AFA2"/>
                </a:solidFill>
                <a:latin typeface="Arial" pitchFamily="34" charset="0"/>
                <a:ea typeface="Arial" pitchFamily="34" charset="-122"/>
                <a:cs typeface="Arial" pitchFamily="34" charset="-120"/>
              </a:rPr>
              <a:t>WHEN RISK APPEARS</a:t>
            </a:r>
            <a:endParaRPr lang="en-US" sz="1100" dirty="0"/>
          </a:p>
        </p:txBody>
      </p:sp>
      <p:sp>
        <p:nvSpPr>
          <p:cNvPr id="14" name="Text 12"/>
          <p:cNvSpPr/>
          <p:nvPr/>
        </p:nvSpPr>
        <p:spPr>
          <a:xfrm>
            <a:off x="4645152" y="2871216"/>
            <a:ext cx="5989320" cy="484632"/>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rial" pitchFamily="34" charset="0"/>
                <a:ea typeface="Arial" pitchFamily="34" charset="-122"/>
                <a:cs typeface="Arial" pitchFamily="34" charset="-120"/>
              </a:rPr>
              <a:t>A clear, trusted Emergency Support action appears.</a:t>
            </a:r>
            <a:endParaRPr lang="en-US" sz="2300" dirty="0"/>
          </a:p>
        </p:txBody>
      </p:sp>
      <p:sp>
        <p:nvSpPr>
          <p:cNvPr id="15" name="Shape 13"/>
          <p:cNvSpPr/>
          <p:nvPr/>
        </p:nvSpPr>
        <p:spPr>
          <a:xfrm>
            <a:off x="4645152" y="3657600"/>
            <a:ext cx="6309360" cy="0"/>
          </a:xfrm>
          <a:prstGeom prst="line">
            <a:avLst/>
          </a:prstGeom>
          <a:noFill/>
          <a:ln w="19050">
            <a:solidFill>
              <a:srgbClr val="2E7D73"/>
            </a:solidFill>
            <a:prstDash val="solid"/>
          </a:ln>
        </p:spPr>
      </p:sp>
      <p:sp>
        <p:nvSpPr>
          <p:cNvPr id="16" name="Text 14"/>
          <p:cNvSpPr/>
          <p:nvPr/>
        </p:nvSpPr>
        <p:spPr>
          <a:xfrm>
            <a:off x="4645152" y="3986784"/>
            <a:ext cx="2560320" cy="256032"/>
          </a:xfrm>
          <a:prstGeom prst="rect">
            <a:avLst/>
          </a:prstGeom>
          <a:noFill/>
          <a:ln/>
        </p:spPr>
        <p:txBody>
          <a:bodyPr wrap="square" lIns="0" tIns="0" rIns="0" bIns="0" rtlCol="0" anchor="ctr">
            <a:normAutofit/>
          </a:bodyPr>
          <a:lstStyle/>
          <a:p>
            <a:pPr algn="l" indent="0" marL="0">
              <a:buNone/>
            </a:pPr>
            <a:r>
              <a:rPr lang="en-US" sz="1100" b="1" spc="130" kern="0" dirty="0">
                <a:solidFill>
                  <a:srgbClr val="78AFA2"/>
                </a:solidFill>
                <a:latin typeface="Arial" pitchFamily="34" charset="0"/>
                <a:ea typeface="Arial" pitchFamily="34" charset="-122"/>
                <a:cs typeface="Arial" pitchFamily="34" charset="-120"/>
              </a:rPr>
              <a:t>WHAT IT WILL NOT DO</a:t>
            </a:r>
            <a:endParaRPr lang="en-US" sz="1100" dirty="0"/>
          </a:p>
        </p:txBody>
      </p:sp>
      <p:sp>
        <p:nvSpPr>
          <p:cNvPr id="17" name="Shape 15"/>
          <p:cNvSpPr/>
          <p:nvPr/>
        </p:nvSpPr>
        <p:spPr>
          <a:xfrm>
            <a:off x="4645152" y="4526280"/>
            <a:ext cx="137160" cy="137160"/>
          </a:xfrm>
          <a:prstGeom prst="roundRect">
            <a:avLst>
              <a:gd name="adj" fmla="val 53333"/>
            </a:avLst>
          </a:prstGeom>
          <a:solidFill>
            <a:srgbClr val="D9776A"/>
          </a:solidFill>
          <a:ln w="12700">
            <a:solidFill>
              <a:srgbClr val="D9776A">
                <a:alpha val="0"/>
              </a:srgbClr>
            </a:solidFill>
            <a:prstDash val="solid"/>
          </a:ln>
        </p:spPr>
      </p:sp>
      <p:sp>
        <p:nvSpPr>
          <p:cNvPr id="18" name="Text 16"/>
          <p:cNvSpPr/>
          <p:nvPr/>
        </p:nvSpPr>
        <p:spPr>
          <a:xfrm>
            <a:off x="4965192" y="4434840"/>
            <a:ext cx="214884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Diagnose or prescribe.</a:t>
            </a:r>
            <a:endParaRPr lang="en-US" sz="1400" dirty="0"/>
          </a:p>
        </p:txBody>
      </p:sp>
      <p:sp>
        <p:nvSpPr>
          <p:cNvPr id="19" name="Shape 17"/>
          <p:cNvSpPr/>
          <p:nvPr/>
        </p:nvSpPr>
        <p:spPr>
          <a:xfrm>
            <a:off x="7479792" y="4526280"/>
            <a:ext cx="137160" cy="137160"/>
          </a:xfrm>
          <a:prstGeom prst="roundRect">
            <a:avLst>
              <a:gd name="adj" fmla="val 53333"/>
            </a:avLst>
          </a:prstGeom>
          <a:solidFill>
            <a:srgbClr val="D9776A"/>
          </a:solidFill>
          <a:ln w="12700">
            <a:solidFill>
              <a:srgbClr val="D9776A">
                <a:alpha val="0"/>
              </a:srgbClr>
            </a:solidFill>
            <a:prstDash val="solid"/>
          </a:ln>
        </p:spPr>
      </p:sp>
      <p:sp>
        <p:nvSpPr>
          <p:cNvPr id="20" name="Text 18"/>
          <p:cNvSpPr/>
          <p:nvPr/>
        </p:nvSpPr>
        <p:spPr>
          <a:xfrm>
            <a:off x="7799832" y="4434840"/>
            <a:ext cx="292608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Pretend to be human or a therapist.</a:t>
            </a:r>
            <a:endParaRPr lang="en-US" sz="1400" dirty="0"/>
          </a:p>
        </p:txBody>
      </p:sp>
      <p:sp>
        <p:nvSpPr>
          <p:cNvPr id="21" name="Shape 19"/>
          <p:cNvSpPr/>
          <p:nvPr/>
        </p:nvSpPr>
        <p:spPr>
          <a:xfrm>
            <a:off x="4645152" y="5120640"/>
            <a:ext cx="137160" cy="137160"/>
          </a:xfrm>
          <a:prstGeom prst="roundRect">
            <a:avLst>
              <a:gd name="adj" fmla="val 53333"/>
            </a:avLst>
          </a:prstGeom>
          <a:solidFill>
            <a:srgbClr val="D9776A"/>
          </a:solidFill>
          <a:ln w="12700">
            <a:solidFill>
              <a:srgbClr val="D9776A">
                <a:alpha val="0"/>
              </a:srgbClr>
            </a:solidFill>
            <a:prstDash val="solid"/>
          </a:ln>
        </p:spPr>
      </p:sp>
      <p:sp>
        <p:nvSpPr>
          <p:cNvPr id="22" name="Text 20"/>
          <p:cNvSpPr/>
          <p:nvPr/>
        </p:nvSpPr>
        <p:spPr>
          <a:xfrm>
            <a:off x="4965192" y="5029200"/>
            <a:ext cx="470916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Autonomously escalate or choose random links.</a:t>
            </a:r>
            <a:endParaRPr lang="en-US" sz="1400" dirty="0"/>
          </a:p>
        </p:txBody>
      </p:sp>
      <p:sp>
        <p:nvSpPr>
          <p:cNvPr id="23" name="Text 21"/>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05 / PRIVACY AND CONTROL</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Private by default. Simple by design.</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People should understand where their most personal conversations go.</a:t>
            </a:r>
            <a:endParaRPr lang="en-US" sz="1300" dirty="0"/>
          </a:p>
        </p:txBody>
      </p:sp>
      <p:sp>
        <p:nvSpPr>
          <p:cNvPr id="5" name="Shape 3"/>
          <p:cNvSpPr/>
          <p:nvPr/>
        </p:nvSpPr>
        <p:spPr>
          <a:xfrm>
            <a:off x="658368" y="2011680"/>
            <a:ext cx="6784848" cy="3767328"/>
          </a:xfrm>
          <a:prstGeom prst="roundRect">
            <a:avLst>
              <a:gd name="adj" fmla="val 1942"/>
            </a:avLst>
          </a:prstGeom>
          <a:solidFill>
            <a:srgbClr val="12232B"/>
          </a:solidFill>
          <a:ln w="12700">
            <a:solidFill>
              <a:srgbClr val="12232B">
                <a:alpha val="0"/>
              </a:srgbClr>
            </a:solidFill>
            <a:prstDash val="solid"/>
          </a:ln>
        </p:spPr>
      </p:sp>
      <p:sp>
        <p:nvSpPr>
          <p:cNvPr id="6" name="Shape 4"/>
          <p:cNvSpPr/>
          <p:nvPr/>
        </p:nvSpPr>
        <p:spPr>
          <a:xfrm>
            <a:off x="987552" y="2560320"/>
            <a:ext cx="182880" cy="182880"/>
          </a:xfrm>
          <a:prstGeom prst="roundRect">
            <a:avLst>
              <a:gd name="adj" fmla="val 40000"/>
            </a:avLst>
          </a:prstGeom>
          <a:solidFill>
            <a:srgbClr val="78AFA2"/>
          </a:solidFill>
          <a:ln w="12700">
            <a:solidFill>
              <a:srgbClr val="78AFA2">
                <a:alpha val="0"/>
              </a:srgbClr>
            </a:solidFill>
            <a:prstDash val="solid"/>
          </a:ln>
        </p:spPr>
      </p:sp>
      <p:sp>
        <p:nvSpPr>
          <p:cNvPr id="7" name="Text 5"/>
          <p:cNvSpPr/>
          <p:nvPr/>
        </p:nvSpPr>
        <p:spPr>
          <a:xfrm>
            <a:off x="1417320" y="2487168"/>
            <a:ext cx="5413248" cy="274320"/>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YOUR CHATS STAY ON YOUR DEVICE</a:t>
            </a:r>
            <a:endParaRPr lang="en-US" sz="1500" dirty="0"/>
          </a:p>
        </p:txBody>
      </p:sp>
      <p:sp>
        <p:nvSpPr>
          <p:cNvPr id="8" name="Text 6"/>
          <p:cNvSpPr/>
          <p:nvPr/>
        </p:nvSpPr>
        <p:spPr>
          <a:xfrm>
            <a:off x="1417320" y="2825496"/>
            <a:ext cx="5257800" cy="365760"/>
          </a:xfrm>
          <a:prstGeom prst="rect">
            <a:avLst/>
          </a:prstGeom>
          <a:noFill/>
          <a:ln/>
        </p:spPr>
        <p:txBody>
          <a:bodyPr wrap="square" lIns="0" tIns="0" rIns="0" bIns="0" rtlCol="0" anchor="ctr">
            <a:normAutofit/>
          </a:bodyPr>
          <a:lstStyle/>
          <a:p>
            <a:pPr algn="l" indent="0" marL="0">
              <a:buNone/>
            </a:pPr>
            <a:r>
              <a:rPr lang="en-US" sz="1200" dirty="0">
                <a:solidFill>
                  <a:srgbClr val="D2E2DE"/>
                </a:solidFill>
                <a:latin typeface="Arial" pitchFamily="34" charset="0"/>
                <a:ea typeface="Arial" pitchFamily="34" charset="-122"/>
                <a:cs typeface="Arial" pitchFamily="34" charset="-120"/>
              </a:rPr>
              <a:t>Saved conversations are kept locally instead of becoming a server-side chat archive.</a:t>
            </a:r>
            <a:endParaRPr lang="en-US" sz="1200" dirty="0"/>
          </a:p>
        </p:txBody>
      </p:sp>
      <p:sp>
        <p:nvSpPr>
          <p:cNvPr id="9" name="Shape 7"/>
          <p:cNvSpPr/>
          <p:nvPr/>
        </p:nvSpPr>
        <p:spPr>
          <a:xfrm>
            <a:off x="987552" y="3520440"/>
            <a:ext cx="182880" cy="182880"/>
          </a:xfrm>
          <a:prstGeom prst="roundRect">
            <a:avLst>
              <a:gd name="adj" fmla="val 40000"/>
            </a:avLst>
          </a:prstGeom>
          <a:solidFill>
            <a:srgbClr val="D9776A"/>
          </a:solidFill>
          <a:ln w="12700">
            <a:solidFill>
              <a:srgbClr val="D9776A">
                <a:alpha val="0"/>
              </a:srgbClr>
            </a:solidFill>
            <a:prstDash val="solid"/>
          </a:ln>
        </p:spPr>
      </p:sp>
      <p:sp>
        <p:nvSpPr>
          <p:cNvPr id="10" name="Text 8"/>
          <p:cNvSpPr/>
          <p:nvPr/>
        </p:nvSpPr>
        <p:spPr>
          <a:xfrm>
            <a:off x="1417320" y="3447288"/>
            <a:ext cx="5413248" cy="274320"/>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YOU CONTROL WHAT REMAINS</a:t>
            </a:r>
            <a:endParaRPr lang="en-US" sz="1500" dirty="0"/>
          </a:p>
        </p:txBody>
      </p:sp>
      <p:sp>
        <p:nvSpPr>
          <p:cNvPr id="11" name="Text 9"/>
          <p:cNvSpPr/>
          <p:nvPr/>
        </p:nvSpPr>
        <p:spPr>
          <a:xfrm>
            <a:off x="1417320" y="3785616"/>
            <a:ext cx="5257800" cy="365760"/>
          </a:xfrm>
          <a:prstGeom prst="rect">
            <a:avLst/>
          </a:prstGeom>
          <a:noFill/>
          <a:ln/>
        </p:spPr>
        <p:txBody>
          <a:bodyPr wrap="square" lIns="0" tIns="0" rIns="0" bIns="0" rtlCol="0" anchor="ctr">
            <a:normAutofit/>
          </a:bodyPr>
          <a:lstStyle/>
          <a:p>
            <a:pPr algn="l" indent="0" marL="0">
              <a:buNone/>
            </a:pPr>
            <a:r>
              <a:rPr lang="en-US" sz="1200" dirty="0">
                <a:solidFill>
                  <a:srgbClr val="D2E2DE"/>
                </a:solidFill>
                <a:latin typeface="Arial" pitchFamily="34" charset="0"/>
                <a:ea typeface="Arial" pitchFamily="34" charset="-122"/>
                <a:cs typeface="Arial" pitchFamily="34" charset="-120"/>
              </a:rPr>
              <a:t>Start a new chat, delete one conversation, or clear Chat history.</a:t>
            </a:r>
            <a:endParaRPr lang="en-US" sz="1200" dirty="0"/>
          </a:p>
        </p:txBody>
      </p:sp>
      <p:sp>
        <p:nvSpPr>
          <p:cNvPr id="12" name="Shape 10"/>
          <p:cNvSpPr/>
          <p:nvPr/>
        </p:nvSpPr>
        <p:spPr>
          <a:xfrm>
            <a:off x="987552" y="4480560"/>
            <a:ext cx="182880" cy="182880"/>
          </a:xfrm>
          <a:prstGeom prst="roundRect">
            <a:avLst>
              <a:gd name="adj" fmla="val 40000"/>
            </a:avLst>
          </a:prstGeom>
          <a:solidFill>
            <a:srgbClr val="78AFA2"/>
          </a:solidFill>
          <a:ln w="12700">
            <a:solidFill>
              <a:srgbClr val="78AFA2">
                <a:alpha val="0"/>
              </a:srgbClr>
            </a:solidFill>
            <a:prstDash val="solid"/>
          </a:ln>
        </p:spPr>
      </p:sp>
      <p:sp>
        <p:nvSpPr>
          <p:cNvPr id="13" name="Text 11"/>
          <p:cNvSpPr/>
          <p:nvPr/>
        </p:nvSpPr>
        <p:spPr>
          <a:xfrm>
            <a:off x="1417320" y="4407408"/>
            <a:ext cx="5413248" cy="274320"/>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SMALL BY DESIGN</a:t>
            </a:r>
            <a:endParaRPr lang="en-US" sz="1500" dirty="0"/>
          </a:p>
        </p:txBody>
      </p:sp>
      <p:sp>
        <p:nvSpPr>
          <p:cNvPr id="14" name="Text 12"/>
          <p:cNvSpPr/>
          <p:nvPr/>
        </p:nvSpPr>
        <p:spPr>
          <a:xfrm>
            <a:off x="1417320" y="4745736"/>
            <a:ext cx="5257800" cy="365760"/>
          </a:xfrm>
          <a:prstGeom prst="rect">
            <a:avLst/>
          </a:prstGeom>
          <a:noFill/>
          <a:ln/>
        </p:spPr>
        <p:txBody>
          <a:bodyPr wrap="square" lIns="0" tIns="0" rIns="0" bIns="0" rtlCol="0" anchor="ctr">
            <a:normAutofit/>
          </a:bodyPr>
          <a:lstStyle/>
          <a:p>
            <a:pPr algn="l" indent="0" marL="0">
              <a:buNone/>
            </a:pPr>
            <a:r>
              <a:rPr lang="en-US" sz="1200" dirty="0">
                <a:solidFill>
                  <a:srgbClr val="D2E2DE"/>
                </a:solidFill>
                <a:latin typeface="Arial" pitchFamily="34" charset="0"/>
                <a:ea typeface="Arial" pitchFamily="34" charset="-122"/>
                <a:cs typeface="Arial" pitchFamily="34" charset="-120"/>
              </a:rPr>
              <a:t>History has sensible limits so storage stays predictable and private.</a:t>
            </a:r>
            <a:endParaRPr lang="en-US" sz="1200" dirty="0"/>
          </a:p>
        </p:txBody>
      </p:sp>
      <p:sp>
        <p:nvSpPr>
          <p:cNvPr id="15" name="Shape 13"/>
          <p:cNvSpPr/>
          <p:nvPr/>
        </p:nvSpPr>
        <p:spPr>
          <a:xfrm>
            <a:off x="8321040" y="1874520"/>
            <a:ext cx="2148840" cy="4251960"/>
          </a:xfrm>
          <a:prstGeom prst="roundRect">
            <a:avLst>
              <a:gd name="adj" fmla="val 5106"/>
            </a:avLst>
          </a:prstGeom>
          <a:solidFill>
            <a:srgbClr val="12232B"/>
          </a:solidFill>
          <a:ln w="12700">
            <a:solidFill>
              <a:srgbClr val="12232B"/>
            </a:solidFill>
            <a:prstDash val="solid"/>
          </a:ln>
        </p:spPr>
      </p:sp>
      <p:sp>
        <p:nvSpPr>
          <p:cNvPr id="16" name="Shape 14"/>
          <p:cNvSpPr/>
          <p:nvPr/>
        </p:nvSpPr>
        <p:spPr>
          <a:xfrm>
            <a:off x="8394192" y="1984248"/>
            <a:ext cx="2002536" cy="4032504"/>
          </a:xfrm>
          <a:prstGeom prst="roundRect">
            <a:avLst>
              <a:gd name="adj" fmla="val 3653"/>
            </a:avLst>
          </a:prstGeom>
          <a:solidFill>
            <a:srgbClr val="FFFFFF"/>
          </a:solidFill>
          <a:ln w="12700">
            <a:solidFill>
              <a:srgbClr val="FFFFFF">
                <a:alpha val="0"/>
              </a:srgbClr>
            </a:solidFill>
            <a:prstDash val="solid"/>
          </a:ln>
        </p:spPr>
      </p:sp>
      <p:sp>
        <p:nvSpPr>
          <p:cNvPr id="17" name="Shape 15"/>
          <p:cNvSpPr/>
          <p:nvPr/>
        </p:nvSpPr>
        <p:spPr>
          <a:xfrm>
            <a:off x="9185148" y="2039112"/>
            <a:ext cx="420624" cy="64008"/>
          </a:xfrm>
          <a:prstGeom prst="roundRect">
            <a:avLst>
              <a:gd name="adj" fmla="val 114286"/>
            </a:avLst>
          </a:prstGeom>
          <a:solidFill>
            <a:srgbClr val="12232B"/>
          </a:solidFill>
          <a:ln w="12700">
            <a:solidFill>
              <a:srgbClr val="12232B">
                <a:alpha val="0"/>
              </a:srgbClr>
            </a:solidFill>
            <a:prstDash val="solid"/>
          </a:ln>
        </p:spPr>
      </p:sp>
      <p:sp>
        <p:nvSpPr>
          <p:cNvPr id="18" name="Shape 16"/>
          <p:cNvSpPr/>
          <p:nvPr/>
        </p:nvSpPr>
        <p:spPr>
          <a:xfrm>
            <a:off x="8467344" y="2212848"/>
            <a:ext cx="1856232" cy="3721608"/>
          </a:xfrm>
          <a:prstGeom prst="roundRect">
            <a:avLst>
              <a:gd name="adj" fmla="val 3941"/>
            </a:avLst>
          </a:prstGeom>
          <a:solidFill>
            <a:srgbClr val="FFFFFF">
              <a:alpha val="0"/>
            </a:srgbClr>
          </a:solidFill>
          <a:ln w="16510">
            <a:solidFill>
              <a:srgbClr val="78AFA2"/>
            </a:solidFill>
            <a:prstDash val="dash"/>
          </a:ln>
        </p:spPr>
      </p:sp>
      <p:sp>
        <p:nvSpPr>
          <p:cNvPr id="19" name="Text 17"/>
          <p:cNvSpPr/>
          <p:nvPr/>
        </p:nvSpPr>
        <p:spPr>
          <a:xfrm>
            <a:off x="8604504" y="3771900"/>
            <a:ext cx="1581912" cy="603504"/>
          </a:xfrm>
          <a:prstGeom prst="rect">
            <a:avLst/>
          </a:prstGeom>
          <a:noFill/>
          <a:ln/>
        </p:spPr>
        <p:txBody>
          <a:bodyPr wrap="square" lIns="0" tIns="0" rIns="0" bIns="0" rtlCol="0" anchor="ctr">
            <a:normAutofit/>
          </a:bodyPr>
          <a:lstStyle/>
          <a:p>
            <a:pPr algn="ctr" indent="0" marL="0">
              <a:buNone/>
            </a:pPr>
            <a:r>
              <a:rPr lang="en-US" sz="1100" b="1" dirty="0">
                <a:solidFill>
                  <a:srgbClr val="2E7D73"/>
                </a:solidFill>
                <a:latin typeface="Arial" pitchFamily="34" charset="0"/>
                <a:ea typeface="Arial" pitchFamily="34" charset="-122"/>
                <a:cs typeface="Arial" pitchFamily="34" charset="-120"/>
              </a:rPr>
              <a:t>ADD REAL SCREENSHOT</a:t>
            </a:r>
            <a:endParaRPr lang="en-US" sz="1100" dirty="0"/>
          </a:p>
          <a:p>
            <a:pPr algn="ctr" indent="0" marL="0">
              <a:buNone/>
            </a:pPr>
            <a:r>
              <a:rPr lang="en-US" sz="1100" b="1" dirty="0">
                <a:solidFill>
                  <a:srgbClr val="2E7D73"/>
                </a:solidFill>
                <a:latin typeface="Arial" pitchFamily="34" charset="0"/>
                <a:ea typeface="Arial" pitchFamily="34" charset="-122"/>
                <a:cs typeface="Arial" pitchFamily="34" charset="-120"/>
              </a:rPr>
              <a:t>CHAT HISTORY</a:t>
            </a:r>
            <a:endParaRPr lang="en-US" sz="1100" dirty="0"/>
          </a:p>
        </p:txBody>
      </p:sp>
      <p:sp>
        <p:nvSpPr>
          <p:cNvPr id="20" name="Text 18"/>
          <p:cNvSpPr/>
          <p:nvPr/>
        </p:nvSpPr>
        <p:spPr>
          <a:xfrm>
            <a:off x="7699248" y="5897880"/>
            <a:ext cx="3657600" cy="237744"/>
          </a:xfrm>
          <a:prstGeom prst="rect">
            <a:avLst/>
          </a:prstGeom>
          <a:noFill/>
          <a:ln/>
        </p:spPr>
        <p:txBody>
          <a:bodyPr wrap="square" lIns="0" tIns="0" rIns="0" bIns="0" rtlCol="0" anchor="ctr">
            <a:normAutofit/>
          </a:bodyPr>
          <a:lstStyle/>
          <a:p>
            <a:pPr algn="ctr" indent="0" marL="0">
              <a:buNone/>
            </a:pPr>
            <a:r>
              <a:rPr lang="en-US" sz="1200" b="1" dirty="0">
                <a:solidFill>
                  <a:srgbClr val="2E7D73"/>
                </a:solidFill>
                <a:latin typeface="Arial" pitchFamily="34" charset="0"/>
                <a:ea typeface="Arial" pitchFamily="34" charset="-122"/>
                <a:cs typeface="Arial" pitchFamily="34" charset="-120"/>
              </a:rPr>
              <a:t>No technical jargon needed.</a:t>
            </a:r>
            <a:endParaRPr lang="en-US" sz="1200" dirty="0"/>
          </a:p>
        </p:txBody>
      </p:sp>
      <p:sp>
        <p:nvSpPr>
          <p:cNvPr id="21" name="Text 1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06 / READY TO DEMONSTRATE</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Built, tested, and ready for a real user journey</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These are simple proof points — not a programming lecture.</a:t>
            </a:r>
            <a:endParaRPr lang="en-US" sz="1300" dirty="0"/>
          </a:p>
        </p:txBody>
      </p:sp>
      <p:sp>
        <p:nvSpPr>
          <p:cNvPr id="5" name="Shape 3"/>
          <p:cNvSpPr/>
          <p:nvPr/>
        </p:nvSpPr>
        <p:spPr>
          <a:xfrm>
            <a:off x="658368" y="2121408"/>
            <a:ext cx="3401568" cy="2240280"/>
          </a:xfrm>
          <a:prstGeom prst="roundRect">
            <a:avLst>
              <a:gd name="adj" fmla="val 3265"/>
            </a:avLst>
          </a:prstGeom>
          <a:solidFill>
            <a:srgbClr val="D9776A"/>
          </a:solidFill>
          <a:ln w="12700">
            <a:solidFill>
              <a:srgbClr val="D9776A">
                <a:alpha val="0"/>
              </a:srgbClr>
            </a:solidFill>
            <a:prstDash val="solid"/>
          </a:ln>
        </p:spPr>
      </p:sp>
      <p:sp>
        <p:nvSpPr>
          <p:cNvPr id="6" name="Text 4"/>
          <p:cNvSpPr/>
          <p:nvPr/>
        </p:nvSpPr>
        <p:spPr>
          <a:xfrm>
            <a:off x="914400" y="2487168"/>
            <a:ext cx="2834640"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READY ON ANDROID</a:t>
            </a:r>
            <a:endParaRPr lang="en-US" sz="1400" dirty="0"/>
          </a:p>
        </p:txBody>
      </p:sp>
      <p:sp>
        <p:nvSpPr>
          <p:cNvPr id="7" name="Text 5"/>
          <p:cNvSpPr/>
          <p:nvPr/>
        </p:nvSpPr>
        <p:spPr>
          <a:xfrm>
            <a:off x="914400" y="3090672"/>
            <a:ext cx="2816352" cy="69494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A signed release APK is ready to install and demo.</a:t>
            </a:r>
            <a:endParaRPr lang="en-US" sz="1600" dirty="0"/>
          </a:p>
        </p:txBody>
      </p:sp>
      <p:sp>
        <p:nvSpPr>
          <p:cNvPr id="8" name="Shape 6"/>
          <p:cNvSpPr/>
          <p:nvPr/>
        </p:nvSpPr>
        <p:spPr>
          <a:xfrm>
            <a:off x="4425696" y="2121408"/>
            <a:ext cx="3401568" cy="2240280"/>
          </a:xfrm>
          <a:prstGeom prst="roundRect">
            <a:avLst>
              <a:gd name="adj" fmla="val 3265"/>
            </a:avLst>
          </a:prstGeom>
          <a:solidFill>
            <a:srgbClr val="2E7D73"/>
          </a:solidFill>
          <a:ln w="12700">
            <a:solidFill>
              <a:srgbClr val="2E7D73">
                <a:alpha val="0"/>
              </a:srgbClr>
            </a:solidFill>
            <a:prstDash val="solid"/>
          </a:ln>
        </p:spPr>
      </p:sp>
      <p:sp>
        <p:nvSpPr>
          <p:cNvPr id="9" name="Text 7"/>
          <p:cNvSpPr/>
          <p:nvPr/>
        </p:nvSpPr>
        <p:spPr>
          <a:xfrm>
            <a:off x="4681728" y="2487168"/>
            <a:ext cx="2834640"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LIVE ON THE WEB</a:t>
            </a:r>
            <a:endParaRPr lang="en-US" sz="1400" dirty="0"/>
          </a:p>
        </p:txBody>
      </p:sp>
      <p:sp>
        <p:nvSpPr>
          <p:cNvPr id="10" name="Text 8"/>
          <p:cNvSpPr/>
          <p:nvPr/>
        </p:nvSpPr>
        <p:spPr>
          <a:xfrm>
            <a:off x="4681728" y="3090672"/>
            <a:ext cx="2816352" cy="69494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The same experience is hosted at a shareable URL.</a:t>
            </a:r>
            <a:endParaRPr lang="en-US" sz="1600" dirty="0"/>
          </a:p>
        </p:txBody>
      </p:sp>
      <p:sp>
        <p:nvSpPr>
          <p:cNvPr id="11" name="Shape 9"/>
          <p:cNvSpPr/>
          <p:nvPr/>
        </p:nvSpPr>
        <p:spPr>
          <a:xfrm>
            <a:off x="8193024" y="2121408"/>
            <a:ext cx="3401568" cy="2240280"/>
          </a:xfrm>
          <a:prstGeom prst="roundRect">
            <a:avLst>
              <a:gd name="adj" fmla="val 3265"/>
            </a:avLst>
          </a:prstGeom>
          <a:solidFill>
            <a:srgbClr val="78AFA2"/>
          </a:solidFill>
          <a:ln w="12700">
            <a:solidFill>
              <a:srgbClr val="78AFA2">
                <a:alpha val="0"/>
              </a:srgbClr>
            </a:solidFill>
            <a:prstDash val="solid"/>
          </a:ln>
        </p:spPr>
      </p:sp>
      <p:sp>
        <p:nvSpPr>
          <p:cNvPr id="12" name="Text 10"/>
          <p:cNvSpPr/>
          <p:nvPr/>
        </p:nvSpPr>
        <p:spPr>
          <a:xfrm>
            <a:off x="8449056" y="2487168"/>
            <a:ext cx="2834640"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CORE JOURNEYS VERIFIED</a:t>
            </a:r>
            <a:endParaRPr lang="en-US" sz="1400" dirty="0"/>
          </a:p>
        </p:txBody>
      </p:sp>
      <p:sp>
        <p:nvSpPr>
          <p:cNvPr id="13" name="Text 11"/>
          <p:cNvSpPr/>
          <p:nvPr/>
        </p:nvSpPr>
        <p:spPr>
          <a:xfrm>
            <a:off x="8449056" y="3090672"/>
            <a:ext cx="2816352" cy="69494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Chat, Learn, history, safety, and narrow layouts were tested.</a:t>
            </a:r>
            <a:endParaRPr lang="en-US" sz="1600" dirty="0"/>
          </a:p>
        </p:txBody>
      </p:sp>
      <p:sp>
        <p:nvSpPr>
          <p:cNvPr id="14" name="Shape 12"/>
          <p:cNvSpPr/>
          <p:nvPr/>
        </p:nvSpPr>
        <p:spPr>
          <a:xfrm>
            <a:off x="1097280" y="4846320"/>
            <a:ext cx="9966960" cy="713232"/>
          </a:xfrm>
          <a:prstGeom prst="roundRect">
            <a:avLst>
              <a:gd name="adj" fmla="val 10256"/>
            </a:avLst>
          </a:prstGeom>
          <a:solidFill>
            <a:srgbClr val="F4E7D4"/>
          </a:solidFill>
          <a:ln w="12700">
            <a:solidFill>
              <a:srgbClr val="F4E7D4">
                <a:alpha val="0"/>
              </a:srgbClr>
            </a:solidFill>
            <a:prstDash val="solid"/>
          </a:ln>
        </p:spPr>
      </p:sp>
      <p:sp>
        <p:nvSpPr>
          <p:cNvPr id="15" name="Text 13"/>
          <p:cNvSpPr/>
          <p:nvPr/>
        </p:nvSpPr>
        <p:spPr>
          <a:xfrm>
            <a:off x="1371600" y="5038344"/>
            <a:ext cx="9418320" cy="274320"/>
          </a:xfrm>
          <a:prstGeom prst="rect">
            <a:avLst/>
          </a:prstGeom>
          <a:noFill/>
          <a:ln/>
        </p:spPr>
        <p:txBody>
          <a:bodyPr wrap="square" lIns="0" tIns="0" rIns="0" bIns="0" rtlCol="0" anchor="ctr">
            <a:normAutofit/>
          </a:bodyPr>
          <a:lstStyle/>
          <a:p>
            <a:pPr algn="ctr" indent="0" marL="0">
              <a:buNone/>
            </a:pPr>
            <a:r>
              <a:rPr lang="en-US" sz="1600" b="1" dirty="0">
                <a:solidFill>
                  <a:srgbClr val="12232B"/>
                </a:solidFill>
                <a:latin typeface="Arial" pitchFamily="34" charset="0"/>
                <a:ea typeface="Arial" pitchFamily="34" charset="-122"/>
                <a:cs typeface="Arial" pitchFamily="34" charset="-120"/>
              </a:rPr>
              <a:t>53/53 automated checks passed  ·  plus manual testing on Chrome and Android</a:t>
            </a:r>
            <a:endParaRPr lang="en-US" sz="1600" dirty="0"/>
          </a:p>
        </p:txBody>
      </p:sp>
      <p:sp>
        <p:nvSpPr>
          <p:cNvPr id="16" name="Text 14"/>
          <p:cNvSpPr/>
          <p:nvPr/>
        </p:nvSpPr>
        <p:spPr>
          <a:xfrm>
            <a:off x="2212848" y="5815584"/>
            <a:ext cx="7772400" cy="256032"/>
          </a:xfrm>
          <a:prstGeom prst="rect">
            <a:avLst/>
          </a:prstGeom>
          <a:noFill/>
          <a:ln/>
        </p:spPr>
        <p:txBody>
          <a:bodyPr wrap="square" lIns="0" tIns="0" rIns="0" bIns="0" rtlCol="0" anchor="ctr">
            <a:normAutofit/>
          </a:bodyPr>
          <a:lstStyle/>
          <a:p>
            <a:pPr algn="ctr" indent="0" marL="0">
              <a:buNone/>
            </a:pPr>
            <a:r>
              <a:rPr lang="en-US" sz="1300" dirty="0">
                <a:solidFill>
                  <a:srgbClr val="2E7D73"/>
                </a:solidFill>
                <a:latin typeface="Arial" pitchFamily="34" charset="0"/>
                <a:ea typeface="Arial" pitchFamily="34" charset="-122"/>
                <a:cs typeface="Arial" pitchFamily="34" charset="-120"/>
              </a:rPr>
              <a:t>The point: we tested the experience, not just the idea.</a:t>
            </a:r>
            <a:endParaRPr lang="en-US" sz="1300" dirty="0"/>
          </a:p>
        </p:txBody>
      </p:sp>
      <p:sp>
        <p:nvSpPr>
          <p:cNvPr id="17" name="Text 15"/>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07 / IMPACT</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What changes for a young person?</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 outcome is more agency — not more screen time.</a:t>
            </a:r>
            <a:endParaRPr lang="en-US" sz="1300" dirty="0"/>
          </a:p>
        </p:txBody>
      </p:sp>
      <p:sp>
        <p:nvSpPr>
          <p:cNvPr id="5" name="Shape 3"/>
          <p:cNvSpPr/>
          <p:nvPr/>
        </p:nvSpPr>
        <p:spPr>
          <a:xfrm>
            <a:off x="658368" y="2103120"/>
            <a:ext cx="3401568" cy="3246120"/>
          </a:xfrm>
          <a:prstGeom prst="roundRect">
            <a:avLst>
              <a:gd name="adj" fmla="val 2254"/>
            </a:avLst>
          </a:prstGeom>
          <a:solidFill>
            <a:srgbClr val="DDEEE9"/>
          </a:solidFill>
          <a:ln w="12700">
            <a:solidFill>
              <a:srgbClr val="DDEEE9">
                <a:alpha val="0"/>
              </a:srgbClr>
            </a:solidFill>
            <a:prstDash val="solid"/>
          </a:ln>
        </p:spPr>
      </p:sp>
      <p:sp>
        <p:nvSpPr>
          <p:cNvPr id="6" name="Text 4"/>
          <p:cNvSpPr/>
          <p:nvPr/>
        </p:nvSpPr>
        <p:spPr>
          <a:xfrm>
            <a:off x="914400"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2E7D73"/>
                </a:solidFill>
                <a:latin typeface="Arial" pitchFamily="34" charset="0"/>
                <a:ea typeface="Arial" pitchFamily="34" charset="-122"/>
                <a:cs typeface="Arial" pitchFamily="34" charset="-120"/>
              </a:rPr>
              <a:t>AWARENESS</a:t>
            </a:r>
            <a:endParaRPr lang="en-US" sz="1200" dirty="0"/>
          </a:p>
        </p:txBody>
      </p:sp>
      <p:sp>
        <p:nvSpPr>
          <p:cNvPr id="7" name="Text 5"/>
          <p:cNvSpPr/>
          <p:nvPr/>
        </p:nvSpPr>
        <p:spPr>
          <a:xfrm>
            <a:off x="914400"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BEFORE</a:t>
            </a:r>
            <a:endParaRPr lang="en-US" sz="1000" dirty="0"/>
          </a:p>
        </p:txBody>
      </p:sp>
      <p:sp>
        <p:nvSpPr>
          <p:cNvPr id="8" name="Text 6"/>
          <p:cNvSpPr/>
          <p:nvPr/>
        </p:nvSpPr>
        <p:spPr>
          <a:xfrm>
            <a:off x="914400"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“I cannot name what I am feeling.”</a:t>
            </a:r>
            <a:endParaRPr lang="en-US" sz="1600" dirty="0"/>
          </a:p>
        </p:txBody>
      </p:sp>
      <p:sp>
        <p:nvSpPr>
          <p:cNvPr id="9" name="Text 7"/>
          <p:cNvSpPr/>
          <p:nvPr/>
        </p:nvSpPr>
        <p:spPr>
          <a:xfrm>
            <a:off x="914400" y="437083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2E7D73"/>
                </a:solidFill>
                <a:latin typeface="Arial" pitchFamily="34" charset="0"/>
                <a:ea typeface="Arial" pitchFamily="34" charset="-122"/>
                <a:cs typeface="Arial" pitchFamily="34" charset="-120"/>
              </a:rPr>
              <a:t>→ I can check in and reflect.</a:t>
            </a:r>
            <a:endParaRPr lang="en-US" sz="1500" dirty="0"/>
          </a:p>
        </p:txBody>
      </p:sp>
      <p:sp>
        <p:nvSpPr>
          <p:cNvPr id="10" name="Shape 8"/>
          <p:cNvSpPr/>
          <p:nvPr/>
        </p:nvSpPr>
        <p:spPr>
          <a:xfrm>
            <a:off x="4425696" y="2103120"/>
            <a:ext cx="3401568" cy="3246120"/>
          </a:xfrm>
          <a:prstGeom prst="roundRect">
            <a:avLst>
              <a:gd name="adj" fmla="val 2254"/>
            </a:avLst>
          </a:prstGeom>
          <a:solidFill>
            <a:srgbClr val="F4E7D4"/>
          </a:solidFill>
          <a:ln w="12700">
            <a:solidFill>
              <a:srgbClr val="F4E7D4">
                <a:alpha val="0"/>
              </a:srgbClr>
            </a:solidFill>
            <a:prstDash val="solid"/>
          </a:ln>
        </p:spPr>
      </p:sp>
      <p:sp>
        <p:nvSpPr>
          <p:cNvPr id="11" name="Text 9"/>
          <p:cNvSpPr/>
          <p:nvPr/>
        </p:nvSpPr>
        <p:spPr>
          <a:xfrm>
            <a:off x="4681728"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2E7D73"/>
                </a:solidFill>
                <a:latin typeface="Arial" pitchFamily="34" charset="0"/>
                <a:ea typeface="Arial" pitchFamily="34" charset="-122"/>
                <a:cs typeface="Arial" pitchFamily="34" charset="-120"/>
              </a:rPr>
              <a:t>ACTION</a:t>
            </a:r>
            <a:endParaRPr lang="en-US" sz="1200" dirty="0"/>
          </a:p>
        </p:txBody>
      </p:sp>
      <p:sp>
        <p:nvSpPr>
          <p:cNvPr id="12" name="Text 10"/>
          <p:cNvSpPr/>
          <p:nvPr/>
        </p:nvSpPr>
        <p:spPr>
          <a:xfrm>
            <a:off x="4681728"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BEFORE</a:t>
            </a:r>
            <a:endParaRPr lang="en-US" sz="1000" dirty="0"/>
          </a:p>
        </p:txBody>
      </p:sp>
      <p:sp>
        <p:nvSpPr>
          <p:cNvPr id="13" name="Text 11"/>
          <p:cNvSpPr/>
          <p:nvPr/>
        </p:nvSpPr>
        <p:spPr>
          <a:xfrm>
            <a:off x="4681728"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“I do not know what to do next.”</a:t>
            </a:r>
            <a:endParaRPr lang="en-US" sz="1600" dirty="0"/>
          </a:p>
        </p:txBody>
      </p:sp>
      <p:sp>
        <p:nvSpPr>
          <p:cNvPr id="14" name="Text 12"/>
          <p:cNvSpPr/>
          <p:nvPr/>
        </p:nvSpPr>
        <p:spPr>
          <a:xfrm>
            <a:off x="4681728" y="437083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2E7D73"/>
                </a:solidFill>
                <a:latin typeface="Arial" pitchFamily="34" charset="0"/>
                <a:ea typeface="Arial" pitchFamily="34" charset="-122"/>
                <a:cs typeface="Arial" pitchFamily="34" charset="-120"/>
              </a:rPr>
              <a:t>→ I have one small step to try.</a:t>
            </a:r>
            <a:endParaRPr lang="en-US" sz="1500" dirty="0"/>
          </a:p>
        </p:txBody>
      </p:sp>
      <p:sp>
        <p:nvSpPr>
          <p:cNvPr id="15" name="Shape 13"/>
          <p:cNvSpPr/>
          <p:nvPr/>
        </p:nvSpPr>
        <p:spPr>
          <a:xfrm>
            <a:off x="8193024" y="2103120"/>
            <a:ext cx="3401568" cy="3246120"/>
          </a:xfrm>
          <a:prstGeom prst="roundRect">
            <a:avLst>
              <a:gd name="adj" fmla="val 2254"/>
            </a:avLst>
          </a:prstGeom>
          <a:solidFill>
            <a:srgbClr val="D9776A"/>
          </a:solidFill>
          <a:ln w="12700">
            <a:solidFill>
              <a:srgbClr val="D9776A">
                <a:alpha val="0"/>
              </a:srgbClr>
            </a:solidFill>
            <a:prstDash val="solid"/>
          </a:ln>
        </p:spPr>
      </p:sp>
      <p:sp>
        <p:nvSpPr>
          <p:cNvPr id="16" name="Text 14"/>
          <p:cNvSpPr/>
          <p:nvPr/>
        </p:nvSpPr>
        <p:spPr>
          <a:xfrm>
            <a:off x="8449056"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FFFFFF"/>
                </a:solidFill>
                <a:latin typeface="Arial" pitchFamily="34" charset="0"/>
                <a:ea typeface="Arial" pitchFamily="34" charset="-122"/>
                <a:cs typeface="Arial" pitchFamily="34" charset="-120"/>
              </a:rPr>
              <a:t>CONNECTION</a:t>
            </a:r>
            <a:endParaRPr lang="en-US" sz="1200" dirty="0"/>
          </a:p>
        </p:txBody>
      </p:sp>
      <p:sp>
        <p:nvSpPr>
          <p:cNvPr id="17" name="Text 15"/>
          <p:cNvSpPr/>
          <p:nvPr/>
        </p:nvSpPr>
        <p:spPr>
          <a:xfrm>
            <a:off x="8449056"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F4E7D4"/>
                </a:solidFill>
                <a:latin typeface="Arial" pitchFamily="34" charset="0"/>
                <a:ea typeface="Arial" pitchFamily="34" charset="-122"/>
                <a:cs typeface="Arial" pitchFamily="34" charset="-120"/>
              </a:rPr>
              <a:t>BEFORE</a:t>
            </a:r>
            <a:endParaRPr lang="en-US" sz="1000" dirty="0"/>
          </a:p>
        </p:txBody>
      </p:sp>
      <p:sp>
        <p:nvSpPr>
          <p:cNvPr id="18" name="Text 16"/>
          <p:cNvSpPr/>
          <p:nvPr/>
        </p:nvSpPr>
        <p:spPr>
          <a:xfrm>
            <a:off x="8449056"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“I feel alone with this.”</a:t>
            </a:r>
            <a:endParaRPr lang="en-US" sz="1600" dirty="0"/>
          </a:p>
        </p:txBody>
      </p:sp>
      <p:sp>
        <p:nvSpPr>
          <p:cNvPr id="19" name="Text 17"/>
          <p:cNvSpPr/>
          <p:nvPr/>
        </p:nvSpPr>
        <p:spPr>
          <a:xfrm>
            <a:off x="8449056" y="437083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 I can find trusted support.</a:t>
            </a:r>
            <a:endParaRPr lang="en-US" sz="1500" dirty="0"/>
          </a:p>
        </p:txBody>
      </p:sp>
      <p:sp>
        <p:nvSpPr>
          <p:cNvPr id="20" name="Shape 18"/>
          <p:cNvSpPr/>
          <p:nvPr/>
        </p:nvSpPr>
        <p:spPr>
          <a:xfrm>
            <a:off x="1965960" y="5669280"/>
            <a:ext cx="8275320" cy="384048"/>
          </a:xfrm>
          <a:prstGeom prst="roundRect">
            <a:avLst>
              <a:gd name="adj" fmla="val 19048"/>
            </a:avLst>
          </a:prstGeom>
          <a:solidFill>
            <a:srgbClr val="12232B"/>
          </a:solidFill>
          <a:ln w="12700">
            <a:solidFill>
              <a:srgbClr val="12232B">
                <a:alpha val="0"/>
              </a:srgbClr>
            </a:solidFill>
            <a:prstDash val="solid"/>
          </a:ln>
        </p:spPr>
      </p:sp>
      <p:sp>
        <p:nvSpPr>
          <p:cNvPr id="21" name="Text 19"/>
          <p:cNvSpPr/>
          <p:nvPr/>
        </p:nvSpPr>
        <p:spPr>
          <a:xfrm>
            <a:off x="2176272" y="5751576"/>
            <a:ext cx="7845552"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MindMate helps someone begin — then keeps the path to people visible.</a:t>
            </a:r>
            <a:endParaRPr lang="en-US" sz="1200" dirty="0"/>
          </a:p>
        </p:txBody>
      </p:sp>
      <p:sp>
        <p:nvSpPr>
          <p:cNvPr id="22" name="Text 20"/>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08 / SUSTAINABILITY</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How can MindMate become sustainable?</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A truthful plan is stronger than claiming revenue that does not exist yet.</a:t>
            </a:r>
            <a:endParaRPr lang="en-US" sz="1300" dirty="0"/>
          </a:p>
        </p:txBody>
      </p:sp>
      <p:sp>
        <p:nvSpPr>
          <p:cNvPr id="5" name="Shape 3"/>
          <p:cNvSpPr/>
          <p:nvPr/>
        </p:nvSpPr>
        <p:spPr>
          <a:xfrm>
            <a:off x="658368" y="2084832"/>
            <a:ext cx="3401568" cy="3310128"/>
          </a:xfrm>
          <a:prstGeom prst="roundRect">
            <a:avLst>
              <a:gd name="adj" fmla="val 2210"/>
            </a:avLst>
          </a:prstGeom>
          <a:solidFill>
            <a:srgbClr val="DDEEE9"/>
          </a:solidFill>
          <a:ln w="12700">
            <a:solidFill>
              <a:srgbClr val="DDEEE9">
                <a:alpha val="0"/>
              </a:srgbClr>
            </a:solidFill>
            <a:prstDash val="solid"/>
          </a:ln>
        </p:spPr>
      </p:sp>
      <p:sp>
        <p:nvSpPr>
          <p:cNvPr id="6" name="Text 4"/>
          <p:cNvSpPr/>
          <p:nvPr/>
        </p:nvSpPr>
        <p:spPr>
          <a:xfrm>
            <a:off x="914400" y="2450592"/>
            <a:ext cx="2286000" cy="237744"/>
          </a:xfrm>
          <a:prstGeom prst="rect">
            <a:avLst/>
          </a:prstGeom>
          <a:noFill/>
          <a:ln/>
        </p:spPr>
        <p:txBody>
          <a:bodyPr wrap="square" lIns="0" tIns="0" rIns="0" bIns="0" rtlCol="0" anchor="ctr">
            <a:normAutofit/>
          </a:bodyPr>
          <a:lstStyle/>
          <a:p>
            <a:pPr algn="l" indent="0" marL="0">
              <a:buNone/>
            </a:pPr>
            <a:r>
              <a:rPr lang="en-US" sz="1100" b="1" spc="130" kern="0" dirty="0">
                <a:solidFill>
                  <a:srgbClr val="2E7D73"/>
                </a:solidFill>
                <a:latin typeface="Arial" pitchFamily="34" charset="0"/>
                <a:ea typeface="Arial" pitchFamily="34" charset="-122"/>
                <a:cs typeface="Arial" pitchFamily="34" charset="-120"/>
              </a:rPr>
              <a:t>TODAY</a:t>
            </a:r>
            <a:endParaRPr lang="en-US" sz="1100" dirty="0"/>
          </a:p>
        </p:txBody>
      </p:sp>
      <p:sp>
        <p:nvSpPr>
          <p:cNvPr id="7" name="Text 5"/>
          <p:cNvSpPr/>
          <p:nvPr/>
        </p:nvSpPr>
        <p:spPr>
          <a:xfrm>
            <a:off x="914400" y="2944368"/>
            <a:ext cx="2788920" cy="658368"/>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Free competition prototype</a:t>
            </a:r>
            <a:endParaRPr lang="en-US" sz="2000" dirty="0"/>
          </a:p>
        </p:txBody>
      </p:sp>
      <p:sp>
        <p:nvSpPr>
          <p:cNvPr id="8" name="Text 6"/>
          <p:cNvSpPr/>
          <p:nvPr/>
        </p:nvSpPr>
        <p:spPr>
          <a:xfrm>
            <a:off x="914400" y="3886200"/>
            <a:ext cx="2779776" cy="868680"/>
          </a:xfrm>
          <a:prstGeom prst="rect">
            <a:avLst/>
          </a:prstGeom>
          <a:noFill/>
          <a:ln/>
        </p:spPr>
        <p:txBody>
          <a:bodyPr wrap="square" lIns="0" tIns="0" rIns="0" bIns="0" rtlCol="0" anchor="ctr">
            <a:normAutofit/>
          </a:bodyPr>
          <a:lstStyle/>
          <a:p>
            <a:pPr algn="l" indent="0" marL="0">
              <a:buNone/>
            </a:pPr>
            <a:r>
              <a:rPr lang="en-US" sz="1300" dirty="0">
                <a:solidFill>
                  <a:srgbClr val="182A35"/>
                </a:solidFill>
                <a:latin typeface="Arial" pitchFamily="34" charset="0"/>
                <a:ea typeface="Arial" pitchFamily="34" charset="-122"/>
                <a:cs typeface="Arial" pitchFamily="34" charset="-120"/>
              </a:rPr>
              <a:t>No current payment, subscription, advertising, or revenue claim.</a:t>
            </a:r>
            <a:endParaRPr lang="en-US" sz="1300" dirty="0"/>
          </a:p>
        </p:txBody>
      </p:sp>
      <p:sp>
        <p:nvSpPr>
          <p:cNvPr id="9" name="Shape 7"/>
          <p:cNvSpPr/>
          <p:nvPr/>
        </p:nvSpPr>
        <p:spPr>
          <a:xfrm>
            <a:off x="4425696" y="2084832"/>
            <a:ext cx="3401568" cy="3310128"/>
          </a:xfrm>
          <a:prstGeom prst="roundRect">
            <a:avLst>
              <a:gd name="adj" fmla="val 2210"/>
            </a:avLst>
          </a:prstGeom>
          <a:solidFill>
            <a:srgbClr val="F4E7D4"/>
          </a:solidFill>
          <a:ln w="12700">
            <a:solidFill>
              <a:srgbClr val="F4E7D4">
                <a:alpha val="0"/>
              </a:srgbClr>
            </a:solidFill>
            <a:prstDash val="solid"/>
          </a:ln>
        </p:spPr>
      </p:sp>
      <p:sp>
        <p:nvSpPr>
          <p:cNvPr id="10" name="Text 8"/>
          <p:cNvSpPr/>
          <p:nvPr/>
        </p:nvSpPr>
        <p:spPr>
          <a:xfrm>
            <a:off x="4681728" y="2450592"/>
            <a:ext cx="2286000" cy="237744"/>
          </a:xfrm>
          <a:prstGeom prst="rect">
            <a:avLst/>
          </a:prstGeom>
          <a:noFill/>
          <a:ln/>
        </p:spPr>
        <p:txBody>
          <a:bodyPr wrap="square" lIns="0" tIns="0" rIns="0" bIns="0" rtlCol="0" anchor="ctr">
            <a:normAutofit/>
          </a:bodyPr>
          <a:lstStyle/>
          <a:p>
            <a:pPr algn="l" indent="0" marL="0">
              <a:buNone/>
            </a:pPr>
            <a:r>
              <a:rPr lang="en-US" sz="1100" b="1" spc="130" kern="0" dirty="0">
                <a:solidFill>
                  <a:srgbClr val="2E7D73"/>
                </a:solidFill>
                <a:latin typeface="Arial" pitchFamily="34" charset="0"/>
                <a:ea typeface="Arial" pitchFamily="34" charset="-122"/>
                <a:cs typeface="Arial" pitchFamily="34" charset="-120"/>
              </a:rPr>
              <a:t>NEXT TO VALIDATE</a:t>
            </a:r>
            <a:endParaRPr lang="en-US" sz="1100" dirty="0"/>
          </a:p>
        </p:txBody>
      </p:sp>
      <p:sp>
        <p:nvSpPr>
          <p:cNvPr id="11" name="Text 9"/>
          <p:cNvSpPr/>
          <p:nvPr/>
        </p:nvSpPr>
        <p:spPr>
          <a:xfrm>
            <a:off x="4681728" y="2944368"/>
            <a:ext cx="2788920" cy="658368"/>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Funding the safety work</a:t>
            </a:r>
            <a:endParaRPr lang="en-US" sz="2000" dirty="0"/>
          </a:p>
        </p:txBody>
      </p:sp>
      <p:sp>
        <p:nvSpPr>
          <p:cNvPr id="12" name="Text 10"/>
          <p:cNvSpPr/>
          <p:nvPr/>
        </p:nvSpPr>
        <p:spPr>
          <a:xfrm>
            <a:off x="4681728" y="3886200"/>
            <a:ext cx="2779776" cy="868680"/>
          </a:xfrm>
          <a:prstGeom prst="rect">
            <a:avLst/>
          </a:prstGeom>
          <a:noFill/>
          <a:ln/>
        </p:spPr>
        <p:txBody>
          <a:bodyPr wrap="square" lIns="0" tIns="0" rIns="0" bIns="0" rtlCol="0" anchor="ctr">
            <a:normAutofit/>
          </a:bodyPr>
          <a:lstStyle/>
          <a:p>
            <a:pPr algn="l" indent="0" marL="0">
              <a:buNone/>
            </a:pPr>
            <a:r>
              <a:rPr lang="en-US" sz="1300" dirty="0">
                <a:solidFill>
                  <a:srgbClr val="182A35"/>
                </a:solidFill>
                <a:latin typeface="Arial" pitchFamily="34" charset="0"/>
                <a:ea typeface="Arial" pitchFamily="34" charset="-122"/>
                <a:cs typeface="Arial" pitchFamily="34" charset="-120"/>
              </a:rPr>
              <a:t>Use grants, competitions, and responsible pilot funding to measure impact and improve the product.</a:t>
            </a:r>
            <a:endParaRPr lang="en-US" sz="1300" dirty="0"/>
          </a:p>
        </p:txBody>
      </p:sp>
      <p:sp>
        <p:nvSpPr>
          <p:cNvPr id="13" name="Shape 11"/>
          <p:cNvSpPr/>
          <p:nvPr/>
        </p:nvSpPr>
        <p:spPr>
          <a:xfrm>
            <a:off x="8193024" y="2084832"/>
            <a:ext cx="3401568" cy="3310128"/>
          </a:xfrm>
          <a:prstGeom prst="roundRect">
            <a:avLst>
              <a:gd name="adj" fmla="val 2210"/>
            </a:avLst>
          </a:prstGeom>
          <a:solidFill>
            <a:srgbClr val="12232B"/>
          </a:solidFill>
          <a:ln w="12700">
            <a:solidFill>
              <a:srgbClr val="12232B">
                <a:alpha val="0"/>
              </a:srgbClr>
            </a:solidFill>
            <a:prstDash val="solid"/>
          </a:ln>
        </p:spPr>
      </p:sp>
      <p:sp>
        <p:nvSpPr>
          <p:cNvPr id="14" name="Text 12"/>
          <p:cNvSpPr/>
          <p:nvPr/>
        </p:nvSpPr>
        <p:spPr>
          <a:xfrm>
            <a:off x="8449056" y="2450592"/>
            <a:ext cx="2286000" cy="237744"/>
          </a:xfrm>
          <a:prstGeom prst="rect">
            <a:avLst/>
          </a:prstGeom>
          <a:noFill/>
          <a:ln/>
        </p:spPr>
        <p:txBody>
          <a:bodyPr wrap="square" lIns="0" tIns="0" rIns="0" bIns="0" rtlCol="0" anchor="ctr">
            <a:normAutofit/>
          </a:bodyPr>
          <a:lstStyle/>
          <a:p>
            <a:pPr algn="l" indent="0" marL="0">
              <a:buNone/>
            </a:pPr>
            <a:r>
              <a:rPr lang="en-US" sz="1100" b="1" spc="130" kern="0" dirty="0">
                <a:solidFill>
                  <a:srgbClr val="78AFA2"/>
                </a:solidFill>
                <a:latin typeface="Arial" pitchFamily="34" charset="0"/>
                <a:ea typeface="Arial" pitchFamily="34" charset="-122"/>
                <a:cs typeface="Arial" pitchFamily="34" charset="-120"/>
              </a:rPr>
              <a:t>FUTURE HYPOTHESIS</a:t>
            </a:r>
            <a:endParaRPr lang="en-US" sz="1100" dirty="0"/>
          </a:p>
        </p:txBody>
      </p:sp>
      <p:sp>
        <p:nvSpPr>
          <p:cNvPr id="15" name="Text 13"/>
          <p:cNvSpPr/>
          <p:nvPr/>
        </p:nvSpPr>
        <p:spPr>
          <a:xfrm>
            <a:off x="8449056" y="2944368"/>
            <a:ext cx="2788920" cy="658368"/>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rial" pitchFamily="34" charset="0"/>
                <a:ea typeface="Arial" pitchFamily="34" charset="-122"/>
                <a:cs typeface="Arial" pitchFamily="34" charset="-120"/>
              </a:rPr>
              <a:t>Ethically priced extensions</a:t>
            </a:r>
            <a:endParaRPr lang="en-US" sz="2000" dirty="0"/>
          </a:p>
        </p:txBody>
      </p:sp>
      <p:sp>
        <p:nvSpPr>
          <p:cNvPr id="16" name="Text 14"/>
          <p:cNvSpPr/>
          <p:nvPr/>
        </p:nvSpPr>
        <p:spPr>
          <a:xfrm>
            <a:off x="8449056" y="3886200"/>
            <a:ext cx="2779776" cy="868680"/>
          </a:xfrm>
          <a:prstGeom prst="rect">
            <a:avLst/>
          </a:prstGeom>
          <a:noFill/>
          <a:ln/>
        </p:spPr>
        <p:txBody>
          <a:bodyPr wrap="square" lIns="0" tIns="0" rIns="0" bIns="0" rtlCol="0" anchor="ctr">
            <a:normAutofit/>
          </a:bodyPr>
          <a:lstStyle/>
          <a:p>
            <a:pPr algn="l" indent="0" marL="0">
              <a:buNone/>
            </a:pPr>
            <a:r>
              <a:rPr lang="en-US" sz="1300" dirty="0">
                <a:solidFill>
                  <a:srgbClr val="D2E2DE"/>
                </a:solidFill>
                <a:latin typeface="Arial" pitchFamily="34" charset="0"/>
                <a:ea typeface="Arial" pitchFamily="34" charset="-122"/>
                <a:cs typeface="Arial" pitchFamily="34" charset="-120"/>
              </a:rPr>
              <a:t>Only after user validation, safety review, and policy checks — never ads or selling private chats.</a:t>
            </a:r>
            <a:endParaRPr lang="en-US" sz="1300" dirty="0"/>
          </a:p>
        </p:txBody>
      </p:sp>
      <p:sp>
        <p:nvSpPr>
          <p:cNvPr id="17" name="Shape 15"/>
          <p:cNvSpPr/>
          <p:nvPr/>
        </p:nvSpPr>
        <p:spPr>
          <a:xfrm>
            <a:off x="3127248" y="5715000"/>
            <a:ext cx="5943600" cy="301752"/>
          </a:xfrm>
          <a:prstGeom prst="roundRect">
            <a:avLst>
              <a:gd name="adj" fmla="val 24242"/>
            </a:avLst>
          </a:prstGeom>
          <a:solidFill>
            <a:srgbClr val="D9776A"/>
          </a:solidFill>
          <a:ln w="12700">
            <a:solidFill>
              <a:srgbClr val="D9776A">
                <a:alpha val="0"/>
              </a:srgbClr>
            </a:solidFill>
            <a:prstDash val="solid"/>
          </a:ln>
        </p:spPr>
      </p:sp>
      <p:sp>
        <p:nvSpPr>
          <p:cNvPr id="18" name="Text 16"/>
          <p:cNvSpPr/>
          <p:nvPr/>
        </p:nvSpPr>
        <p:spPr>
          <a:xfrm>
            <a:off x="3200400" y="5724144"/>
            <a:ext cx="579729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THIS IS A FUTURE PLAN — NOT CURRENT REVENUE</a:t>
            </a:r>
            <a:endParaRPr lang="en-US" sz="9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21792" y="384048"/>
            <a:ext cx="493776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09 / EXECUTION AND NEXT</a:t>
            </a:r>
            <a:endParaRPr lang="en-US" sz="1000" dirty="0"/>
          </a:p>
        </p:txBody>
      </p:sp>
      <p:sp>
        <p:nvSpPr>
          <p:cNvPr id="3" name="Text 1"/>
          <p:cNvSpPr/>
          <p:nvPr/>
        </p:nvSpPr>
        <p:spPr>
          <a:xfrm>
            <a:off x="621792" y="658368"/>
            <a:ext cx="1078992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We built one polished pathway — now we will deepen the evidence</a:t>
            </a:r>
            <a:endParaRPr lang="en-US" sz="2800" dirty="0"/>
          </a:p>
        </p:txBody>
      </p:sp>
      <p:sp>
        <p:nvSpPr>
          <p:cNvPr id="4" name="Text 2"/>
          <p:cNvSpPr/>
          <p:nvPr/>
        </p:nvSpPr>
        <p:spPr>
          <a:xfrm>
            <a:off x="640080" y="1399032"/>
            <a:ext cx="10424160" cy="338328"/>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 next stage is responsible testing, not a feature race.</a:t>
            </a:r>
            <a:endParaRPr lang="en-US" sz="1300" dirty="0"/>
          </a:p>
        </p:txBody>
      </p:sp>
      <p:sp>
        <p:nvSpPr>
          <p:cNvPr id="5" name="Shape 3"/>
          <p:cNvSpPr/>
          <p:nvPr/>
        </p:nvSpPr>
        <p:spPr>
          <a:xfrm>
            <a:off x="658368" y="2084832"/>
            <a:ext cx="5212080" cy="3611880"/>
          </a:xfrm>
          <a:prstGeom prst="roundRect">
            <a:avLst>
              <a:gd name="adj" fmla="val 2025"/>
            </a:avLst>
          </a:prstGeom>
          <a:solidFill>
            <a:srgbClr val="12232B"/>
          </a:solidFill>
          <a:ln w="12700">
            <a:solidFill>
              <a:srgbClr val="12232B">
                <a:alpha val="0"/>
              </a:srgbClr>
            </a:solidFill>
            <a:prstDash val="solid"/>
          </a:ln>
        </p:spPr>
      </p:sp>
      <p:sp>
        <p:nvSpPr>
          <p:cNvPr id="6" name="Text 4"/>
          <p:cNvSpPr/>
          <p:nvPr/>
        </p:nvSpPr>
        <p:spPr>
          <a:xfrm>
            <a:off x="987552" y="2487168"/>
            <a:ext cx="2560320" cy="228600"/>
          </a:xfrm>
          <a:prstGeom prst="rect">
            <a:avLst/>
          </a:prstGeom>
          <a:noFill/>
          <a:ln/>
        </p:spPr>
        <p:txBody>
          <a:bodyPr wrap="square" lIns="0" tIns="0" rIns="0" bIns="0" rtlCol="0" anchor="ctr">
            <a:normAutofit/>
          </a:bodyPr>
          <a:lstStyle/>
          <a:p>
            <a:pPr algn="l" indent="0" marL="0">
              <a:buNone/>
            </a:pPr>
            <a:r>
              <a:rPr lang="en-US" sz="1100" b="1" spc="120" kern="0" dirty="0">
                <a:solidFill>
                  <a:srgbClr val="78AFA2"/>
                </a:solidFill>
                <a:latin typeface="Arial" pitchFamily="34" charset="0"/>
                <a:ea typeface="Arial" pitchFamily="34" charset="-122"/>
                <a:cs typeface="Arial" pitchFamily="34" charset="-120"/>
              </a:rPr>
              <a:t>WHAT WE HAVE LEARNED</a:t>
            </a:r>
            <a:endParaRPr lang="en-US" sz="1100" dirty="0"/>
          </a:p>
        </p:txBody>
      </p:sp>
      <p:sp>
        <p:nvSpPr>
          <p:cNvPr id="7" name="Shape 5"/>
          <p:cNvSpPr/>
          <p:nvPr/>
        </p:nvSpPr>
        <p:spPr>
          <a:xfrm>
            <a:off x="987552" y="3108960"/>
            <a:ext cx="137160" cy="137160"/>
          </a:xfrm>
          <a:prstGeom prst="roundRect">
            <a:avLst>
              <a:gd name="adj" fmla="val 53333"/>
            </a:avLst>
          </a:prstGeom>
          <a:solidFill>
            <a:srgbClr val="2E7D73"/>
          </a:solidFill>
          <a:ln w="12700">
            <a:solidFill>
              <a:srgbClr val="2E7D73">
                <a:alpha val="0"/>
              </a:srgbClr>
            </a:solidFill>
            <a:prstDash val="solid"/>
          </a:ln>
        </p:spPr>
      </p:sp>
      <p:sp>
        <p:nvSpPr>
          <p:cNvPr id="8" name="Text 6"/>
          <p:cNvSpPr/>
          <p:nvPr/>
        </p:nvSpPr>
        <p:spPr>
          <a:xfrm>
            <a:off x="1307592" y="3017520"/>
            <a:ext cx="384048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Safety needs to be visible in the flow.</a:t>
            </a:r>
            <a:endParaRPr lang="en-US" sz="1400" dirty="0"/>
          </a:p>
        </p:txBody>
      </p:sp>
      <p:sp>
        <p:nvSpPr>
          <p:cNvPr id="9" name="Shape 7"/>
          <p:cNvSpPr/>
          <p:nvPr/>
        </p:nvSpPr>
        <p:spPr>
          <a:xfrm>
            <a:off x="987552" y="3648456"/>
            <a:ext cx="137160" cy="137160"/>
          </a:xfrm>
          <a:prstGeom prst="roundRect">
            <a:avLst>
              <a:gd name="adj" fmla="val 53333"/>
            </a:avLst>
          </a:prstGeom>
          <a:solidFill>
            <a:srgbClr val="2E7D73"/>
          </a:solidFill>
          <a:ln w="12700">
            <a:solidFill>
              <a:srgbClr val="2E7D73">
                <a:alpha val="0"/>
              </a:srgbClr>
            </a:solidFill>
            <a:prstDash val="solid"/>
          </a:ln>
        </p:spPr>
      </p:sp>
      <p:sp>
        <p:nvSpPr>
          <p:cNvPr id="10" name="Text 8"/>
          <p:cNvSpPr/>
          <p:nvPr/>
        </p:nvSpPr>
        <p:spPr>
          <a:xfrm>
            <a:off x="1307592" y="3557016"/>
            <a:ext cx="384048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Privacy must be explainable in one sentence.</a:t>
            </a:r>
            <a:endParaRPr lang="en-US" sz="1400" dirty="0"/>
          </a:p>
        </p:txBody>
      </p:sp>
      <p:sp>
        <p:nvSpPr>
          <p:cNvPr id="11" name="Shape 9"/>
          <p:cNvSpPr/>
          <p:nvPr/>
        </p:nvSpPr>
        <p:spPr>
          <a:xfrm>
            <a:off x="987552" y="4187952"/>
            <a:ext cx="137160" cy="137160"/>
          </a:xfrm>
          <a:prstGeom prst="roundRect">
            <a:avLst>
              <a:gd name="adj" fmla="val 53333"/>
            </a:avLst>
          </a:prstGeom>
          <a:solidFill>
            <a:srgbClr val="2E7D73"/>
          </a:solidFill>
          <a:ln w="12700">
            <a:solidFill>
              <a:srgbClr val="2E7D73">
                <a:alpha val="0"/>
              </a:srgbClr>
            </a:solidFill>
            <a:prstDash val="solid"/>
          </a:ln>
        </p:spPr>
      </p:sp>
      <p:sp>
        <p:nvSpPr>
          <p:cNvPr id="12" name="Text 10"/>
          <p:cNvSpPr/>
          <p:nvPr/>
        </p:nvSpPr>
        <p:spPr>
          <a:xfrm>
            <a:off x="1307592" y="4096512"/>
            <a:ext cx="384048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 small next step beats a feature pile.</a:t>
            </a:r>
            <a:endParaRPr lang="en-US" sz="1400" dirty="0"/>
          </a:p>
        </p:txBody>
      </p:sp>
      <p:sp>
        <p:nvSpPr>
          <p:cNvPr id="13" name="Shape 11"/>
          <p:cNvSpPr/>
          <p:nvPr/>
        </p:nvSpPr>
        <p:spPr>
          <a:xfrm>
            <a:off x="987552" y="4727448"/>
            <a:ext cx="137160" cy="137160"/>
          </a:xfrm>
          <a:prstGeom prst="roundRect">
            <a:avLst>
              <a:gd name="adj" fmla="val 53333"/>
            </a:avLst>
          </a:prstGeom>
          <a:solidFill>
            <a:srgbClr val="2E7D73"/>
          </a:solidFill>
          <a:ln w="12700">
            <a:solidFill>
              <a:srgbClr val="2E7D73">
                <a:alpha val="0"/>
              </a:srgbClr>
            </a:solidFill>
            <a:prstDash val="solid"/>
          </a:ln>
        </p:spPr>
      </p:sp>
      <p:sp>
        <p:nvSpPr>
          <p:cNvPr id="14" name="Text 12"/>
          <p:cNvSpPr/>
          <p:nvPr/>
        </p:nvSpPr>
        <p:spPr>
          <a:xfrm>
            <a:off x="1307592" y="4636008"/>
            <a:ext cx="3840480" cy="384048"/>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Release testing must follow the real journey.</a:t>
            </a:r>
            <a:endParaRPr lang="en-US" sz="1400" dirty="0"/>
          </a:p>
        </p:txBody>
      </p:sp>
      <p:sp>
        <p:nvSpPr>
          <p:cNvPr id="15" name="Shape 13"/>
          <p:cNvSpPr/>
          <p:nvPr/>
        </p:nvSpPr>
        <p:spPr>
          <a:xfrm>
            <a:off x="6327648" y="2084832"/>
            <a:ext cx="5212080" cy="3611880"/>
          </a:xfrm>
          <a:prstGeom prst="roundRect">
            <a:avLst>
              <a:gd name="adj" fmla="val 2025"/>
            </a:avLst>
          </a:prstGeom>
          <a:solidFill>
            <a:srgbClr val="F4E7D4"/>
          </a:solidFill>
          <a:ln w="12700">
            <a:solidFill>
              <a:srgbClr val="F4E7D4">
                <a:alpha val="0"/>
              </a:srgbClr>
            </a:solidFill>
            <a:prstDash val="solid"/>
          </a:ln>
        </p:spPr>
      </p:sp>
      <p:sp>
        <p:nvSpPr>
          <p:cNvPr id="16" name="Text 14"/>
          <p:cNvSpPr/>
          <p:nvPr/>
        </p:nvSpPr>
        <p:spPr>
          <a:xfrm>
            <a:off x="6656832" y="2487168"/>
            <a:ext cx="1828800" cy="228600"/>
          </a:xfrm>
          <a:prstGeom prst="rect">
            <a:avLst/>
          </a:prstGeom>
          <a:noFill/>
          <a:ln/>
        </p:spPr>
        <p:txBody>
          <a:bodyPr wrap="square" lIns="0" tIns="0" rIns="0" bIns="0" rtlCol="0" anchor="ctr">
            <a:normAutofit/>
          </a:bodyPr>
          <a:lstStyle/>
          <a:p>
            <a:pPr algn="l" indent="0" marL="0">
              <a:buNone/>
            </a:pPr>
            <a:r>
              <a:rPr lang="en-US" sz="1100" b="1" spc="120" kern="0" dirty="0">
                <a:solidFill>
                  <a:srgbClr val="2E7D73"/>
                </a:solidFill>
                <a:latin typeface="Arial" pitchFamily="34" charset="0"/>
                <a:ea typeface="Arial" pitchFamily="34" charset="-122"/>
                <a:cs typeface="Arial" pitchFamily="34" charset="-120"/>
              </a:rPr>
              <a:t>TEAM ROLES</a:t>
            </a:r>
            <a:endParaRPr lang="en-US" sz="1100" dirty="0"/>
          </a:p>
        </p:txBody>
      </p:sp>
      <p:sp>
        <p:nvSpPr>
          <p:cNvPr id="17" name="Text 15"/>
          <p:cNvSpPr/>
          <p:nvPr/>
        </p:nvSpPr>
        <p:spPr>
          <a:xfrm>
            <a:off x="6656832" y="2999232"/>
            <a:ext cx="4160520" cy="1508760"/>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Opening / problem:  ____________________</a:t>
            </a:r>
            <a:endParaRPr lang="en-US" sz="1600" dirty="0"/>
          </a:p>
          <a:p>
            <a:pPr algn="l" indent="0" marL="0">
              <a:buNone/>
            </a:pPr>
            <a:r>
              <a:rPr lang="en-US" sz="1600" b="1" dirty="0">
                <a:solidFill>
                  <a:srgbClr val="12232B"/>
                </a:solidFill>
                <a:latin typeface="Arial" pitchFamily="34" charset="0"/>
                <a:ea typeface="Arial" pitchFamily="34" charset="-122"/>
                <a:cs typeface="Arial" pitchFamily="34" charset="-120"/>
              </a:rPr>
              <a:t>Product demo:       ____________________</a:t>
            </a:r>
            <a:endParaRPr lang="en-US" sz="1600" dirty="0"/>
          </a:p>
          <a:p>
            <a:pPr algn="l" indent="0" marL="0">
              <a:buNone/>
            </a:pPr>
            <a:r>
              <a:rPr lang="en-US" sz="1600" b="1" dirty="0">
                <a:solidFill>
                  <a:srgbClr val="12232B"/>
                </a:solidFill>
                <a:latin typeface="Arial" pitchFamily="34" charset="0"/>
                <a:ea typeface="Arial" pitchFamily="34" charset="-122"/>
                <a:cs typeface="Arial" pitchFamily="34" charset="-120"/>
              </a:rPr>
              <a:t>Safety / technology: ____________________</a:t>
            </a:r>
            <a:endParaRPr lang="en-US" sz="1600" dirty="0"/>
          </a:p>
          <a:p>
            <a:pPr algn="l" indent="0" marL="0">
              <a:buNone/>
            </a:pPr>
            <a:r>
              <a:rPr lang="en-US" sz="1600" b="1" dirty="0">
                <a:solidFill>
                  <a:srgbClr val="12232B"/>
                </a:solidFill>
                <a:latin typeface="Arial" pitchFamily="34" charset="0"/>
                <a:ea typeface="Arial" pitchFamily="34" charset="-122"/>
                <a:cs typeface="Arial" pitchFamily="34" charset="-120"/>
              </a:rPr>
              <a:t>Impact / closing:    ____________________</a:t>
            </a:r>
            <a:endParaRPr lang="en-US" sz="1600" dirty="0"/>
          </a:p>
        </p:txBody>
      </p:sp>
      <p:sp>
        <p:nvSpPr>
          <p:cNvPr id="18" name="Text 16"/>
          <p:cNvSpPr/>
          <p:nvPr/>
        </p:nvSpPr>
        <p:spPr>
          <a:xfrm>
            <a:off x="6656832" y="5102352"/>
            <a:ext cx="4224528" cy="274320"/>
          </a:xfrm>
          <a:prstGeom prst="rect">
            <a:avLst/>
          </a:prstGeom>
          <a:noFill/>
          <a:ln/>
        </p:spPr>
        <p:txBody>
          <a:bodyPr wrap="square" lIns="0" tIns="0" rIns="0" bIns="0" rtlCol="0" anchor="ctr">
            <a:normAutofit/>
          </a:bodyPr>
          <a:lstStyle/>
          <a:p>
            <a:pPr algn="l" indent="0" marL="0">
              <a:buNone/>
            </a:pPr>
            <a:r>
              <a:rPr lang="en-US" sz="1300" b="1" dirty="0">
                <a:solidFill>
                  <a:srgbClr val="D9776A"/>
                </a:solidFill>
                <a:latin typeface="Arial" pitchFamily="34" charset="0"/>
                <a:ea typeface="Arial" pitchFamily="34" charset="-122"/>
                <a:cs typeface="Arial" pitchFamily="34" charset="-120"/>
              </a:rPr>
              <a:t>The best presentation is calm, clear, and honest.</a:t>
            </a:r>
            <a:endParaRPr lang="en-US" sz="13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pic>
        <p:nvPicPr>
          <p:cNvPr id="3" name="Image 0" descr="/home/user/mindmate/logos/logo_b_icon_512.png">    </p:cNvPr>
          <p:cNvPicPr>
            <a:picLocks noChangeAspect="1"/>
          </p:cNvPicPr>
          <p:nvPr/>
        </p:nvPicPr>
        <p:blipFill>
          <a:blip r:embed="rId1"/>
          <a:stretch>
            <a:fillRect/>
          </a:stretch>
        </p:blipFill>
        <p:spPr>
          <a:xfrm>
            <a:off x="8979408" y="603504"/>
            <a:ext cx="2395728" cy="2395728"/>
          </a:xfrm>
          <a:prstGeom prst="rect">
            <a:avLst/>
          </a:prstGeom>
        </p:spPr>
      </p:pic>
      <p:sp>
        <p:nvSpPr>
          <p:cNvPr id="4" name="Text 1"/>
          <p:cNvSpPr/>
          <p:nvPr/>
        </p:nvSpPr>
        <p:spPr>
          <a:xfrm>
            <a:off x="713232" y="804672"/>
            <a:ext cx="6583680" cy="594360"/>
          </a:xfrm>
          <a:prstGeom prst="rect">
            <a:avLst/>
          </a:prstGeom>
          <a:noFill/>
          <a:ln/>
        </p:spPr>
        <p:txBody>
          <a:bodyPr wrap="square" lIns="0" tIns="0" rIns="0" bIns="0" rtlCol="0" anchor="ctr">
            <a:normAutofit/>
          </a:bodyPr>
          <a:lstStyle/>
          <a:p>
            <a:pPr algn="l" indent="0" marL="0">
              <a:buNone/>
            </a:pPr>
            <a:r>
              <a:rPr lang="en-US" sz="3900" b="1" dirty="0">
                <a:solidFill>
                  <a:srgbClr val="FFFFFF"/>
                </a:solidFill>
                <a:latin typeface="Arial" pitchFamily="34" charset="0"/>
                <a:ea typeface="Arial" pitchFamily="34" charset="-122"/>
                <a:cs typeface="Arial" pitchFamily="34" charset="-120"/>
              </a:rPr>
              <a:t>MindMate</a:t>
            </a:r>
            <a:endParaRPr lang="en-US" sz="3900" dirty="0"/>
          </a:p>
        </p:txBody>
      </p:sp>
      <p:sp>
        <p:nvSpPr>
          <p:cNvPr id="5" name="Text 2"/>
          <p:cNvSpPr/>
          <p:nvPr/>
        </p:nvSpPr>
        <p:spPr>
          <a:xfrm>
            <a:off x="731520" y="1737360"/>
            <a:ext cx="7223760" cy="713232"/>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Make the next safe step feel possible.</a:t>
            </a:r>
            <a:endParaRPr lang="en-US" sz="2900" dirty="0"/>
          </a:p>
        </p:txBody>
      </p:sp>
      <p:sp>
        <p:nvSpPr>
          <p:cNvPr id="6" name="Text 3"/>
          <p:cNvSpPr/>
          <p:nvPr/>
        </p:nvSpPr>
        <p:spPr>
          <a:xfrm>
            <a:off x="749808" y="2770632"/>
            <a:ext cx="6675120" cy="310896"/>
          </a:xfrm>
          <a:prstGeom prst="rect">
            <a:avLst/>
          </a:prstGeom>
          <a:noFill/>
          <a:ln/>
        </p:spPr>
        <p:txBody>
          <a:bodyPr wrap="square" lIns="0" tIns="0" rIns="0" bIns="0" rtlCol="0" anchor="ctr">
            <a:normAutofit/>
          </a:bodyPr>
          <a:lstStyle/>
          <a:p>
            <a:pPr algn="l" indent="0" marL="0">
              <a:buNone/>
            </a:pPr>
            <a:r>
              <a:rPr lang="en-US" sz="1400" b="1" dirty="0">
                <a:solidFill>
                  <a:srgbClr val="78AFA2"/>
                </a:solidFill>
                <a:latin typeface="Arial" pitchFamily="34" charset="0"/>
                <a:ea typeface="Arial" pitchFamily="34" charset="-122"/>
                <a:cs typeface="Arial" pitchFamily="34" charset="-120"/>
              </a:rPr>
              <a:t>Check in  →  take one small step  →  reflect  →  connect</a:t>
            </a:r>
            <a:endParaRPr lang="en-US" sz="1400" dirty="0"/>
          </a:p>
        </p:txBody>
      </p:sp>
      <p:sp>
        <p:nvSpPr>
          <p:cNvPr id="7" name="Shape 4"/>
          <p:cNvSpPr/>
          <p:nvPr/>
        </p:nvSpPr>
        <p:spPr>
          <a:xfrm>
            <a:off x="749808" y="3730752"/>
            <a:ext cx="5989320" cy="1078992"/>
          </a:xfrm>
          <a:prstGeom prst="roundRect">
            <a:avLst>
              <a:gd name="adj" fmla="val 6780"/>
            </a:avLst>
          </a:prstGeom>
          <a:solidFill>
            <a:srgbClr val="1B3238"/>
          </a:solidFill>
          <a:ln w="12700">
            <a:solidFill>
              <a:srgbClr val="1B3238">
                <a:alpha val="0"/>
              </a:srgbClr>
            </a:solidFill>
            <a:prstDash val="solid"/>
          </a:ln>
        </p:spPr>
      </p:sp>
      <p:sp>
        <p:nvSpPr>
          <p:cNvPr id="8" name="Text 5"/>
          <p:cNvSpPr/>
          <p:nvPr/>
        </p:nvSpPr>
        <p:spPr>
          <a:xfrm>
            <a:off x="1024128" y="4041648"/>
            <a:ext cx="5440680" cy="347472"/>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https://mindmate-app-fcf2d.web.app</a:t>
            </a:r>
            <a:endParaRPr lang="en-US" sz="1600" dirty="0"/>
          </a:p>
        </p:txBody>
      </p:sp>
      <p:sp>
        <p:nvSpPr>
          <p:cNvPr id="9" name="Text 6"/>
          <p:cNvSpPr/>
          <p:nvPr/>
        </p:nvSpPr>
        <p:spPr>
          <a:xfrm>
            <a:off x="1024128" y="4462272"/>
            <a:ext cx="5440680" cy="228600"/>
          </a:xfrm>
          <a:prstGeom prst="rect">
            <a:avLst/>
          </a:prstGeom>
          <a:noFill/>
          <a:ln/>
        </p:spPr>
        <p:txBody>
          <a:bodyPr wrap="square" lIns="0" tIns="0" rIns="0" bIns="0" rtlCol="0" anchor="ctr">
            <a:normAutofit/>
          </a:bodyPr>
          <a:lstStyle/>
          <a:p>
            <a:pPr algn="ctr" indent="0" marL="0">
              <a:buNone/>
            </a:pPr>
            <a:r>
              <a:rPr lang="en-US" sz="1100" dirty="0">
                <a:solidFill>
                  <a:srgbClr val="D2E2DE"/>
                </a:solidFill>
                <a:latin typeface="Arial" pitchFamily="34" charset="0"/>
                <a:ea typeface="Arial" pitchFamily="34" charset="-122"/>
                <a:cs typeface="Arial" pitchFamily="34" charset="-120"/>
              </a:rPr>
              <a:t>Scan the QR code to try the live Web release.</a:t>
            </a:r>
            <a:endParaRPr lang="en-US" sz="1100" dirty="0"/>
          </a:p>
        </p:txBody>
      </p:sp>
      <p:pic>
        <p:nvPicPr>
          <p:cNvPr id="10" name="Image 1" descr="/home/user/mindmate/docs/mindmate-web-qr.png">    </p:cNvPr>
          <p:cNvPicPr>
            <a:picLocks noChangeAspect="1"/>
          </p:cNvPicPr>
          <p:nvPr/>
        </p:nvPicPr>
        <p:blipFill>
          <a:blip r:embed="rId2"/>
          <a:stretch>
            <a:fillRect/>
          </a:stretch>
        </p:blipFill>
        <p:spPr>
          <a:xfrm>
            <a:off x="7662672" y="3246120"/>
            <a:ext cx="3291840" cy="3291840"/>
          </a:xfrm>
          <a:prstGeom prst="rect">
            <a:avLst/>
          </a:prstGeom>
        </p:spPr>
      </p:pic>
      <p:sp>
        <p:nvSpPr>
          <p:cNvPr id="11" name="Text 7"/>
          <p:cNvSpPr/>
          <p:nvPr/>
        </p:nvSpPr>
        <p:spPr>
          <a:xfrm>
            <a:off x="749808" y="5943600"/>
            <a:ext cx="2743200" cy="365760"/>
          </a:xfrm>
          <a:prstGeom prst="rect">
            <a:avLst/>
          </a:prstGeom>
          <a:noFill/>
          <a:ln/>
        </p:spPr>
        <p:txBody>
          <a:bodyPr wrap="square" lIns="0" tIns="0" rIns="0" bIns="0" rtlCol="0" anchor="ctr">
            <a:normAutofit/>
          </a:bodyPr>
          <a:lstStyle/>
          <a:p>
            <a:pPr algn="l" indent="0" marL="0">
              <a:buNone/>
            </a:pPr>
            <a:r>
              <a:rPr lang="en-US" sz="2000" b="1" dirty="0">
                <a:solidFill>
                  <a:srgbClr val="D9776A"/>
                </a:solidFill>
                <a:latin typeface="Arial" pitchFamily="34" charset="0"/>
                <a:ea typeface="Arial" pitchFamily="34" charset="-122"/>
                <a:cs typeface="Arial" pitchFamily="34" charset="-120"/>
              </a:rPr>
              <a:t>Thank you</a:t>
            </a:r>
            <a:endParaRPr lang="en-US" sz="2000" dirty="0"/>
          </a:p>
        </p:txBody>
      </p:sp>
      <p:sp>
        <p:nvSpPr>
          <p:cNvPr id="12" name="Text 8"/>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MindMate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MindMate — One small step toward a better day</dc:title>
  <dc:subject>MindMate competition presentation</dc:subject>
  <dc:creator>MindMate team</dc:creator>
  <cp:lastModifiedBy>MindMate team</cp:lastModifiedBy>
  <cp:revision>1</cp:revision>
  <dcterms:created xsi:type="dcterms:W3CDTF">2026-09-05T12:27:56Z</dcterms:created>
  <dcterms:modified xsi:type="dcterms:W3CDTF">2026-09-05T12:27:56Z</dcterms:modified>
</cp:coreProperties>
</file>